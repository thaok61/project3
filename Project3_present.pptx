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70" r:id="rId4"/>
    <p:sldId id="258" r:id="rId5"/>
    <p:sldId id="271" r:id="rId6"/>
    <p:sldId id="280" r:id="rId7"/>
    <p:sldId id="259" r:id="rId8"/>
    <p:sldId id="260" r:id="rId9"/>
    <p:sldId id="264" r:id="rId10"/>
    <p:sldId id="274" r:id="rId11"/>
    <p:sldId id="265" r:id="rId12"/>
    <p:sldId id="275" r:id="rId13"/>
    <p:sldId id="266" r:id="rId14"/>
    <p:sldId id="276" r:id="rId15"/>
    <p:sldId id="262" r:id="rId16"/>
    <p:sldId id="267" r:id="rId17"/>
    <p:sldId id="269" r:id="rId18"/>
    <p:sldId id="263" r:id="rId19"/>
    <p:sldId id="268" r:id="rId20"/>
    <p:sldId id="279" r:id="rId21"/>
    <p:sldId id="278" r:id="rId22"/>
    <p:sldId id="272" r:id="rId23"/>
    <p:sldId id="273" r:id="rId24"/>
    <p:sldId id="281" r:id="rId25"/>
    <p:sldId id="282" r:id="rId26"/>
    <p:sldId id="283" r:id="rId27"/>
    <p:sldId id="284" r:id="rId2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Vu Duc Thao 20163668" initials="VDT2" lastIdx="1" clrIdx="0">
    <p:extLst>
      <p:ext uri="{19B8F6BF-5375-455C-9EA6-DF929625EA0E}">
        <p15:presenceInfo xmlns:p15="http://schemas.microsoft.com/office/powerpoint/2012/main" userId="Vu Duc Thao 20163668"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7" autoAdjust="0"/>
    <p:restoredTop sz="94660"/>
  </p:normalViewPr>
  <p:slideViewPr>
    <p:cSldViewPr snapToGrid="0">
      <p:cViewPr>
        <p:scale>
          <a:sx n="125" d="100"/>
          <a:sy n="125" d="100"/>
        </p:scale>
        <p:origin x="90" y="-34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commentAuthors" Target="commentAuthor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presProps" Target="presProps.xml"/><Relationship Id="rId8" Type="http://schemas.openxmlformats.org/officeDocument/2006/relationships/slide" Target="slides/slide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014F38-ACE2-4FD2-8778-FF5C6969183A}"/>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66D5F0D5-087A-4569-A432-9A86FD3B525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8AD7BAD3-07BE-4DDF-AC92-0A680B0335BF}"/>
              </a:ext>
            </a:extLst>
          </p:cNvPr>
          <p:cNvSpPr>
            <a:spLocks noGrp="1"/>
          </p:cNvSpPr>
          <p:nvPr>
            <p:ph type="dt" sz="half" idx="10"/>
          </p:nvPr>
        </p:nvSpPr>
        <p:spPr/>
        <p:txBody>
          <a:bodyPr/>
          <a:lstStyle/>
          <a:p>
            <a:fld id="{4EF89BDC-DFB9-40EB-8449-EFB3B71D28D8}" type="datetimeFigureOut">
              <a:rPr lang="en-US" smtClean="0"/>
              <a:t>10/17/2020</a:t>
            </a:fld>
            <a:endParaRPr lang="en-US"/>
          </a:p>
        </p:txBody>
      </p:sp>
      <p:sp>
        <p:nvSpPr>
          <p:cNvPr id="5" name="Footer Placeholder 4">
            <a:extLst>
              <a:ext uri="{FF2B5EF4-FFF2-40B4-BE49-F238E27FC236}">
                <a16:creationId xmlns:a16="http://schemas.microsoft.com/office/drawing/2014/main" id="{D73663A3-39DE-4AF3-A636-8F46B9A1382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344A575-E7CB-48E4-AFB1-46D5DB0E76BA}"/>
              </a:ext>
            </a:extLst>
          </p:cNvPr>
          <p:cNvSpPr>
            <a:spLocks noGrp="1"/>
          </p:cNvSpPr>
          <p:nvPr>
            <p:ph type="sldNum" sz="quarter" idx="12"/>
          </p:nvPr>
        </p:nvSpPr>
        <p:spPr/>
        <p:txBody>
          <a:bodyPr/>
          <a:lstStyle/>
          <a:p>
            <a:fld id="{76B3026C-0626-4557-8D88-E2178A401A82}" type="slidenum">
              <a:rPr lang="en-US" smtClean="0"/>
              <a:t>‹#›</a:t>
            </a:fld>
            <a:endParaRPr lang="en-US"/>
          </a:p>
        </p:txBody>
      </p:sp>
    </p:spTree>
    <p:extLst>
      <p:ext uri="{BB962C8B-B14F-4D97-AF65-F5344CB8AC3E}">
        <p14:creationId xmlns:p14="http://schemas.microsoft.com/office/powerpoint/2010/main" val="91604331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EC295F-DF99-47D8-B931-5DCEACCCB323}"/>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AA8D1F15-B393-4276-B3B3-A8BEE4C39C83}"/>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35F8AF7-5730-40DC-BBFD-F311F3A6446D}"/>
              </a:ext>
            </a:extLst>
          </p:cNvPr>
          <p:cNvSpPr>
            <a:spLocks noGrp="1"/>
          </p:cNvSpPr>
          <p:nvPr>
            <p:ph type="dt" sz="half" idx="10"/>
          </p:nvPr>
        </p:nvSpPr>
        <p:spPr/>
        <p:txBody>
          <a:bodyPr/>
          <a:lstStyle/>
          <a:p>
            <a:fld id="{4EF89BDC-DFB9-40EB-8449-EFB3B71D28D8}" type="datetimeFigureOut">
              <a:rPr lang="en-US" smtClean="0"/>
              <a:t>10/17/2020</a:t>
            </a:fld>
            <a:endParaRPr lang="en-US"/>
          </a:p>
        </p:txBody>
      </p:sp>
      <p:sp>
        <p:nvSpPr>
          <p:cNvPr id="5" name="Footer Placeholder 4">
            <a:extLst>
              <a:ext uri="{FF2B5EF4-FFF2-40B4-BE49-F238E27FC236}">
                <a16:creationId xmlns:a16="http://schemas.microsoft.com/office/drawing/2014/main" id="{1B6A1CB7-CAFF-4A45-9BE9-A9A63A30183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4E6CBA0-4B46-4CFA-9A61-2CBDC01F7701}"/>
              </a:ext>
            </a:extLst>
          </p:cNvPr>
          <p:cNvSpPr>
            <a:spLocks noGrp="1"/>
          </p:cNvSpPr>
          <p:nvPr>
            <p:ph type="sldNum" sz="quarter" idx="12"/>
          </p:nvPr>
        </p:nvSpPr>
        <p:spPr/>
        <p:txBody>
          <a:bodyPr/>
          <a:lstStyle/>
          <a:p>
            <a:fld id="{76B3026C-0626-4557-8D88-E2178A401A82}" type="slidenum">
              <a:rPr lang="en-US" smtClean="0"/>
              <a:t>‹#›</a:t>
            </a:fld>
            <a:endParaRPr lang="en-US"/>
          </a:p>
        </p:txBody>
      </p:sp>
    </p:spTree>
    <p:extLst>
      <p:ext uri="{BB962C8B-B14F-4D97-AF65-F5344CB8AC3E}">
        <p14:creationId xmlns:p14="http://schemas.microsoft.com/office/powerpoint/2010/main" val="75132843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9F5EAE-FB1F-42EA-B38A-D1858D6B0E27}"/>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8A7D1004-2E73-4FC6-BEE4-2CE327DA2E77}"/>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02B6D35C-34EE-4E11-BB7E-3528A33C1596}"/>
              </a:ext>
            </a:extLst>
          </p:cNvPr>
          <p:cNvSpPr>
            <a:spLocks noGrp="1"/>
          </p:cNvSpPr>
          <p:nvPr>
            <p:ph type="dt" sz="half" idx="10"/>
          </p:nvPr>
        </p:nvSpPr>
        <p:spPr/>
        <p:txBody>
          <a:bodyPr/>
          <a:lstStyle/>
          <a:p>
            <a:fld id="{4EF89BDC-DFB9-40EB-8449-EFB3B71D28D8}" type="datetimeFigureOut">
              <a:rPr lang="en-US" smtClean="0"/>
              <a:t>10/17/2020</a:t>
            </a:fld>
            <a:endParaRPr lang="en-US"/>
          </a:p>
        </p:txBody>
      </p:sp>
      <p:sp>
        <p:nvSpPr>
          <p:cNvPr id="5" name="Footer Placeholder 4">
            <a:extLst>
              <a:ext uri="{FF2B5EF4-FFF2-40B4-BE49-F238E27FC236}">
                <a16:creationId xmlns:a16="http://schemas.microsoft.com/office/drawing/2014/main" id="{33B5BD39-81EE-45AE-A571-9806719E041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44F28E9-2436-4D45-A429-1BE05F232907}"/>
              </a:ext>
            </a:extLst>
          </p:cNvPr>
          <p:cNvSpPr>
            <a:spLocks noGrp="1"/>
          </p:cNvSpPr>
          <p:nvPr>
            <p:ph type="sldNum" sz="quarter" idx="12"/>
          </p:nvPr>
        </p:nvSpPr>
        <p:spPr/>
        <p:txBody>
          <a:bodyPr/>
          <a:lstStyle/>
          <a:p>
            <a:fld id="{76B3026C-0626-4557-8D88-E2178A401A82}" type="slidenum">
              <a:rPr lang="en-US" smtClean="0"/>
              <a:t>‹#›</a:t>
            </a:fld>
            <a:endParaRPr lang="en-US"/>
          </a:p>
        </p:txBody>
      </p:sp>
    </p:spTree>
    <p:extLst>
      <p:ext uri="{BB962C8B-B14F-4D97-AF65-F5344CB8AC3E}">
        <p14:creationId xmlns:p14="http://schemas.microsoft.com/office/powerpoint/2010/main" val="223936227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D6BE32-BF33-4A8E-88DC-2DFCA303EFB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DF8EC133-639E-4E5C-844B-8A75A118F9E3}"/>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C746F065-F70A-4815-A849-FC0A6EC21762}"/>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6DDD4BC-ECD2-40F5-8F47-E8E74F8C086F}"/>
              </a:ext>
            </a:extLst>
          </p:cNvPr>
          <p:cNvSpPr>
            <a:spLocks noGrp="1"/>
          </p:cNvSpPr>
          <p:nvPr>
            <p:ph type="dt" sz="half" idx="10"/>
          </p:nvPr>
        </p:nvSpPr>
        <p:spPr/>
        <p:txBody>
          <a:bodyPr/>
          <a:lstStyle/>
          <a:p>
            <a:fld id="{4EF89BDC-DFB9-40EB-8449-EFB3B71D28D8}" type="datetimeFigureOut">
              <a:rPr lang="en-US" smtClean="0"/>
              <a:t>10/17/2020</a:t>
            </a:fld>
            <a:endParaRPr lang="en-US"/>
          </a:p>
        </p:txBody>
      </p:sp>
      <p:sp>
        <p:nvSpPr>
          <p:cNvPr id="6" name="Footer Placeholder 5">
            <a:extLst>
              <a:ext uri="{FF2B5EF4-FFF2-40B4-BE49-F238E27FC236}">
                <a16:creationId xmlns:a16="http://schemas.microsoft.com/office/drawing/2014/main" id="{60420EDF-51BB-44CE-84FA-9F5A2CC50FA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8ABD905-4D4A-4781-86CA-88EDCA3970DB}"/>
              </a:ext>
            </a:extLst>
          </p:cNvPr>
          <p:cNvSpPr>
            <a:spLocks noGrp="1"/>
          </p:cNvSpPr>
          <p:nvPr>
            <p:ph type="sldNum" sz="quarter" idx="12"/>
          </p:nvPr>
        </p:nvSpPr>
        <p:spPr/>
        <p:txBody>
          <a:bodyPr/>
          <a:lstStyle/>
          <a:p>
            <a:fld id="{76B3026C-0626-4557-8D88-E2178A401A82}" type="slidenum">
              <a:rPr lang="en-US" smtClean="0"/>
              <a:t>‹#›</a:t>
            </a:fld>
            <a:endParaRPr lang="en-US"/>
          </a:p>
        </p:txBody>
      </p:sp>
    </p:spTree>
    <p:extLst>
      <p:ext uri="{BB962C8B-B14F-4D97-AF65-F5344CB8AC3E}">
        <p14:creationId xmlns:p14="http://schemas.microsoft.com/office/powerpoint/2010/main" val="170952069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D4A0D-C870-4200-A6E5-C0D8013ACA11}"/>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A654D502-221E-4EEF-8323-1243D5A6140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E7EECEE1-9C5C-41AC-9F44-4146E624A1CB}"/>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4E3585DE-5E46-4CAD-AF77-A9D935992E8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409D9F6C-D21D-47B0-BC14-9F06C93CE08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1F19F49C-A8F9-443D-B355-7520921FC91E}"/>
              </a:ext>
            </a:extLst>
          </p:cNvPr>
          <p:cNvSpPr>
            <a:spLocks noGrp="1"/>
          </p:cNvSpPr>
          <p:nvPr>
            <p:ph type="dt" sz="half" idx="10"/>
          </p:nvPr>
        </p:nvSpPr>
        <p:spPr/>
        <p:txBody>
          <a:bodyPr/>
          <a:lstStyle/>
          <a:p>
            <a:fld id="{4EF89BDC-DFB9-40EB-8449-EFB3B71D28D8}" type="datetimeFigureOut">
              <a:rPr lang="en-US" smtClean="0"/>
              <a:t>10/17/2020</a:t>
            </a:fld>
            <a:endParaRPr lang="en-US"/>
          </a:p>
        </p:txBody>
      </p:sp>
      <p:sp>
        <p:nvSpPr>
          <p:cNvPr id="8" name="Footer Placeholder 7">
            <a:extLst>
              <a:ext uri="{FF2B5EF4-FFF2-40B4-BE49-F238E27FC236}">
                <a16:creationId xmlns:a16="http://schemas.microsoft.com/office/drawing/2014/main" id="{2851EA65-3A44-4ED9-AA8C-2C92B7A6817F}"/>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BFF5826D-31D6-4D57-9944-ED4428F2CCFE}"/>
              </a:ext>
            </a:extLst>
          </p:cNvPr>
          <p:cNvSpPr>
            <a:spLocks noGrp="1"/>
          </p:cNvSpPr>
          <p:nvPr>
            <p:ph type="sldNum" sz="quarter" idx="12"/>
          </p:nvPr>
        </p:nvSpPr>
        <p:spPr/>
        <p:txBody>
          <a:bodyPr/>
          <a:lstStyle/>
          <a:p>
            <a:fld id="{76B3026C-0626-4557-8D88-E2178A401A82}" type="slidenum">
              <a:rPr lang="en-US" smtClean="0"/>
              <a:t>‹#›</a:t>
            </a:fld>
            <a:endParaRPr lang="en-US"/>
          </a:p>
        </p:txBody>
      </p:sp>
    </p:spTree>
    <p:extLst>
      <p:ext uri="{BB962C8B-B14F-4D97-AF65-F5344CB8AC3E}">
        <p14:creationId xmlns:p14="http://schemas.microsoft.com/office/powerpoint/2010/main" val="193535803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89AD79-D197-4250-BEB7-DEE0031434BC}"/>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6B74001A-F466-499E-96F9-7E5B833ED217}"/>
              </a:ext>
            </a:extLst>
          </p:cNvPr>
          <p:cNvSpPr>
            <a:spLocks noGrp="1"/>
          </p:cNvSpPr>
          <p:nvPr>
            <p:ph type="dt" sz="half" idx="10"/>
          </p:nvPr>
        </p:nvSpPr>
        <p:spPr/>
        <p:txBody>
          <a:bodyPr/>
          <a:lstStyle/>
          <a:p>
            <a:fld id="{4EF89BDC-DFB9-40EB-8449-EFB3B71D28D8}" type="datetimeFigureOut">
              <a:rPr lang="en-US" smtClean="0"/>
              <a:t>10/17/2020</a:t>
            </a:fld>
            <a:endParaRPr lang="en-US"/>
          </a:p>
        </p:txBody>
      </p:sp>
      <p:sp>
        <p:nvSpPr>
          <p:cNvPr id="4" name="Footer Placeholder 3">
            <a:extLst>
              <a:ext uri="{FF2B5EF4-FFF2-40B4-BE49-F238E27FC236}">
                <a16:creationId xmlns:a16="http://schemas.microsoft.com/office/drawing/2014/main" id="{2272C901-B6A9-472D-BE85-1D0C9DBCBE01}"/>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DE59ADD-66C6-4E60-9584-60160AC410D9}"/>
              </a:ext>
            </a:extLst>
          </p:cNvPr>
          <p:cNvSpPr>
            <a:spLocks noGrp="1"/>
          </p:cNvSpPr>
          <p:nvPr>
            <p:ph type="sldNum" sz="quarter" idx="12"/>
          </p:nvPr>
        </p:nvSpPr>
        <p:spPr/>
        <p:txBody>
          <a:bodyPr/>
          <a:lstStyle/>
          <a:p>
            <a:fld id="{76B3026C-0626-4557-8D88-E2178A401A82}" type="slidenum">
              <a:rPr lang="en-US" smtClean="0"/>
              <a:t>‹#›</a:t>
            </a:fld>
            <a:endParaRPr lang="en-US"/>
          </a:p>
        </p:txBody>
      </p:sp>
    </p:spTree>
    <p:extLst>
      <p:ext uri="{BB962C8B-B14F-4D97-AF65-F5344CB8AC3E}">
        <p14:creationId xmlns:p14="http://schemas.microsoft.com/office/powerpoint/2010/main" val="188607328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B577EA3-2DA7-4705-A9B2-2F518413201E}"/>
              </a:ext>
            </a:extLst>
          </p:cNvPr>
          <p:cNvSpPr>
            <a:spLocks noGrp="1"/>
          </p:cNvSpPr>
          <p:nvPr>
            <p:ph type="dt" sz="half" idx="10"/>
          </p:nvPr>
        </p:nvSpPr>
        <p:spPr/>
        <p:txBody>
          <a:bodyPr/>
          <a:lstStyle/>
          <a:p>
            <a:fld id="{4EF89BDC-DFB9-40EB-8449-EFB3B71D28D8}" type="datetimeFigureOut">
              <a:rPr lang="en-US" smtClean="0"/>
              <a:t>10/17/2020</a:t>
            </a:fld>
            <a:endParaRPr lang="en-US"/>
          </a:p>
        </p:txBody>
      </p:sp>
      <p:sp>
        <p:nvSpPr>
          <p:cNvPr id="3" name="Footer Placeholder 2">
            <a:extLst>
              <a:ext uri="{FF2B5EF4-FFF2-40B4-BE49-F238E27FC236}">
                <a16:creationId xmlns:a16="http://schemas.microsoft.com/office/drawing/2014/main" id="{9F48AB47-5EE1-4EBB-8E75-64B90B05EE9D}"/>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48320D2A-4ACB-4FA9-9888-01F6739BAD3D}"/>
              </a:ext>
            </a:extLst>
          </p:cNvPr>
          <p:cNvSpPr>
            <a:spLocks noGrp="1"/>
          </p:cNvSpPr>
          <p:nvPr>
            <p:ph type="sldNum" sz="quarter" idx="12"/>
          </p:nvPr>
        </p:nvSpPr>
        <p:spPr/>
        <p:txBody>
          <a:bodyPr/>
          <a:lstStyle/>
          <a:p>
            <a:fld id="{76B3026C-0626-4557-8D88-E2178A401A82}" type="slidenum">
              <a:rPr lang="en-US" smtClean="0"/>
              <a:t>‹#›</a:t>
            </a:fld>
            <a:endParaRPr lang="en-US"/>
          </a:p>
        </p:txBody>
      </p:sp>
    </p:spTree>
    <p:extLst>
      <p:ext uri="{BB962C8B-B14F-4D97-AF65-F5344CB8AC3E}">
        <p14:creationId xmlns:p14="http://schemas.microsoft.com/office/powerpoint/2010/main" val="41728006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0E356F-6B99-431F-B955-FC2919FF9DA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0F838261-30DF-47F3-87DF-CEF87A801500}"/>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B12AC8EF-8F00-4154-8FC5-B798E2761F1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02572AE-27DB-4007-B6DD-2D20C8B713F1}"/>
              </a:ext>
            </a:extLst>
          </p:cNvPr>
          <p:cNvSpPr>
            <a:spLocks noGrp="1"/>
          </p:cNvSpPr>
          <p:nvPr>
            <p:ph type="dt" sz="half" idx="10"/>
          </p:nvPr>
        </p:nvSpPr>
        <p:spPr/>
        <p:txBody>
          <a:bodyPr/>
          <a:lstStyle/>
          <a:p>
            <a:fld id="{4EF89BDC-DFB9-40EB-8449-EFB3B71D28D8}" type="datetimeFigureOut">
              <a:rPr lang="en-US" smtClean="0"/>
              <a:t>10/17/2020</a:t>
            </a:fld>
            <a:endParaRPr lang="en-US"/>
          </a:p>
        </p:txBody>
      </p:sp>
      <p:sp>
        <p:nvSpPr>
          <p:cNvPr id="6" name="Footer Placeholder 5">
            <a:extLst>
              <a:ext uri="{FF2B5EF4-FFF2-40B4-BE49-F238E27FC236}">
                <a16:creationId xmlns:a16="http://schemas.microsoft.com/office/drawing/2014/main" id="{C8F821F9-8C49-434B-8A06-2B185608A82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B5C5EE6-40D8-4C2F-B69B-05DF8AA5E07F}"/>
              </a:ext>
            </a:extLst>
          </p:cNvPr>
          <p:cNvSpPr>
            <a:spLocks noGrp="1"/>
          </p:cNvSpPr>
          <p:nvPr>
            <p:ph type="sldNum" sz="quarter" idx="12"/>
          </p:nvPr>
        </p:nvSpPr>
        <p:spPr/>
        <p:txBody>
          <a:bodyPr/>
          <a:lstStyle/>
          <a:p>
            <a:fld id="{76B3026C-0626-4557-8D88-E2178A401A82}" type="slidenum">
              <a:rPr lang="en-US" smtClean="0"/>
              <a:t>‹#›</a:t>
            </a:fld>
            <a:endParaRPr lang="en-US"/>
          </a:p>
        </p:txBody>
      </p:sp>
    </p:spTree>
    <p:extLst>
      <p:ext uri="{BB962C8B-B14F-4D97-AF65-F5344CB8AC3E}">
        <p14:creationId xmlns:p14="http://schemas.microsoft.com/office/powerpoint/2010/main" val="266156398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02522E-3A39-437F-8576-4A39179A501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2224253C-C7F1-4EAB-BCEE-BFC983B0DAD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71DD95CA-7572-4140-A847-1EB89C4DC48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B083482-136F-422F-9EFC-6F4C27218778}"/>
              </a:ext>
            </a:extLst>
          </p:cNvPr>
          <p:cNvSpPr>
            <a:spLocks noGrp="1"/>
          </p:cNvSpPr>
          <p:nvPr>
            <p:ph type="dt" sz="half" idx="10"/>
          </p:nvPr>
        </p:nvSpPr>
        <p:spPr/>
        <p:txBody>
          <a:bodyPr/>
          <a:lstStyle/>
          <a:p>
            <a:fld id="{4EF89BDC-DFB9-40EB-8449-EFB3B71D28D8}" type="datetimeFigureOut">
              <a:rPr lang="en-US" smtClean="0"/>
              <a:t>10/17/2020</a:t>
            </a:fld>
            <a:endParaRPr lang="en-US"/>
          </a:p>
        </p:txBody>
      </p:sp>
      <p:sp>
        <p:nvSpPr>
          <p:cNvPr id="6" name="Footer Placeholder 5">
            <a:extLst>
              <a:ext uri="{FF2B5EF4-FFF2-40B4-BE49-F238E27FC236}">
                <a16:creationId xmlns:a16="http://schemas.microsoft.com/office/drawing/2014/main" id="{2D557FE2-721D-4DAB-8405-D93B82AA4BE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9514284-000D-413A-B852-0DB50FC5C677}"/>
              </a:ext>
            </a:extLst>
          </p:cNvPr>
          <p:cNvSpPr>
            <a:spLocks noGrp="1"/>
          </p:cNvSpPr>
          <p:nvPr>
            <p:ph type="sldNum" sz="quarter" idx="12"/>
          </p:nvPr>
        </p:nvSpPr>
        <p:spPr/>
        <p:txBody>
          <a:bodyPr/>
          <a:lstStyle/>
          <a:p>
            <a:fld id="{76B3026C-0626-4557-8D88-E2178A401A82}" type="slidenum">
              <a:rPr lang="en-US" smtClean="0"/>
              <a:t>‹#›</a:t>
            </a:fld>
            <a:endParaRPr lang="en-US"/>
          </a:p>
        </p:txBody>
      </p:sp>
    </p:spTree>
    <p:extLst>
      <p:ext uri="{BB962C8B-B14F-4D97-AF65-F5344CB8AC3E}">
        <p14:creationId xmlns:p14="http://schemas.microsoft.com/office/powerpoint/2010/main" val="281608714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5D2D22-0D21-494A-AA44-E06521D5EDF2}"/>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B9877C9-0CAF-4817-A0A9-C033C756984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78D097D-99D9-44F5-8D8E-01D0AD5F2A62}"/>
              </a:ext>
            </a:extLst>
          </p:cNvPr>
          <p:cNvSpPr>
            <a:spLocks noGrp="1"/>
          </p:cNvSpPr>
          <p:nvPr>
            <p:ph type="dt" sz="half" idx="10"/>
          </p:nvPr>
        </p:nvSpPr>
        <p:spPr/>
        <p:txBody>
          <a:bodyPr/>
          <a:lstStyle/>
          <a:p>
            <a:fld id="{4EF89BDC-DFB9-40EB-8449-EFB3B71D28D8}" type="datetimeFigureOut">
              <a:rPr lang="en-US" smtClean="0"/>
              <a:t>10/17/2020</a:t>
            </a:fld>
            <a:endParaRPr lang="en-US"/>
          </a:p>
        </p:txBody>
      </p:sp>
      <p:sp>
        <p:nvSpPr>
          <p:cNvPr id="5" name="Footer Placeholder 4">
            <a:extLst>
              <a:ext uri="{FF2B5EF4-FFF2-40B4-BE49-F238E27FC236}">
                <a16:creationId xmlns:a16="http://schemas.microsoft.com/office/drawing/2014/main" id="{10804E87-6DC8-4ECA-9053-4C8EDCB89CC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084037D-43CF-4C34-BEE4-6AF8B206A9D9}"/>
              </a:ext>
            </a:extLst>
          </p:cNvPr>
          <p:cNvSpPr>
            <a:spLocks noGrp="1"/>
          </p:cNvSpPr>
          <p:nvPr>
            <p:ph type="sldNum" sz="quarter" idx="12"/>
          </p:nvPr>
        </p:nvSpPr>
        <p:spPr/>
        <p:txBody>
          <a:bodyPr/>
          <a:lstStyle/>
          <a:p>
            <a:fld id="{76B3026C-0626-4557-8D88-E2178A401A82}" type="slidenum">
              <a:rPr lang="en-US" smtClean="0"/>
              <a:t>‹#›</a:t>
            </a:fld>
            <a:endParaRPr lang="en-US"/>
          </a:p>
        </p:txBody>
      </p:sp>
    </p:spTree>
    <p:extLst>
      <p:ext uri="{BB962C8B-B14F-4D97-AF65-F5344CB8AC3E}">
        <p14:creationId xmlns:p14="http://schemas.microsoft.com/office/powerpoint/2010/main" val="184807546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98AADF4-8F22-4D12-80F1-55B0072795E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E383A4C6-590D-4106-AF08-9C7262142B53}"/>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FE289EB-8057-4A2D-861E-60B6B7BACB32}"/>
              </a:ext>
            </a:extLst>
          </p:cNvPr>
          <p:cNvSpPr>
            <a:spLocks noGrp="1"/>
          </p:cNvSpPr>
          <p:nvPr>
            <p:ph type="dt" sz="half" idx="10"/>
          </p:nvPr>
        </p:nvSpPr>
        <p:spPr/>
        <p:txBody>
          <a:bodyPr/>
          <a:lstStyle/>
          <a:p>
            <a:fld id="{4EF89BDC-DFB9-40EB-8449-EFB3B71D28D8}" type="datetimeFigureOut">
              <a:rPr lang="en-US" smtClean="0"/>
              <a:t>10/17/2020</a:t>
            </a:fld>
            <a:endParaRPr lang="en-US"/>
          </a:p>
        </p:txBody>
      </p:sp>
      <p:sp>
        <p:nvSpPr>
          <p:cNvPr id="5" name="Footer Placeholder 4">
            <a:extLst>
              <a:ext uri="{FF2B5EF4-FFF2-40B4-BE49-F238E27FC236}">
                <a16:creationId xmlns:a16="http://schemas.microsoft.com/office/drawing/2014/main" id="{C029D4F1-7599-49C1-815C-3101BFCD8C3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109F454-3852-4770-A030-D9E0C956DB6F}"/>
              </a:ext>
            </a:extLst>
          </p:cNvPr>
          <p:cNvSpPr>
            <a:spLocks noGrp="1"/>
          </p:cNvSpPr>
          <p:nvPr>
            <p:ph type="sldNum" sz="quarter" idx="12"/>
          </p:nvPr>
        </p:nvSpPr>
        <p:spPr/>
        <p:txBody>
          <a:bodyPr/>
          <a:lstStyle/>
          <a:p>
            <a:fld id="{76B3026C-0626-4557-8D88-E2178A401A82}" type="slidenum">
              <a:rPr lang="en-US" smtClean="0"/>
              <a:t>‹#›</a:t>
            </a:fld>
            <a:endParaRPr lang="en-US"/>
          </a:p>
        </p:txBody>
      </p:sp>
    </p:spTree>
    <p:extLst>
      <p:ext uri="{BB962C8B-B14F-4D97-AF65-F5344CB8AC3E}">
        <p14:creationId xmlns:p14="http://schemas.microsoft.com/office/powerpoint/2010/main" val="282095532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C76CFB1-5F2C-4EAD-9ECF-AB42BE6AA98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A994448C-EDBA-44E6-A3F8-C3A08A8DE02B}"/>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671AA15-81CB-4391-B2B4-EE8191962A0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4EF89BDC-DFB9-40EB-8449-EFB3B71D28D8}" type="datetimeFigureOut">
              <a:rPr lang="en-US" smtClean="0"/>
              <a:t>10/17/2020</a:t>
            </a:fld>
            <a:endParaRPr lang="en-US"/>
          </a:p>
        </p:txBody>
      </p:sp>
      <p:sp>
        <p:nvSpPr>
          <p:cNvPr id="5" name="Footer Placeholder 4">
            <a:extLst>
              <a:ext uri="{FF2B5EF4-FFF2-40B4-BE49-F238E27FC236}">
                <a16:creationId xmlns:a16="http://schemas.microsoft.com/office/drawing/2014/main" id="{9B5C89B4-AC18-4594-A1D5-E2A4EACDF8E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F495873C-7AC2-4B62-907E-3901F3191194}"/>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76B3026C-0626-4557-8D88-E2178A401A82}" type="slidenum">
              <a:rPr lang="en-US" smtClean="0"/>
              <a:t>‹#›</a:t>
            </a:fld>
            <a:endParaRPr lang="en-US"/>
          </a:p>
        </p:txBody>
      </p:sp>
    </p:spTree>
    <p:extLst>
      <p:ext uri="{BB962C8B-B14F-4D97-AF65-F5344CB8AC3E}">
        <p14:creationId xmlns:p14="http://schemas.microsoft.com/office/powerpoint/2010/main" val="41380586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8.jp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1.svg"/><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51" name="Rectangle 50">
            <a:extLst>
              <a:ext uri="{FF2B5EF4-FFF2-40B4-BE49-F238E27FC236}">
                <a16:creationId xmlns:a16="http://schemas.microsoft.com/office/drawing/2014/main" id="{D278ADA9-6383-4BDD-80D2-8899A402687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Rectangle 52">
            <a:extLst>
              <a:ext uri="{FF2B5EF4-FFF2-40B4-BE49-F238E27FC236}">
                <a16:creationId xmlns:a16="http://schemas.microsoft.com/office/drawing/2014/main" id="{484B7147-B0F6-40ED-B5A2-FF72BC8198B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55" name="Rectangle 54">
            <a:extLst>
              <a:ext uri="{FF2B5EF4-FFF2-40B4-BE49-F238E27FC236}">
                <a16:creationId xmlns:a16="http://schemas.microsoft.com/office/drawing/2014/main" id="{B36D2DE0-0628-4A9A-A59D-7BA8B5EB302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 name="Oval 56">
            <a:extLst>
              <a:ext uri="{FF2B5EF4-FFF2-40B4-BE49-F238E27FC236}">
                <a16:creationId xmlns:a16="http://schemas.microsoft.com/office/drawing/2014/main" id="{48E405C9-94BE-41DA-928C-DEC9A8550E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815929" y="148929"/>
            <a:ext cx="6560142" cy="6560142"/>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bg1"/>
              </a:solidFill>
            </a:endParaRPr>
          </a:p>
        </p:txBody>
      </p:sp>
      <p:sp>
        <p:nvSpPr>
          <p:cNvPr id="2" name="Title 1">
            <a:extLst>
              <a:ext uri="{FF2B5EF4-FFF2-40B4-BE49-F238E27FC236}">
                <a16:creationId xmlns:a16="http://schemas.microsoft.com/office/drawing/2014/main" id="{FC6684DC-0DA1-4E82-B7CB-521C69C0A2FB}"/>
              </a:ext>
            </a:extLst>
          </p:cNvPr>
          <p:cNvSpPr>
            <a:spLocks noGrp="1"/>
          </p:cNvSpPr>
          <p:nvPr>
            <p:ph type="ctrTitle"/>
          </p:nvPr>
        </p:nvSpPr>
        <p:spPr>
          <a:xfrm>
            <a:off x="3315031" y="1380754"/>
            <a:ext cx="5561938" cy="2513516"/>
          </a:xfrm>
        </p:spPr>
        <p:txBody>
          <a:bodyPr>
            <a:normAutofit/>
          </a:bodyPr>
          <a:lstStyle/>
          <a:p>
            <a:r>
              <a:rPr lang="en-US"/>
              <a:t>Đề Tài: Bảo mật hệ thống IoT</a:t>
            </a:r>
          </a:p>
        </p:txBody>
      </p:sp>
      <p:sp>
        <p:nvSpPr>
          <p:cNvPr id="3" name="Subtitle 2">
            <a:extLst>
              <a:ext uri="{FF2B5EF4-FFF2-40B4-BE49-F238E27FC236}">
                <a16:creationId xmlns:a16="http://schemas.microsoft.com/office/drawing/2014/main" id="{AE902636-BC23-41EB-A939-1B016A27F531}"/>
              </a:ext>
            </a:extLst>
          </p:cNvPr>
          <p:cNvSpPr>
            <a:spLocks noGrp="1"/>
          </p:cNvSpPr>
          <p:nvPr>
            <p:ph type="subTitle" idx="1"/>
          </p:nvPr>
        </p:nvSpPr>
        <p:spPr>
          <a:xfrm>
            <a:off x="3315031" y="4076802"/>
            <a:ext cx="5561938" cy="1534587"/>
          </a:xfrm>
        </p:spPr>
        <p:txBody>
          <a:bodyPr>
            <a:normAutofit/>
          </a:bodyPr>
          <a:lstStyle/>
          <a:p>
            <a:r>
              <a:rPr lang="en-US"/>
              <a:t>Sinh viên thực hiện:</a:t>
            </a:r>
          </a:p>
          <a:p>
            <a:r>
              <a:rPr lang="en-US"/>
              <a:t>Vũ Đức Thao - 20163668</a:t>
            </a:r>
          </a:p>
        </p:txBody>
      </p:sp>
      <p:sp>
        <p:nvSpPr>
          <p:cNvPr id="59" name="Arc 58">
            <a:extLst>
              <a:ext uri="{FF2B5EF4-FFF2-40B4-BE49-F238E27FC236}">
                <a16:creationId xmlns:a16="http://schemas.microsoft.com/office/drawing/2014/main" id="{D2091A72-D5BB-42AC-8FD3-F7747D90861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9222429" flipV="1">
            <a:off x="2494119" y="6170"/>
            <a:ext cx="6816262" cy="6816262"/>
          </a:xfrm>
          <a:prstGeom prst="arc">
            <a:avLst>
              <a:gd name="adj1" fmla="val 16200000"/>
              <a:gd name="adj2" fmla="val 20093138"/>
            </a:avLst>
          </a:prstGeom>
          <a:ln w="127000" cap="rnd">
            <a:solidFill>
              <a:schemeClr val="accent4">
                <a:alpha val="95000"/>
              </a:schemeClr>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61" name="Oval 60">
            <a:extLst>
              <a:ext uri="{FF2B5EF4-FFF2-40B4-BE49-F238E27FC236}">
                <a16:creationId xmlns:a16="http://schemas.microsoft.com/office/drawing/2014/main" id="{6ED12BFC-A737-46AF-8411-481112D54B0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200995" y="5310973"/>
            <a:ext cx="705948" cy="686798"/>
          </a:xfrm>
          <a:prstGeom prst="ellips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4147928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907EF6B7-1338-4443-8C46-6A318D952D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reeform: Shape 9">
            <a:extLst>
              <a:ext uri="{FF2B5EF4-FFF2-40B4-BE49-F238E27FC236}">
                <a16:creationId xmlns:a16="http://schemas.microsoft.com/office/drawing/2014/main" id="{DAAE4CDD-124C-4DCF-9584-B6033B545D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4167271" cy="6858000"/>
          </a:xfrm>
          <a:custGeom>
            <a:avLst/>
            <a:gdLst>
              <a:gd name="connsiteX0" fmla="*/ 0 w 4167271"/>
              <a:gd name="connsiteY0" fmla="*/ 0 h 6858000"/>
              <a:gd name="connsiteX1" fmla="*/ 2259550 w 4167271"/>
              <a:gd name="connsiteY1" fmla="*/ 0 h 6858000"/>
              <a:gd name="connsiteX2" fmla="*/ 2387803 w 4167271"/>
              <a:gd name="connsiteY2" fmla="*/ 82222 h 6858000"/>
              <a:gd name="connsiteX3" fmla="*/ 4167271 w 4167271"/>
              <a:gd name="connsiteY3" fmla="*/ 3429000 h 6858000"/>
              <a:gd name="connsiteX4" fmla="*/ 2387803 w 4167271"/>
              <a:gd name="connsiteY4" fmla="*/ 6775779 h 6858000"/>
              <a:gd name="connsiteX5" fmla="*/ 2259550 w 4167271"/>
              <a:gd name="connsiteY5" fmla="*/ 6858000 h 6858000"/>
              <a:gd name="connsiteX6" fmla="*/ 0 w 4167271"/>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167271" h="6858000">
                <a:moveTo>
                  <a:pt x="0" y="0"/>
                </a:moveTo>
                <a:lnTo>
                  <a:pt x="2259550" y="0"/>
                </a:lnTo>
                <a:lnTo>
                  <a:pt x="2387803" y="82222"/>
                </a:lnTo>
                <a:cubicBezTo>
                  <a:pt x="3461407" y="807534"/>
                  <a:pt x="4167271" y="2035835"/>
                  <a:pt x="4167271" y="3429000"/>
                </a:cubicBezTo>
                <a:cubicBezTo>
                  <a:pt x="4167271" y="4822165"/>
                  <a:pt x="3461407" y="6050467"/>
                  <a:pt x="2387803" y="6775779"/>
                </a:cubicBezTo>
                <a:lnTo>
                  <a:pt x="2259550" y="6858000"/>
                </a:lnTo>
                <a:lnTo>
                  <a:pt x="0" y="685800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A0F5977-0EC8-4A14-B399-6D4AF7758688}"/>
              </a:ext>
            </a:extLst>
          </p:cNvPr>
          <p:cNvSpPr>
            <a:spLocks noGrp="1"/>
          </p:cNvSpPr>
          <p:nvPr>
            <p:ph type="title"/>
          </p:nvPr>
        </p:nvSpPr>
        <p:spPr>
          <a:xfrm>
            <a:off x="686834" y="1153572"/>
            <a:ext cx="3200400" cy="4461163"/>
          </a:xfrm>
        </p:spPr>
        <p:txBody>
          <a:bodyPr>
            <a:normAutofit/>
          </a:bodyPr>
          <a:lstStyle/>
          <a:p>
            <a:r>
              <a:rPr lang="en-US">
                <a:solidFill>
                  <a:srgbClr val="FFFFFF"/>
                </a:solidFill>
              </a:rPr>
              <a:t>Nội dung trình bày</a:t>
            </a:r>
          </a:p>
        </p:txBody>
      </p:sp>
      <p:sp>
        <p:nvSpPr>
          <p:cNvPr id="12" name="Arc 11">
            <a:extLst>
              <a:ext uri="{FF2B5EF4-FFF2-40B4-BE49-F238E27FC236}">
                <a16:creationId xmlns:a16="http://schemas.microsoft.com/office/drawing/2014/main" id="{081E4A58-353D-44AE-B2FC-2A74E2E400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7550402" y="2455479"/>
            <a:ext cx="4083433"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3" name="Content Placeholder 2">
            <a:extLst>
              <a:ext uri="{FF2B5EF4-FFF2-40B4-BE49-F238E27FC236}">
                <a16:creationId xmlns:a16="http://schemas.microsoft.com/office/drawing/2014/main" id="{22C3103E-7483-49DF-BE90-85D33069BA00}"/>
              </a:ext>
            </a:extLst>
          </p:cNvPr>
          <p:cNvSpPr>
            <a:spLocks noGrp="1"/>
          </p:cNvSpPr>
          <p:nvPr>
            <p:ph idx="1"/>
          </p:nvPr>
        </p:nvSpPr>
        <p:spPr>
          <a:xfrm>
            <a:off x="4447308" y="591344"/>
            <a:ext cx="6906491" cy="5585619"/>
          </a:xfrm>
        </p:spPr>
        <p:txBody>
          <a:bodyPr anchor="ctr">
            <a:normAutofit/>
          </a:bodyPr>
          <a:lstStyle/>
          <a:p>
            <a:pPr marL="514350" indent="-514350">
              <a:buFont typeface="+mj-lt"/>
              <a:buAutoNum type="arabicPeriod"/>
            </a:pPr>
            <a:r>
              <a:rPr lang="en-US" dirty="0" err="1"/>
              <a:t>Giới</a:t>
            </a:r>
            <a:r>
              <a:rPr lang="en-US" dirty="0"/>
              <a:t> </a:t>
            </a:r>
            <a:r>
              <a:rPr lang="en-US" dirty="0" err="1"/>
              <a:t>thiệu</a:t>
            </a:r>
            <a:endParaRPr lang="en-US" dirty="0"/>
          </a:p>
          <a:p>
            <a:pPr marL="514350" indent="-514350">
              <a:buFont typeface="+mj-lt"/>
              <a:buAutoNum type="arabicPeriod"/>
            </a:pPr>
            <a:r>
              <a:rPr lang="en-US" dirty="0" err="1"/>
              <a:t>Mô</a:t>
            </a:r>
            <a:r>
              <a:rPr lang="en-US" dirty="0"/>
              <a:t> </a:t>
            </a:r>
            <a:r>
              <a:rPr lang="en-US" dirty="0" err="1"/>
              <a:t>hình</a:t>
            </a:r>
            <a:r>
              <a:rPr lang="en-US" dirty="0"/>
              <a:t> </a:t>
            </a:r>
            <a:r>
              <a:rPr lang="en-US" dirty="0" err="1"/>
              <a:t>hóa</a:t>
            </a:r>
            <a:r>
              <a:rPr lang="en-US" dirty="0"/>
              <a:t> </a:t>
            </a:r>
            <a:r>
              <a:rPr lang="en-US" dirty="0" err="1"/>
              <a:t>hệ</a:t>
            </a:r>
            <a:r>
              <a:rPr lang="en-US" dirty="0"/>
              <a:t> </a:t>
            </a:r>
            <a:r>
              <a:rPr lang="en-US" dirty="0" err="1"/>
              <a:t>thống</a:t>
            </a:r>
            <a:endParaRPr lang="en-US" dirty="0"/>
          </a:p>
          <a:p>
            <a:pPr marL="514350" indent="-514350">
              <a:buFont typeface="+mj-lt"/>
              <a:buAutoNum type="arabicPeriod"/>
            </a:pPr>
            <a:r>
              <a:rPr lang="en-US" dirty="0" err="1"/>
              <a:t>Thiết</a:t>
            </a:r>
            <a:r>
              <a:rPr lang="en-US" dirty="0"/>
              <a:t> </a:t>
            </a:r>
            <a:r>
              <a:rPr lang="en-US" dirty="0" err="1"/>
              <a:t>kế</a:t>
            </a:r>
            <a:r>
              <a:rPr lang="en-US" dirty="0"/>
              <a:t> </a:t>
            </a:r>
            <a:r>
              <a:rPr lang="en-US" dirty="0" err="1"/>
              <a:t>hệ</a:t>
            </a:r>
            <a:r>
              <a:rPr lang="en-US" dirty="0"/>
              <a:t> </a:t>
            </a:r>
            <a:r>
              <a:rPr lang="en-US" dirty="0" err="1"/>
              <a:t>thống</a:t>
            </a:r>
            <a:r>
              <a:rPr lang="en-US" dirty="0"/>
              <a:t> </a:t>
            </a:r>
          </a:p>
          <a:p>
            <a:pPr marL="514350" indent="-514350">
              <a:buFont typeface="+mj-lt"/>
              <a:buAutoNum type="arabicPeriod"/>
            </a:pPr>
            <a:r>
              <a:rPr lang="en-US" dirty="0" err="1"/>
              <a:t>Bảo</a:t>
            </a:r>
            <a:r>
              <a:rPr lang="en-US" dirty="0"/>
              <a:t> </a:t>
            </a:r>
            <a:r>
              <a:rPr lang="en-US" dirty="0" err="1"/>
              <a:t>mật</a:t>
            </a:r>
            <a:r>
              <a:rPr lang="en-US" dirty="0"/>
              <a:t> </a:t>
            </a:r>
            <a:r>
              <a:rPr lang="en-US" dirty="0" err="1"/>
              <a:t>hệ</a:t>
            </a:r>
            <a:r>
              <a:rPr lang="en-US" dirty="0"/>
              <a:t> </a:t>
            </a:r>
            <a:r>
              <a:rPr lang="en-US" dirty="0" err="1"/>
              <a:t>thống</a:t>
            </a:r>
            <a:endParaRPr lang="en-US" dirty="0"/>
          </a:p>
          <a:p>
            <a:pPr marL="514350" indent="-514350">
              <a:buFont typeface="+mj-lt"/>
              <a:buAutoNum type="arabicPeriod"/>
            </a:pPr>
            <a:r>
              <a:rPr lang="en-US" dirty="0" err="1"/>
              <a:t>Kết</a:t>
            </a:r>
            <a:r>
              <a:rPr lang="en-US" dirty="0"/>
              <a:t> </a:t>
            </a:r>
            <a:r>
              <a:rPr lang="en-US" dirty="0" err="1"/>
              <a:t>quả</a:t>
            </a:r>
            <a:endParaRPr lang="en-US" dirty="0"/>
          </a:p>
          <a:p>
            <a:pPr marL="514350" indent="-514350">
              <a:buFont typeface="+mj-lt"/>
              <a:buAutoNum type="arabicPeriod"/>
            </a:pPr>
            <a:endParaRPr lang="en-US" dirty="0"/>
          </a:p>
        </p:txBody>
      </p:sp>
    </p:spTree>
    <p:extLst>
      <p:ext uri="{BB962C8B-B14F-4D97-AF65-F5344CB8AC3E}">
        <p14:creationId xmlns:p14="http://schemas.microsoft.com/office/powerpoint/2010/main" val="399635185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907EF6B7-1338-4443-8C46-6A318D952D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reeform: Shape 9">
            <a:extLst>
              <a:ext uri="{FF2B5EF4-FFF2-40B4-BE49-F238E27FC236}">
                <a16:creationId xmlns:a16="http://schemas.microsoft.com/office/drawing/2014/main" id="{DAAE4CDD-124C-4DCF-9584-B6033B545D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4167271" cy="6858000"/>
          </a:xfrm>
          <a:custGeom>
            <a:avLst/>
            <a:gdLst>
              <a:gd name="connsiteX0" fmla="*/ 0 w 4167271"/>
              <a:gd name="connsiteY0" fmla="*/ 0 h 6858000"/>
              <a:gd name="connsiteX1" fmla="*/ 2259550 w 4167271"/>
              <a:gd name="connsiteY1" fmla="*/ 0 h 6858000"/>
              <a:gd name="connsiteX2" fmla="*/ 2387803 w 4167271"/>
              <a:gd name="connsiteY2" fmla="*/ 82222 h 6858000"/>
              <a:gd name="connsiteX3" fmla="*/ 4167271 w 4167271"/>
              <a:gd name="connsiteY3" fmla="*/ 3429000 h 6858000"/>
              <a:gd name="connsiteX4" fmla="*/ 2387803 w 4167271"/>
              <a:gd name="connsiteY4" fmla="*/ 6775779 h 6858000"/>
              <a:gd name="connsiteX5" fmla="*/ 2259550 w 4167271"/>
              <a:gd name="connsiteY5" fmla="*/ 6858000 h 6858000"/>
              <a:gd name="connsiteX6" fmla="*/ 0 w 4167271"/>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167271" h="6858000">
                <a:moveTo>
                  <a:pt x="0" y="0"/>
                </a:moveTo>
                <a:lnTo>
                  <a:pt x="2259550" y="0"/>
                </a:lnTo>
                <a:lnTo>
                  <a:pt x="2387803" y="82222"/>
                </a:lnTo>
                <a:cubicBezTo>
                  <a:pt x="3461407" y="807534"/>
                  <a:pt x="4167271" y="2035835"/>
                  <a:pt x="4167271" y="3429000"/>
                </a:cubicBezTo>
                <a:cubicBezTo>
                  <a:pt x="4167271" y="4822165"/>
                  <a:pt x="3461407" y="6050467"/>
                  <a:pt x="2387803" y="6775779"/>
                </a:cubicBezTo>
                <a:lnTo>
                  <a:pt x="2259550" y="6858000"/>
                </a:lnTo>
                <a:lnTo>
                  <a:pt x="0" y="685800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873E019-3D5F-4E1D-8481-621B3E247E44}"/>
              </a:ext>
            </a:extLst>
          </p:cNvPr>
          <p:cNvSpPr>
            <a:spLocks noGrp="1"/>
          </p:cNvSpPr>
          <p:nvPr>
            <p:ph type="title"/>
          </p:nvPr>
        </p:nvSpPr>
        <p:spPr>
          <a:xfrm>
            <a:off x="686834" y="1153572"/>
            <a:ext cx="3200400" cy="4461163"/>
          </a:xfrm>
        </p:spPr>
        <p:txBody>
          <a:bodyPr>
            <a:normAutofit/>
          </a:bodyPr>
          <a:lstStyle/>
          <a:p>
            <a:r>
              <a:rPr lang="en-US">
                <a:solidFill>
                  <a:srgbClr val="FFFFFF"/>
                </a:solidFill>
              </a:rPr>
              <a:t>1. Giới Thiệu</a:t>
            </a:r>
          </a:p>
        </p:txBody>
      </p:sp>
      <p:sp>
        <p:nvSpPr>
          <p:cNvPr id="12" name="Arc 11">
            <a:extLst>
              <a:ext uri="{FF2B5EF4-FFF2-40B4-BE49-F238E27FC236}">
                <a16:creationId xmlns:a16="http://schemas.microsoft.com/office/drawing/2014/main" id="{081E4A58-353D-44AE-B2FC-2A74E2E400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7550402" y="2455479"/>
            <a:ext cx="4083433"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3" name="Content Placeholder 2">
            <a:extLst>
              <a:ext uri="{FF2B5EF4-FFF2-40B4-BE49-F238E27FC236}">
                <a16:creationId xmlns:a16="http://schemas.microsoft.com/office/drawing/2014/main" id="{0FF3AFE9-8E4E-4547-AD0C-D14A5793AD8F}"/>
              </a:ext>
            </a:extLst>
          </p:cNvPr>
          <p:cNvSpPr>
            <a:spLocks noGrp="1"/>
          </p:cNvSpPr>
          <p:nvPr>
            <p:ph idx="1"/>
          </p:nvPr>
        </p:nvSpPr>
        <p:spPr>
          <a:xfrm>
            <a:off x="4447308" y="591344"/>
            <a:ext cx="6906491" cy="5585619"/>
          </a:xfrm>
        </p:spPr>
        <p:txBody>
          <a:bodyPr anchor="ctr">
            <a:normAutofit/>
          </a:bodyPr>
          <a:lstStyle/>
          <a:p>
            <a:r>
              <a:rPr lang="en-US" dirty="0"/>
              <a:t>IoT</a:t>
            </a:r>
          </a:p>
          <a:p>
            <a:r>
              <a:rPr lang="en-US" dirty="0"/>
              <a:t>MQTT</a:t>
            </a:r>
          </a:p>
        </p:txBody>
      </p:sp>
    </p:spTree>
    <p:extLst>
      <p:ext uri="{BB962C8B-B14F-4D97-AF65-F5344CB8AC3E}">
        <p14:creationId xmlns:p14="http://schemas.microsoft.com/office/powerpoint/2010/main" val="193181230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9" name="Rectangle 28">
            <a:extLst>
              <a:ext uri="{FF2B5EF4-FFF2-40B4-BE49-F238E27FC236}">
                <a16:creationId xmlns:a16="http://schemas.microsoft.com/office/drawing/2014/main" id="{1BB867FF-FC45-48F7-8104-F89BE54909F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Freeform: Shape 30">
            <a:extLst>
              <a:ext uri="{FF2B5EF4-FFF2-40B4-BE49-F238E27FC236}">
                <a16:creationId xmlns:a16="http://schemas.microsoft.com/office/drawing/2014/main" id="{8BB56887-D0D5-4F0C-9E19-7247EB83C8B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208695" y="1"/>
            <a:ext cx="1135066" cy="477997"/>
          </a:xfrm>
          <a:custGeom>
            <a:avLst/>
            <a:gdLst>
              <a:gd name="connsiteX0" fmla="*/ 0 w 1135066"/>
              <a:gd name="connsiteY0" fmla="*/ 0 h 477997"/>
              <a:gd name="connsiteX1" fmla="*/ 1135066 w 1135066"/>
              <a:gd name="connsiteY1" fmla="*/ 0 h 477997"/>
              <a:gd name="connsiteX2" fmla="*/ 1133370 w 1135066"/>
              <a:gd name="connsiteY2" fmla="*/ 16827 h 477997"/>
              <a:gd name="connsiteX3" fmla="*/ 567533 w 1135066"/>
              <a:gd name="connsiteY3" fmla="*/ 477997 h 477997"/>
              <a:gd name="connsiteX4" fmla="*/ 1696 w 1135066"/>
              <a:gd name="connsiteY4" fmla="*/ 16827 h 4779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35066" h="477997">
                <a:moveTo>
                  <a:pt x="0" y="0"/>
                </a:moveTo>
                <a:lnTo>
                  <a:pt x="1135066" y="0"/>
                </a:lnTo>
                <a:lnTo>
                  <a:pt x="1133370" y="16827"/>
                </a:lnTo>
                <a:cubicBezTo>
                  <a:pt x="1079514" y="280016"/>
                  <a:pt x="846644" y="477997"/>
                  <a:pt x="567533" y="477997"/>
                </a:cubicBezTo>
                <a:cubicBezTo>
                  <a:pt x="288422" y="477997"/>
                  <a:pt x="55552" y="280016"/>
                  <a:pt x="1696" y="16827"/>
                </a:cubicBezTo>
                <a:close/>
              </a:path>
            </a:pathLst>
          </a:cu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1568D89A-E11D-4081-94A2-714A7B90CB00}"/>
              </a:ext>
            </a:extLst>
          </p:cNvPr>
          <p:cNvSpPr>
            <a:spLocks noGrp="1"/>
          </p:cNvSpPr>
          <p:nvPr>
            <p:ph type="title"/>
          </p:nvPr>
        </p:nvSpPr>
        <p:spPr>
          <a:xfrm>
            <a:off x="838200" y="365125"/>
            <a:ext cx="10515600" cy="1325563"/>
          </a:xfrm>
        </p:spPr>
        <p:txBody>
          <a:bodyPr>
            <a:normAutofit/>
          </a:bodyPr>
          <a:lstStyle/>
          <a:p>
            <a:r>
              <a:rPr lang="en-US" b="1" dirty="0"/>
              <a:t>1.1 IoT</a:t>
            </a:r>
          </a:p>
        </p:txBody>
      </p:sp>
      <p:sp>
        <p:nvSpPr>
          <p:cNvPr id="33" name="Arc 32">
            <a:extLst>
              <a:ext uri="{FF2B5EF4-FFF2-40B4-BE49-F238E27FC236}">
                <a16:creationId xmlns:a16="http://schemas.microsoft.com/office/drawing/2014/main" id="{081E4A58-353D-44AE-B2FC-2A74E2E400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V="1">
            <a:off x="555710" y="2183223"/>
            <a:ext cx="4083433"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24" name="Content Placeholder 2">
            <a:extLst>
              <a:ext uri="{FF2B5EF4-FFF2-40B4-BE49-F238E27FC236}">
                <a16:creationId xmlns:a16="http://schemas.microsoft.com/office/drawing/2014/main" id="{29CBC9A2-7C1D-4FED-9F5D-94FCDB387313}"/>
              </a:ext>
            </a:extLst>
          </p:cNvPr>
          <p:cNvSpPr>
            <a:spLocks noGrp="1"/>
          </p:cNvSpPr>
          <p:nvPr>
            <p:ph idx="1"/>
          </p:nvPr>
        </p:nvSpPr>
        <p:spPr>
          <a:xfrm>
            <a:off x="838200" y="1825625"/>
            <a:ext cx="10515600" cy="4351338"/>
          </a:xfrm>
        </p:spPr>
        <p:txBody>
          <a:bodyPr>
            <a:normAutofit/>
          </a:bodyPr>
          <a:lstStyle/>
          <a:p>
            <a:r>
              <a:rPr lang="en-US" dirty="0"/>
              <a:t>IoT (Internet Of Things) </a:t>
            </a:r>
            <a:r>
              <a:rPr lang="en-US" dirty="0" err="1"/>
              <a:t>là</a:t>
            </a:r>
            <a:r>
              <a:rPr lang="en-US" dirty="0"/>
              <a:t> </a:t>
            </a:r>
            <a:r>
              <a:rPr lang="en-US" dirty="0" err="1"/>
              <a:t>một</a:t>
            </a:r>
            <a:r>
              <a:rPr lang="en-US" dirty="0"/>
              <a:t> </a:t>
            </a:r>
            <a:r>
              <a:rPr lang="en-US" dirty="0" err="1"/>
              <a:t>hệ</a:t>
            </a:r>
            <a:r>
              <a:rPr lang="en-US" dirty="0"/>
              <a:t> </a:t>
            </a:r>
            <a:r>
              <a:rPr lang="en-US" dirty="0" err="1"/>
              <a:t>thống</a:t>
            </a:r>
            <a:r>
              <a:rPr lang="en-US" dirty="0"/>
              <a:t> </a:t>
            </a:r>
            <a:r>
              <a:rPr lang="en-US" dirty="0" err="1"/>
              <a:t>mà</a:t>
            </a:r>
            <a:r>
              <a:rPr lang="en-US" dirty="0"/>
              <a:t> </a:t>
            </a:r>
            <a:r>
              <a:rPr lang="en-US" dirty="0" err="1"/>
              <a:t>các</a:t>
            </a:r>
            <a:r>
              <a:rPr lang="en-US" dirty="0"/>
              <a:t> </a:t>
            </a:r>
            <a:r>
              <a:rPr lang="en-US" dirty="0" err="1"/>
              <a:t>thiết</a:t>
            </a:r>
            <a:r>
              <a:rPr lang="en-US" dirty="0"/>
              <a:t> </a:t>
            </a:r>
            <a:r>
              <a:rPr lang="en-US" dirty="0" err="1"/>
              <a:t>bị</a:t>
            </a:r>
            <a:r>
              <a:rPr lang="en-US" dirty="0"/>
              <a:t> </a:t>
            </a:r>
            <a:r>
              <a:rPr lang="en-US" dirty="0" err="1"/>
              <a:t>vật</a:t>
            </a:r>
            <a:r>
              <a:rPr lang="en-US" dirty="0"/>
              <a:t> </a:t>
            </a:r>
            <a:r>
              <a:rPr lang="en-US" dirty="0" err="1"/>
              <a:t>lý</a:t>
            </a:r>
            <a:r>
              <a:rPr lang="en-US" dirty="0"/>
              <a:t> </a:t>
            </a:r>
            <a:r>
              <a:rPr lang="en-US" dirty="0" err="1"/>
              <a:t>trên</a:t>
            </a:r>
            <a:r>
              <a:rPr lang="en-US" dirty="0"/>
              <a:t> </a:t>
            </a:r>
            <a:r>
              <a:rPr lang="en-US" dirty="0" err="1"/>
              <a:t>khắp</a:t>
            </a:r>
            <a:r>
              <a:rPr lang="en-US" dirty="0"/>
              <a:t> </a:t>
            </a:r>
            <a:r>
              <a:rPr lang="en-US" dirty="0" err="1"/>
              <a:t>thế</a:t>
            </a:r>
            <a:r>
              <a:rPr lang="en-US" dirty="0"/>
              <a:t> </a:t>
            </a:r>
            <a:r>
              <a:rPr lang="en-US" dirty="0" err="1"/>
              <a:t>giới</a:t>
            </a:r>
            <a:r>
              <a:rPr lang="en-US" dirty="0"/>
              <a:t> </a:t>
            </a:r>
            <a:r>
              <a:rPr lang="en-US" dirty="0" err="1"/>
              <a:t>được</a:t>
            </a:r>
            <a:r>
              <a:rPr lang="en-US" dirty="0"/>
              <a:t> </a:t>
            </a:r>
            <a:r>
              <a:rPr lang="en-US" dirty="0" err="1"/>
              <a:t>kết</a:t>
            </a:r>
            <a:r>
              <a:rPr lang="en-US" dirty="0"/>
              <a:t> </a:t>
            </a:r>
            <a:r>
              <a:rPr lang="en-US" dirty="0" err="1"/>
              <a:t>nối</a:t>
            </a:r>
            <a:r>
              <a:rPr lang="en-US" dirty="0"/>
              <a:t> </a:t>
            </a:r>
            <a:r>
              <a:rPr lang="en-US" dirty="0" err="1"/>
              <a:t>với</a:t>
            </a:r>
            <a:r>
              <a:rPr lang="en-US" dirty="0"/>
              <a:t> internet, </a:t>
            </a:r>
            <a:r>
              <a:rPr lang="en-US" dirty="0" err="1"/>
              <a:t>thu</a:t>
            </a:r>
            <a:r>
              <a:rPr lang="en-US" dirty="0"/>
              <a:t> </a:t>
            </a:r>
            <a:r>
              <a:rPr lang="en-US" dirty="0" err="1"/>
              <a:t>thập</a:t>
            </a:r>
            <a:r>
              <a:rPr lang="en-US" dirty="0"/>
              <a:t> </a:t>
            </a:r>
            <a:r>
              <a:rPr lang="en-US" dirty="0" err="1"/>
              <a:t>và</a:t>
            </a:r>
            <a:r>
              <a:rPr lang="en-US" dirty="0"/>
              <a:t> chia </a:t>
            </a:r>
            <a:r>
              <a:rPr lang="en-US" dirty="0" err="1"/>
              <a:t>sẻ</a:t>
            </a:r>
            <a:r>
              <a:rPr lang="en-US" dirty="0"/>
              <a:t> </a:t>
            </a:r>
            <a:r>
              <a:rPr lang="en-US" dirty="0" err="1"/>
              <a:t>dữ</a:t>
            </a:r>
            <a:r>
              <a:rPr lang="en-US" dirty="0"/>
              <a:t> </a:t>
            </a:r>
            <a:r>
              <a:rPr lang="en-US" dirty="0" err="1"/>
              <a:t>liệu</a:t>
            </a:r>
            <a:r>
              <a:rPr lang="en-US" dirty="0"/>
              <a:t>.</a:t>
            </a:r>
          </a:p>
          <a:p>
            <a:r>
              <a:rPr lang="en-US" dirty="0" err="1"/>
              <a:t>Đề</a:t>
            </a:r>
            <a:r>
              <a:rPr lang="en-US" dirty="0"/>
              <a:t> </a:t>
            </a:r>
            <a:r>
              <a:rPr lang="en-US" dirty="0" err="1"/>
              <a:t>tài</a:t>
            </a:r>
            <a:r>
              <a:rPr lang="en-US" dirty="0"/>
              <a:t> </a:t>
            </a:r>
            <a:r>
              <a:rPr lang="en-US" dirty="0" err="1"/>
              <a:t>này</a:t>
            </a:r>
            <a:r>
              <a:rPr lang="en-US" dirty="0"/>
              <a:t> </a:t>
            </a:r>
            <a:r>
              <a:rPr lang="en-US" dirty="0" err="1"/>
              <a:t>sẽ</a:t>
            </a:r>
            <a:r>
              <a:rPr lang="en-US" dirty="0"/>
              <a:t> </a:t>
            </a:r>
            <a:r>
              <a:rPr lang="en-US" dirty="0" err="1"/>
              <a:t>xây</a:t>
            </a:r>
            <a:r>
              <a:rPr lang="en-US" dirty="0"/>
              <a:t> </a:t>
            </a:r>
            <a:r>
              <a:rPr lang="en-US" dirty="0" err="1"/>
              <a:t>dựng</a:t>
            </a:r>
            <a:r>
              <a:rPr lang="en-US" dirty="0"/>
              <a:t> </a:t>
            </a:r>
            <a:r>
              <a:rPr lang="en-US" dirty="0" err="1"/>
              <a:t>một</a:t>
            </a:r>
            <a:r>
              <a:rPr lang="en-US" dirty="0"/>
              <a:t> </a:t>
            </a:r>
            <a:r>
              <a:rPr lang="en-US" dirty="0" err="1"/>
              <a:t>ứng</a:t>
            </a:r>
            <a:r>
              <a:rPr lang="en-US" dirty="0"/>
              <a:t> </a:t>
            </a:r>
            <a:r>
              <a:rPr lang="en-US" dirty="0" err="1"/>
              <a:t>dụng</a:t>
            </a:r>
            <a:r>
              <a:rPr lang="en-US" dirty="0"/>
              <a:t> </a:t>
            </a:r>
            <a:r>
              <a:rPr lang="en-US" dirty="0" err="1"/>
              <a:t>thu</a:t>
            </a:r>
            <a:r>
              <a:rPr lang="en-US" dirty="0"/>
              <a:t> </a:t>
            </a:r>
            <a:r>
              <a:rPr lang="en-US" dirty="0" err="1"/>
              <a:t>thập</a:t>
            </a:r>
            <a:r>
              <a:rPr lang="en-US" dirty="0"/>
              <a:t> </a:t>
            </a:r>
            <a:r>
              <a:rPr lang="en-US" dirty="0" err="1"/>
              <a:t>các</a:t>
            </a:r>
            <a:r>
              <a:rPr lang="en-US" dirty="0"/>
              <a:t> </a:t>
            </a:r>
            <a:r>
              <a:rPr lang="en-US" dirty="0" err="1"/>
              <a:t>giá</a:t>
            </a:r>
            <a:r>
              <a:rPr lang="en-US" dirty="0"/>
              <a:t> </a:t>
            </a:r>
            <a:r>
              <a:rPr lang="en-US" dirty="0" err="1"/>
              <a:t>trị</a:t>
            </a:r>
            <a:r>
              <a:rPr lang="en-US" dirty="0"/>
              <a:t> </a:t>
            </a:r>
            <a:r>
              <a:rPr lang="en-US" dirty="0" err="1"/>
              <a:t>nhiệt</a:t>
            </a:r>
            <a:r>
              <a:rPr lang="en-US" dirty="0"/>
              <a:t> </a:t>
            </a:r>
            <a:r>
              <a:rPr lang="en-US" dirty="0" err="1"/>
              <a:t>độ</a:t>
            </a:r>
            <a:r>
              <a:rPr lang="en-US" dirty="0"/>
              <a:t>, </a:t>
            </a:r>
            <a:r>
              <a:rPr lang="en-US" dirty="0" err="1"/>
              <a:t>độ</a:t>
            </a:r>
            <a:r>
              <a:rPr lang="en-US" dirty="0"/>
              <a:t> </a:t>
            </a:r>
            <a:r>
              <a:rPr lang="en-US" dirty="0" err="1"/>
              <a:t>ẩm</a:t>
            </a:r>
            <a:r>
              <a:rPr lang="en-US" dirty="0"/>
              <a:t> </a:t>
            </a:r>
            <a:r>
              <a:rPr lang="en-US" dirty="0" err="1"/>
              <a:t>được</a:t>
            </a:r>
            <a:r>
              <a:rPr lang="en-US" dirty="0"/>
              <a:t> </a:t>
            </a:r>
            <a:r>
              <a:rPr lang="en-US" dirty="0" err="1"/>
              <a:t>tạo</a:t>
            </a:r>
            <a:r>
              <a:rPr lang="en-US" dirty="0"/>
              <a:t> ra </a:t>
            </a:r>
            <a:r>
              <a:rPr lang="en-US" dirty="0" err="1"/>
              <a:t>từ</a:t>
            </a:r>
            <a:r>
              <a:rPr lang="en-US" dirty="0"/>
              <a:t> DHT11 </a:t>
            </a:r>
            <a:r>
              <a:rPr lang="en-US" dirty="0" err="1"/>
              <a:t>và</a:t>
            </a:r>
            <a:r>
              <a:rPr lang="en-US" dirty="0"/>
              <a:t> </a:t>
            </a:r>
            <a:r>
              <a:rPr lang="en-US" dirty="0" err="1"/>
              <a:t>hiển</a:t>
            </a:r>
            <a:r>
              <a:rPr lang="en-US" dirty="0"/>
              <a:t> </a:t>
            </a:r>
            <a:r>
              <a:rPr lang="en-US" dirty="0" err="1"/>
              <a:t>thị</a:t>
            </a:r>
            <a:r>
              <a:rPr lang="en-US" dirty="0"/>
              <a:t> </a:t>
            </a:r>
            <a:r>
              <a:rPr lang="en-US" dirty="0" err="1"/>
              <a:t>lên</a:t>
            </a:r>
            <a:r>
              <a:rPr lang="en-US" dirty="0"/>
              <a:t> </a:t>
            </a:r>
            <a:r>
              <a:rPr lang="en-US" dirty="0" err="1"/>
              <a:t>trên</a:t>
            </a:r>
            <a:r>
              <a:rPr lang="en-US" dirty="0"/>
              <a:t> web. </a:t>
            </a:r>
            <a:r>
              <a:rPr lang="en-US" dirty="0" err="1"/>
              <a:t>Từ</a:t>
            </a:r>
            <a:r>
              <a:rPr lang="en-US" dirty="0"/>
              <a:t> </a:t>
            </a:r>
            <a:r>
              <a:rPr lang="en-US" dirty="0" err="1"/>
              <a:t>đó</a:t>
            </a:r>
            <a:r>
              <a:rPr lang="en-US" dirty="0"/>
              <a:t> </a:t>
            </a:r>
            <a:r>
              <a:rPr lang="en-US" dirty="0" err="1"/>
              <a:t>sử</a:t>
            </a:r>
            <a:r>
              <a:rPr lang="en-US" dirty="0"/>
              <a:t> </a:t>
            </a:r>
            <a:r>
              <a:rPr lang="en-US" dirty="0" err="1"/>
              <a:t>dụng</a:t>
            </a:r>
            <a:r>
              <a:rPr lang="en-US" dirty="0"/>
              <a:t> </a:t>
            </a:r>
            <a:r>
              <a:rPr lang="en-US" dirty="0" err="1"/>
              <a:t>một</a:t>
            </a:r>
            <a:r>
              <a:rPr lang="en-US" dirty="0"/>
              <a:t> </a:t>
            </a:r>
            <a:r>
              <a:rPr lang="en-US" dirty="0" err="1"/>
              <a:t>số</a:t>
            </a:r>
            <a:r>
              <a:rPr lang="en-US" dirty="0"/>
              <a:t> </a:t>
            </a:r>
            <a:r>
              <a:rPr lang="en-US" dirty="0" err="1"/>
              <a:t>giải</a:t>
            </a:r>
            <a:r>
              <a:rPr lang="en-US" dirty="0"/>
              <a:t> </a:t>
            </a:r>
            <a:r>
              <a:rPr lang="en-US" dirty="0" err="1"/>
              <a:t>pháp</a:t>
            </a:r>
            <a:r>
              <a:rPr lang="en-US" dirty="0"/>
              <a:t> </a:t>
            </a:r>
            <a:r>
              <a:rPr lang="en-US" dirty="0" err="1"/>
              <a:t>để</a:t>
            </a:r>
            <a:r>
              <a:rPr lang="en-US" dirty="0"/>
              <a:t> </a:t>
            </a:r>
            <a:r>
              <a:rPr lang="en-US" dirty="0" err="1"/>
              <a:t>bảo</a:t>
            </a:r>
            <a:r>
              <a:rPr lang="en-US" dirty="0"/>
              <a:t> </a:t>
            </a:r>
            <a:r>
              <a:rPr lang="en-US" dirty="0" err="1"/>
              <a:t>mật</a:t>
            </a:r>
            <a:r>
              <a:rPr lang="en-US" dirty="0"/>
              <a:t> </a:t>
            </a:r>
            <a:r>
              <a:rPr lang="en-US" dirty="0" err="1"/>
              <a:t>hệ</a:t>
            </a:r>
            <a:r>
              <a:rPr lang="en-US" dirty="0"/>
              <a:t> </a:t>
            </a:r>
            <a:r>
              <a:rPr lang="en-US" dirty="0" err="1"/>
              <a:t>thống</a:t>
            </a:r>
            <a:r>
              <a:rPr lang="en-US" dirty="0"/>
              <a:t> </a:t>
            </a:r>
            <a:r>
              <a:rPr lang="en-US" dirty="0" err="1"/>
              <a:t>này</a:t>
            </a:r>
            <a:r>
              <a:rPr lang="en-US" dirty="0"/>
              <a:t>.</a:t>
            </a:r>
          </a:p>
        </p:txBody>
      </p:sp>
    </p:spTree>
    <p:extLst>
      <p:ext uri="{BB962C8B-B14F-4D97-AF65-F5344CB8AC3E}">
        <p14:creationId xmlns:p14="http://schemas.microsoft.com/office/powerpoint/2010/main" val="166746112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CB70FA-047D-494A-89D3-1F2EA67FC660}"/>
              </a:ext>
            </a:extLst>
          </p:cNvPr>
          <p:cNvSpPr>
            <a:spLocks noGrp="1"/>
          </p:cNvSpPr>
          <p:nvPr>
            <p:ph type="title"/>
          </p:nvPr>
        </p:nvSpPr>
        <p:spPr/>
        <p:txBody>
          <a:bodyPr/>
          <a:lstStyle/>
          <a:p>
            <a:r>
              <a:rPr lang="en-US" dirty="0"/>
              <a:t>1.2 MQTT</a:t>
            </a:r>
          </a:p>
        </p:txBody>
      </p:sp>
      <p:pic>
        <p:nvPicPr>
          <p:cNvPr id="5" name="Picture 4">
            <a:extLst>
              <a:ext uri="{FF2B5EF4-FFF2-40B4-BE49-F238E27FC236}">
                <a16:creationId xmlns:a16="http://schemas.microsoft.com/office/drawing/2014/main" id="{915F58E6-5B3C-4BE8-80AD-5AFB9113837F}"/>
              </a:ext>
            </a:extLst>
          </p:cNvPr>
          <p:cNvPicPr>
            <a:picLocks noChangeAspect="1"/>
          </p:cNvPicPr>
          <p:nvPr/>
        </p:nvPicPr>
        <p:blipFill>
          <a:blip r:embed="rId2"/>
          <a:stretch>
            <a:fillRect/>
          </a:stretch>
        </p:blipFill>
        <p:spPr>
          <a:xfrm>
            <a:off x="1045074" y="1363186"/>
            <a:ext cx="8152265" cy="5028922"/>
          </a:xfrm>
          <a:prstGeom prst="rect">
            <a:avLst/>
          </a:prstGeom>
        </p:spPr>
      </p:pic>
    </p:spTree>
    <p:extLst>
      <p:ext uri="{BB962C8B-B14F-4D97-AF65-F5344CB8AC3E}">
        <p14:creationId xmlns:p14="http://schemas.microsoft.com/office/powerpoint/2010/main" val="130748608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C7606A-B5CA-4DA6-8286-B31CD888FBAA}"/>
              </a:ext>
            </a:extLst>
          </p:cNvPr>
          <p:cNvSpPr>
            <a:spLocks noGrp="1"/>
          </p:cNvSpPr>
          <p:nvPr>
            <p:ph type="title"/>
          </p:nvPr>
        </p:nvSpPr>
        <p:spPr/>
        <p:txBody>
          <a:bodyPr/>
          <a:lstStyle/>
          <a:p>
            <a:r>
              <a:rPr lang="en-US" dirty="0"/>
              <a:t>1.2 MQTT</a:t>
            </a:r>
          </a:p>
        </p:txBody>
      </p:sp>
      <p:sp>
        <p:nvSpPr>
          <p:cNvPr id="3" name="Content Placeholder 2">
            <a:extLst>
              <a:ext uri="{FF2B5EF4-FFF2-40B4-BE49-F238E27FC236}">
                <a16:creationId xmlns:a16="http://schemas.microsoft.com/office/drawing/2014/main" id="{1B202B57-1878-4470-B51A-A8A9832E268C}"/>
              </a:ext>
            </a:extLst>
          </p:cNvPr>
          <p:cNvSpPr>
            <a:spLocks noGrp="1"/>
          </p:cNvSpPr>
          <p:nvPr>
            <p:ph idx="1"/>
          </p:nvPr>
        </p:nvSpPr>
        <p:spPr/>
        <p:txBody>
          <a:bodyPr/>
          <a:lstStyle/>
          <a:p>
            <a:r>
              <a:rPr lang="vi-VN" b="0" i="0" dirty="0">
                <a:solidFill>
                  <a:srgbClr val="1B1B1B"/>
                </a:solidFill>
                <a:effectLst/>
                <a:latin typeface="Open Sans"/>
              </a:rPr>
              <a:t>MQTT (Message Queuing Telemetry Transport) là giao thức truyền thông điệp (message) theo mô hình publish/subscribe (cung cấp / thuê bao), được sử dụng cho các thiết bị IoT với băng thông thấp, độ tin cậy cao và khả năng được sử dụng trong mạng lưới không ổn định. Nó dựa trên một Broker (tạm dịch là “Máy chủ môi giới”) “nhẹ” (khá ít xử lý) và được thiết kế có tính mở (tức là không đặc trưng cho ứng dụng cụ thể nào), đơn giản và dễ cài đặt.</a:t>
            </a:r>
            <a:endParaRPr lang="en-US" b="0" i="0" dirty="0">
              <a:solidFill>
                <a:srgbClr val="1B1B1B"/>
              </a:solidFill>
              <a:effectLst/>
              <a:latin typeface="Open Sans"/>
            </a:endParaRPr>
          </a:p>
          <a:p>
            <a:r>
              <a:rPr lang="en-US" dirty="0" err="1"/>
              <a:t>Hình</a:t>
            </a:r>
            <a:r>
              <a:rPr lang="en-US" dirty="0"/>
              <a:t> </a:t>
            </a:r>
            <a:r>
              <a:rPr lang="en-US" dirty="0" err="1"/>
              <a:t>trên</a:t>
            </a:r>
            <a:r>
              <a:rPr lang="en-US" dirty="0"/>
              <a:t> </a:t>
            </a:r>
            <a:r>
              <a:rPr lang="en-US" dirty="0" err="1"/>
              <a:t>mô</a:t>
            </a:r>
            <a:r>
              <a:rPr lang="en-US" dirty="0"/>
              <a:t> </a:t>
            </a:r>
            <a:r>
              <a:rPr lang="en-US" dirty="0" err="1"/>
              <a:t>tả</a:t>
            </a:r>
            <a:r>
              <a:rPr lang="en-US" dirty="0"/>
              <a:t> </a:t>
            </a:r>
            <a:r>
              <a:rPr lang="en-US" dirty="0" err="1"/>
              <a:t>quá</a:t>
            </a:r>
            <a:r>
              <a:rPr lang="en-US" dirty="0"/>
              <a:t> </a:t>
            </a:r>
            <a:r>
              <a:rPr lang="en-US" dirty="0" err="1"/>
              <a:t>trình</a:t>
            </a:r>
            <a:r>
              <a:rPr lang="en-US" dirty="0"/>
              <a:t> subscribe, publish </a:t>
            </a:r>
            <a:r>
              <a:rPr lang="en-US" dirty="0" err="1"/>
              <a:t>giữa</a:t>
            </a:r>
            <a:r>
              <a:rPr lang="en-US" dirty="0"/>
              <a:t> </a:t>
            </a:r>
            <a:r>
              <a:rPr lang="en-US" dirty="0" err="1"/>
              <a:t>các</a:t>
            </a:r>
            <a:r>
              <a:rPr lang="en-US" dirty="0"/>
              <a:t> sensor </a:t>
            </a:r>
            <a:r>
              <a:rPr lang="en-US" dirty="0" err="1"/>
              <a:t>và</a:t>
            </a:r>
            <a:r>
              <a:rPr lang="en-US" dirty="0"/>
              <a:t> </a:t>
            </a:r>
            <a:r>
              <a:rPr lang="en-US" dirty="0" err="1"/>
              <a:t>máy</a:t>
            </a:r>
            <a:r>
              <a:rPr lang="en-US" dirty="0"/>
              <a:t> </a:t>
            </a:r>
            <a:r>
              <a:rPr lang="en-US" dirty="0" err="1"/>
              <a:t>tính</a:t>
            </a:r>
            <a:endParaRPr lang="en-US" dirty="0"/>
          </a:p>
          <a:p>
            <a:endParaRPr lang="en-US" dirty="0"/>
          </a:p>
        </p:txBody>
      </p:sp>
    </p:spTree>
    <p:extLst>
      <p:ext uri="{BB962C8B-B14F-4D97-AF65-F5344CB8AC3E}">
        <p14:creationId xmlns:p14="http://schemas.microsoft.com/office/powerpoint/2010/main" val="220860897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5" name="Rectangle 34">
            <a:extLst>
              <a:ext uri="{FF2B5EF4-FFF2-40B4-BE49-F238E27FC236}">
                <a16:creationId xmlns:a16="http://schemas.microsoft.com/office/drawing/2014/main" id="{1BB867FF-FC45-48F7-8104-F89BE54909F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Freeform: Shape 36">
            <a:extLst>
              <a:ext uri="{FF2B5EF4-FFF2-40B4-BE49-F238E27FC236}">
                <a16:creationId xmlns:a16="http://schemas.microsoft.com/office/drawing/2014/main" id="{8BB56887-D0D5-4F0C-9E19-7247EB83C8B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208695" y="1"/>
            <a:ext cx="1135066" cy="477997"/>
          </a:xfrm>
          <a:custGeom>
            <a:avLst/>
            <a:gdLst>
              <a:gd name="connsiteX0" fmla="*/ 0 w 1135066"/>
              <a:gd name="connsiteY0" fmla="*/ 0 h 477997"/>
              <a:gd name="connsiteX1" fmla="*/ 1135066 w 1135066"/>
              <a:gd name="connsiteY1" fmla="*/ 0 h 477997"/>
              <a:gd name="connsiteX2" fmla="*/ 1133370 w 1135066"/>
              <a:gd name="connsiteY2" fmla="*/ 16827 h 477997"/>
              <a:gd name="connsiteX3" fmla="*/ 567533 w 1135066"/>
              <a:gd name="connsiteY3" fmla="*/ 477997 h 477997"/>
              <a:gd name="connsiteX4" fmla="*/ 1696 w 1135066"/>
              <a:gd name="connsiteY4" fmla="*/ 16827 h 4779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35066" h="477997">
                <a:moveTo>
                  <a:pt x="0" y="0"/>
                </a:moveTo>
                <a:lnTo>
                  <a:pt x="1135066" y="0"/>
                </a:lnTo>
                <a:lnTo>
                  <a:pt x="1133370" y="16827"/>
                </a:lnTo>
                <a:cubicBezTo>
                  <a:pt x="1079514" y="280016"/>
                  <a:pt x="846644" y="477997"/>
                  <a:pt x="567533" y="477997"/>
                </a:cubicBezTo>
                <a:cubicBezTo>
                  <a:pt x="288422" y="477997"/>
                  <a:pt x="55552" y="280016"/>
                  <a:pt x="1696" y="16827"/>
                </a:cubicBezTo>
                <a:close/>
              </a:path>
            </a:pathLst>
          </a:cu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D0EC5318-3941-4350-999A-2F339A1F5EED}"/>
              </a:ext>
            </a:extLst>
          </p:cNvPr>
          <p:cNvSpPr>
            <a:spLocks noGrp="1"/>
          </p:cNvSpPr>
          <p:nvPr>
            <p:ph type="title"/>
          </p:nvPr>
        </p:nvSpPr>
        <p:spPr>
          <a:xfrm>
            <a:off x="838200" y="365125"/>
            <a:ext cx="10515600" cy="1325563"/>
          </a:xfrm>
        </p:spPr>
        <p:txBody>
          <a:bodyPr>
            <a:normAutofit/>
          </a:bodyPr>
          <a:lstStyle/>
          <a:p>
            <a:r>
              <a:rPr lang="en-US"/>
              <a:t>1. Giới Thiệu</a:t>
            </a:r>
          </a:p>
        </p:txBody>
      </p:sp>
      <p:sp>
        <p:nvSpPr>
          <p:cNvPr id="39" name="Arc 38">
            <a:extLst>
              <a:ext uri="{FF2B5EF4-FFF2-40B4-BE49-F238E27FC236}">
                <a16:creationId xmlns:a16="http://schemas.microsoft.com/office/drawing/2014/main" id="{081E4A58-353D-44AE-B2FC-2A74E2E400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V="1">
            <a:off x="555710" y="2183223"/>
            <a:ext cx="4083433"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3" name="Content Placeholder 2">
            <a:extLst>
              <a:ext uri="{FF2B5EF4-FFF2-40B4-BE49-F238E27FC236}">
                <a16:creationId xmlns:a16="http://schemas.microsoft.com/office/drawing/2014/main" id="{C445758E-7C0B-4875-B3C2-CF3CBB106CAE}"/>
              </a:ext>
            </a:extLst>
          </p:cNvPr>
          <p:cNvSpPr>
            <a:spLocks noGrp="1"/>
          </p:cNvSpPr>
          <p:nvPr>
            <p:ph idx="1"/>
          </p:nvPr>
        </p:nvSpPr>
        <p:spPr>
          <a:xfrm>
            <a:off x="838200" y="1825625"/>
            <a:ext cx="10515600" cy="4351338"/>
          </a:xfrm>
        </p:spPr>
        <p:txBody>
          <a:bodyPr>
            <a:normAutofit/>
          </a:bodyPr>
          <a:lstStyle/>
          <a:p>
            <a:pPr marL="0" indent="0">
              <a:buNone/>
            </a:pPr>
            <a:r>
              <a:rPr lang="en-US" b="1" dirty="0" err="1"/>
              <a:t>Ứng</a:t>
            </a:r>
            <a:r>
              <a:rPr lang="en-US" b="1" dirty="0"/>
              <a:t> </a:t>
            </a:r>
            <a:r>
              <a:rPr lang="en-US" b="1" dirty="0" err="1"/>
              <a:t>dụng</a:t>
            </a:r>
            <a:r>
              <a:rPr lang="en-US" b="1" dirty="0"/>
              <a:t> </a:t>
            </a:r>
            <a:r>
              <a:rPr lang="en-US" b="1" dirty="0" err="1"/>
              <a:t>mở</a:t>
            </a:r>
            <a:r>
              <a:rPr lang="en-US" b="1" dirty="0"/>
              <a:t> </a:t>
            </a:r>
            <a:r>
              <a:rPr lang="en-US" b="1" dirty="0" err="1"/>
              <a:t>rộng</a:t>
            </a:r>
            <a:r>
              <a:rPr lang="en-US" b="1" dirty="0"/>
              <a:t> </a:t>
            </a:r>
            <a:r>
              <a:rPr lang="en-US" b="1" dirty="0" err="1"/>
              <a:t>của</a:t>
            </a:r>
            <a:r>
              <a:rPr lang="en-US" b="1" dirty="0"/>
              <a:t> </a:t>
            </a:r>
            <a:r>
              <a:rPr lang="en-US" b="1" dirty="0" err="1"/>
              <a:t>hệ</a:t>
            </a:r>
            <a:r>
              <a:rPr lang="en-US" b="1" dirty="0"/>
              <a:t> </a:t>
            </a:r>
            <a:r>
              <a:rPr lang="en-US" b="1" dirty="0" err="1"/>
              <a:t>thống</a:t>
            </a:r>
            <a:endParaRPr lang="en-US" b="1" dirty="0"/>
          </a:p>
          <a:p>
            <a:r>
              <a:rPr lang="en-US" dirty="0"/>
              <a:t>Theo </a:t>
            </a:r>
            <a:r>
              <a:rPr lang="en-US" dirty="0" err="1"/>
              <a:t>dõi</a:t>
            </a:r>
            <a:r>
              <a:rPr lang="en-US" dirty="0"/>
              <a:t> </a:t>
            </a:r>
            <a:r>
              <a:rPr lang="en-US" dirty="0" err="1"/>
              <a:t>tình</a:t>
            </a:r>
            <a:r>
              <a:rPr lang="en-US" dirty="0"/>
              <a:t> </a:t>
            </a:r>
            <a:r>
              <a:rPr lang="en-US" dirty="0" err="1"/>
              <a:t>hình</a:t>
            </a:r>
            <a:r>
              <a:rPr lang="en-US" dirty="0"/>
              <a:t> </a:t>
            </a:r>
            <a:r>
              <a:rPr lang="en-US" dirty="0" err="1"/>
              <a:t>thời</a:t>
            </a:r>
            <a:r>
              <a:rPr lang="en-US" dirty="0"/>
              <a:t> </a:t>
            </a:r>
            <a:r>
              <a:rPr lang="en-US" dirty="0" err="1"/>
              <a:t>tiết</a:t>
            </a:r>
            <a:r>
              <a:rPr lang="en-US" dirty="0"/>
              <a:t> (</a:t>
            </a:r>
            <a:r>
              <a:rPr lang="en-US" dirty="0" err="1"/>
              <a:t>nhiệt</a:t>
            </a:r>
            <a:r>
              <a:rPr lang="en-US" dirty="0"/>
              <a:t> </a:t>
            </a:r>
            <a:r>
              <a:rPr lang="en-US" dirty="0" err="1"/>
              <a:t>độ</a:t>
            </a:r>
            <a:r>
              <a:rPr lang="en-US" dirty="0"/>
              <a:t>, </a:t>
            </a:r>
            <a:r>
              <a:rPr lang="en-US" dirty="0" err="1"/>
              <a:t>độ</a:t>
            </a:r>
            <a:r>
              <a:rPr lang="en-US" dirty="0"/>
              <a:t> </a:t>
            </a:r>
            <a:r>
              <a:rPr lang="en-US" dirty="0" err="1"/>
              <a:t>ẩm</a:t>
            </a:r>
            <a:r>
              <a:rPr lang="en-US" dirty="0"/>
              <a:t>)</a:t>
            </a:r>
          </a:p>
          <a:p>
            <a:r>
              <a:rPr lang="en-US" dirty="0" err="1"/>
              <a:t>Ứng</a:t>
            </a:r>
            <a:r>
              <a:rPr lang="en-US" dirty="0"/>
              <a:t> </a:t>
            </a:r>
            <a:r>
              <a:rPr lang="en-US" dirty="0" err="1"/>
              <a:t>dụng</a:t>
            </a:r>
            <a:r>
              <a:rPr lang="en-US" dirty="0"/>
              <a:t> </a:t>
            </a:r>
            <a:r>
              <a:rPr lang="en-US" dirty="0" err="1"/>
              <a:t>trong</a:t>
            </a:r>
            <a:r>
              <a:rPr lang="en-US" dirty="0"/>
              <a:t> </a:t>
            </a:r>
            <a:r>
              <a:rPr lang="en-US" dirty="0" err="1"/>
              <a:t>nông</a:t>
            </a:r>
            <a:r>
              <a:rPr lang="en-US" dirty="0"/>
              <a:t> </a:t>
            </a:r>
            <a:r>
              <a:rPr lang="en-US" dirty="0" err="1"/>
              <a:t>nghiệp</a:t>
            </a:r>
            <a:r>
              <a:rPr lang="en-US" dirty="0"/>
              <a:t> </a:t>
            </a:r>
            <a:r>
              <a:rPr lang="en-US" dirty="0" err="1"/>
              <a:t>thông</a:t>
            </a:r>
            <a:r>
              <a:rPr lang="en-US" dirty="0"/>
              <a:t> </a:t>
            </a:r>
            <a:r>
              <a:rPr lang="en-US" dirty="0" err="1"/>
              <a:t>minh</a:t>
            </a:r>
            <a:r>
              <a:rPr lang="en-US" dirty="0"/>
              <a:t> </a:t>
            </a:r>
            <a:r>
              <a:rPr lang="en-US" dirty="0" err="1"/>
              <a:t>như</a:t>
            </a:r>
            <a:r>
              <a:rPr lang="en-US" dirty="0"/>
              <a:t> </a:t>
            </a:r>
            <a:r>
              <a:rPr lang="en-US" dirty="0" err="1"/>
              <a:t>tưới</a:t>
            </a:r>
            <a:r>
              <a:rPr lang="en-US" dirty="0"/>
              <a:t> </a:t>
            </a:r>
            <a:r>
              <a:rPr lang="en-US" dirty="0" err="1"/>
              <a:t>tiêu</a:t>
            </a:r>
            <a:r>
              <a:rPr lang="en-US" dirty="0"/>
              <a:t> </a:t>
            </a:r>
            <a:r>
              <a:rPr lang="en-US" dirty="0" err="1"/>
              <a:t>tự</a:t>
            </a:r>
            <a:r>
              <a:rPr lang="en-US" dirty="0"/>
              <a:t> </a:t>
            </a:r>
            <a:r>
              <a:rPr lang="en-US" dirty="0" err="1"/>
              <a:t>động</a:t>
            </a:r>
            <a:r>
              <a:rPr lang="en-US" dirty="0"/>
              <a:t> </a:t>
            </a:r>
            <a:r>
              <a:rPr lang="en-US" dirty="0" err="1"/>
              <a:t>theo</a:t>
            </a:r>
            <a:r>
              <a:rPr lang="en-US" dirty="0"/>
              <a:t> </a:t>
            </a:r>
            <a:r>
              <a:rPr lang="en-US" dirty="0" err="1"/>
              <a:t>dõi</a:t>
            </a:r>
            <a:r>
              <a:rPr lang="en-US" dirty="0"/>
              <a:t> </a:t>
            </a:r>
            <a:r>
              <a:rPr lang="en-US" dirty="0" err="1"/>
              <a:t>điều</a:t>
            </a:r>
            <a:r>
              <a:rPr lang="en-US" dirty="0"/>
              <a:t> </a:t>
            </a:r>
            <a:r>
              <a:rPr lang="en-US" dirty="0" err="1"/>
              <a:t>khiển</a:t>
            </a:r>
            <a:r>
              <a:rPr lang="en-US" dirty="0"/>
              <a:t> </a:t>
            </a:r>
            <a:r>
              <a:rPr lang="en-US" dirty="0" err="1"/>
              <a:t>các</a:t>
            </a:r>
            <a:r>
              <a:rPr lang="en-US" dirty="0"/>
              <a:t> </a:t>
            </a:r>
            <a:r>
              <a:rPr lang="en-US" dirty="0" err="1"/>
              <a:t>thiết</a:t>
            </a:r>
            <a:r>
              <a:rPr lang="en-US" dirty="0"/>
              <a:t> </a:t>
            </a:r>
            <a:r>
              <a:rPr lang="en-US" dirty="0" err="1"/>
              <a:t>bị</a:t>
            </a:r>
            <a:r>
              <a:rPr lang="en-US" dirty="0"/>
              <a:t>.</a:t>
            </a:r>
          </a:p>
        </p:txBody>
      </p:sp>
    </p:spTree>
    <p:extLst>
      <p:ext uri="{BB962C8B-B14F-4D97-AF65-F5344CB8AC3E}">
        <p14:creationId xmlns:p14="http://schemas.microsoft.com/office/powerpoint/2010/main" val="213288265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907EF6B7-1338-4443-8C46-6A318D952D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reeform: Shape 9">
            <a:extLst>
              <a:ext uri="{FF2B5EF4-FFF2-40B4-BE49-F238E27FC236}">
                <a16:creationId xmlns:a16="http://schemas.microsoft.com/office/drawing/2014/main" id="{DAAE4CDD-124C-4DCF-9584-B6033B545D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4167271" cy="6858000"/>
          </a:xfrm>
          <a:custGeom>
            <a:avLst/>
            <a:gdLst>
              <a:gd name="connsiteX0" fmla="*/ 0 w 4167271"/>
              <a:gd name="connsiteY0" fmla="*/ 0 h 6858000"/>
              <a:gd name="connsiteX1" fmla="*/ 2259550 w 4167271"/>
              <a:gd name="connsiteY1" fmla="*/ 0 h 6858000"/>
              <a:gd name="connsiteX2" fmla="*/ 2387803 w 4167271"/>
              <a:gd name="connsiteY2" fmla="*/ 82222 h 6858000"/>
              <a:gd name="connsiteX3" fmla="*/ 4167271 w 4167271"/>
              <a:gd name="connsiteY3" fmla="*/ 3429000 h 6858000"/>
              <a:gd name="connsiteX4" fmla="*/ 2387803 w 4167271"/>
              <a:gd name="connsiteY4" fmla="*/ 6775779 h 6858000"/>
              <a:gd name="connsiteX5" fmla="*/ 2259550 w 4167271"/>
              <a:gd name="connsiteY5" fmla="*/ 6858000 h 6858000"/>
              <a:gd name="connsiteX6" fmla="*/ 0 w 4167271"/>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167271" h="6858000">
                <a:moveTo>
                  <a:pt x="0" y="0"/>
                </a:moveTo>
                <a:lnTo>
                  <a:pt x="2259550" y="0"/>
                </a:lnTo>
                <a:lnTo>
                  <a:pt x="2387803" y="82222"/>
                </a:lnTo>
                <a:cubicBezTo>
                  <a:pt x="3461407" y="807534"/>
                  <a:pt x="4167271" y="2035835"/>
                  <a:pt x="4167271" y="3429000"/>
                </a:cubicBezTo>
                <a:cubicBezTo>
                  <a:pt x="4167271" y="4822165"/>
                  <a:pt x="3461407" y="6050467"/>
                  <a:pt x="2387803" y="6775779"/>
                </a:cubicBezTo>
                <a:lnTo>
                  <a:pt x="2259550" y="6858000"/>
                </a:lnTo>
                <a:lnTo>
                  <a:pt x="0" y="685800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29C0AD7-7A8F-462B-88B2-7353006BF92E}"/>
              </a:ext>
            </a:extLst>
          </p:cNvPr>
          <p:cNvSpPr>
            <a:spLocks noGrp="1"/>
          </p:cNvSpPr>
          <p:nvPr>
            <p:ph type="title"/>
          </p:nvPr>
        </p:nvSpPr>
        <p:spPr>
          <a:xfrm>
            <a:off x="686834" y="1153572"/>
            <a:ext cx="3200400" cy="4461163"/>
          </a:xfrm>
        </p:spPr>
        <p:txBody>
          <a:bodyPr>
            <a:normAutofit/>
          </a:bodyPr>
          <a:lstStyle/>
          <a:p>
            <a:r>
              <a:rPr lang="en-US">
                <a:solidFill>
                  <a:srgbClr val="FFFFFF"/>
                </a:solidFill>
              </a:rPr>
              <a:t>2. Mô hình hóa hệ thống</a:t>
            </a:r>
          </a:p>
        </p:txBody>
      </p:sp>
      <p:sp>
        <p:nvSpPr>
          <p:cNvPr id="12" name="Arc 11">
            <a:extLst>
              <a:ext uri="{FF2B5EF4-FFF2-40B4-BE49-F238E27FC236}">
                <a16:creationId xmlns:a16="http://schemas.microsoft.com/office/drawing/2014/main" id="{081E4A58-353D-44AE-B2FC-2A74E2E400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7550402" y="2455479"/>
            <a:ext cx="4083433"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3" name="Content Placeholder 2">
            <a:extLst>
              <a:ext uri="{FF2B5EF4-FFF2-40B4-BE49-F238E27FC236}">
                <a16:creationId xmlns:a16="http://schemas.microsoft.com/office/drawing/2014/main" id="{71C4F518-C47D-4B45-810A-826A9AD89A5E}"/>
              </a:ext>
            </a:extLst>
          </p:cNvPr>
          <p:cNvSpPr>
            <a:spLocks noGrp="1"/>
          </p:cNvSpPr>
          <p:nvPr>
            <p:ph idx="1"/>
          </p:nvPr>
        </p:nvSpPr>
        <p:spPr>
          <a:xfrm>
            <a:off x="4447308" y="591344"/>
            <a:ext cx="6906491" cy="5585619"/>
          </a:xfrm>
        </p:spPr>
        <p:txBody>
          <a:bodyPr anchor="ctr">
            <a:normAutofit/>
          </a:bodyPr>
          <a:lstStyle/>
          <a:p>
            <a:r>
              <a:rPr lang="en-US" dirty="0" err="1"/>
              <a:t>NodeMCU</a:t>
            </a:r>
            <a:r>
              <a:rPr lang="en-US" dirty="0"/>
              <a:t> ESP8266</a:t>
            </a:r>
          </a:p>
          <a:p>
            <a:r>
              <a:rPr lang="en-US" dirty="0" err="1"/>
              <a:t>Cảm</a:t>
            </a:r>
            <a:r>
              <a:rPr lang="en-US" dirty="0"/>
              <a:t> </a:t>
            </a:r>
            <a:r>
              <a:rPr lang="en-US" dirty="0" err="1"/>
              <a:t>biến</a:t>
            </a:r>
            <a:r>
              <a:rPr lang="en-US" dirty="0"/>
              <a:t> </a:t>
            </a:r>
            <a:r>
              <a:rPr lang="en-US" dirty="0" err="1"/>
              <a:t>nhiệt</a:t>
            </a:r>
            <a:r>
              <a:rPr lang="en-US" dirty="0"/>
              <a:t> </a:t>
            </a:r>
            <a:r>
              <a:rPr lang="en-US" dirty="0" err="1"/>
              <a:t>độ</a:t>
            </a:r>
            <a:r>
              <a:rPr lang="en-US" dirty="0"/>
              <a:t>, </a:t>
            </a:r>
            <a:r>
              <a:rPr lang="en-US" dirty="0" err="1"/>
              <a:t>độ</a:t>
            </a:r>
            <a:r>
              <a:rPr lang="en-US" dirty="0"/>
              <a:t> </a:t>
            </a:r>
            <a:r>
              <a:rPr lang="en-US" dirty="0" err="1"/>
              <a:t>ẩm</a:t>
            </a:r>
            <a:r>
              <a:rPr lang="en-US" dirty="0"/>
              <a:t> DHT11</a:t>
            </a:r>
          </a:p>
          <a:p>
            <a:r>
              <a:rPr lang="en-US" dirty="0"/>
              <a:t>Trang web </a:t>
            </a:r>
            <a:r>
              <a:rPr lang="en-US" dirty="0" err="1"/>
              <a:t>hiển</a:t>
            </a:r>
            <a:r>
              <a:rPr lang="en-US" dirty="0"/>
              <a:t> </a:t>
            </a:r>
            <a:r>
              <a:rPr lang="en-US" dirty="0" err="1"/>
              <a:t>thị</a:t>
            </a:r>
            <a:r>
              <a:rPr lang="en-US" dirty="0"/>
              <a:t> </a:t>
            </a:r>
            <a:r>
              <a:rPr lang="en-US" dirty="0" err="1"/>
              <a:t>dữ</a:t>
            </a:r>
            <a:r>
              <a:rPr lang="en-US" dirty="0"/>
              <a:t> </a:t>
            </a:r>
            <a:r>
              <a:rPr lang="en-US" dirty="0" err="1"/>
              <a:t>liệu</a:t>
            </a:r>
            <a:endParaRPr lang="en-US" dirty="0"/>
          </a:p>
        </p:txBody>
      </p:sp>
    </p:spTree>
    <p:extLst>
      <p:ext uri="{BB962C8B-B14F-4D97-AF65-F5344CB8AC3E}">
        <p14:creationId xmlns:p14="http://schemas.microsoft.com/office/powerpoint/2010/main" val="229277944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2" name="Rectangle 25">
            <a:extLst>
              <a:ext uri="{FF2B5EF4-FFF2-40B4-BE49-F238E27FC236}">
                <a16:creationId xmlns:a16="http://schemas.microsoft.com/office/drawing/2014/main" id="{4F7EBAE4-9945-4473-9E34-B2C66EA0F03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2" name="Title 1">
            <a:extLst>
              <a:ext uri="{FF2B5EF4-FFF2-40B4-BE49-F238E27FC236}">
                <a16:creationId xmlns:a16="http://schemas.microsoft.com/office/drawing/2014/main" id="{EE2DA7F9-069A-4834-9F61-10738FF9CF57}"/>
              </a:ext>
            </a:extLst>
          </p:cNvPr>
          <p:cNvSpPr>
            <a:spLocks noGrp="1"/>
          </p:cNvSpPr>
          <p:nvPr>
            <p:ph type="title"/>
          </p:nvPr>
        </p:nvSpPr>
        <p:spPr>
          <a:xfrm>
            <a:off x="838200" y="365125"/>
            <a:ext cx="5393361" cy="1325563"/>
          </a:xfrm>
        </p:spPr>
        <p:txBody>
          <a:bodyPr>
            <a:normAutofit/>
          </a:bodyPr>
          <a:lstStyle/>
          <a:p>
            <a:r>
              <a:rPr lang="en-US"/>
              <a:t>2.1 NodeMCU ESP8266</a:t>
            </a:r>
          </a:p>
        </p:txBody>
      </p:sp>
      <p:sp>
        <p:nvSpPr>
          <p:cNvPr id="3" name="Content Placeholder 2">
            <a:extLst>
              <a:ext uri="{FF2B5EF4-FFF2-40B4-BE49-F238E27FC236}">
                <a16:creationId xmlns:a16="http://schemas.microsoft.com/office/drawing/2014/main" id="{963F8967-D110-4681-877C-B465CFAE5CBD}"/>
              </a:ext>
            </a:extLst>
          </p:cNvPr>
          <p:cNvSpPr>
            <a:spLocks noGrp="1"/>
          </p:cNvSpPr>
          <p:nvPr>
            <p:ph idx="1"/>
          </p:nvPr>
        </p:nvSpPr>
        <p:spPr>
          <a:xfrm>
            <a:off x="838200" y="1825625"/>
            <a:ext cx="5393361" cy="4351338"/>
          </a:xfrm>
        </p:spPr>
        <p:txBody>
          <a:bodyPr>
            <a:normAutofit/>
          </a:bodyPr>
          <a:lstStyle/>
          <a:p>
            <a:r>
              <a:rPr lang="en-US" dirty="0" err="1"/>
              <a:t>NodeMCU</a:t>
            </a:r>
            <a:r>
              <a:rPr lang="en-US" dirty="0"/>
              <a:t> Esp8266 </a:t>
            </a:r>
            <a:r>
              <a:rPr lang="en-US" dirty="0" err="1"/>
              <a:t>là</a:t>
            </a:r>
            <a:r>
              <a:rPr lang="en-US" dirty="0"/>
              <a:t> </a:t>
            </a:r>
            <a:r>
              <a:rPr lang="en-US" dirty="0" err="1"/>
              <a:t>một</a:t>
            </a:r>
            <a:r>
              <a:rPr lang="en-US" dirty="0"/>
              <a:t> kit </a:t>
            </a:r>
            <a:r>
              <a:rPr lang="en-US" dirty="0" err="1"/>
              <a:t>phát</a:t>
            </a:r>
            <a:r>
              <a:rPr lang="en-US" dirty="0"/>
              <a:t> </a:t>
            </a:r>
            <a:r>
              <a:rPr lang="en-US" dirty="0" err="1"/>
              <a:t>triển</a:t>
            </a:r>
            <a:r>
              <a:rPr lang="en-US" dirty="0"/>
              <a:t> </a:t>
            </a:r>
            <a:r>
              <a:rPr lang="en-US" dirty="0" err="1"/>
              <a:t>dựa</a:t>
            </a:r>
            <a:r>
              <a:rPr lang="en-US" dirty="0"/>
              <a:t> </a:t>
            </a:r>
            <a:r>
              <a:rPr lang="en-US" dirty="0" err="1"/>
              <a:t>trên</a:t>
            </a:r>
            <a:r>
              <a:rPr lang="en-US" dirty="0"/>
              <a:t> </a:t>
            </a:r>
            <a:r>
              <a:rPr lang="en-US" dirty="0" err="1"/>
              <a:t>nền</a:t>
            </a:r>
            <a:r>
              <a:rPr lang="en-US" dirty="0"/>
              <a:t> </a:t>
            </a:r>
            <a:r>
              <a:rPr lang="en-US" dirty="0" err="1"/>
              <a:t>tảng</a:t>
            </a:r>
            <a:r>
              <a:rPr lang="en-US" dirty="0"/>
              <a:t> chip </a:t>
            </a:r>
            <a:r>
              <a:rPr lang="en-US" dirty="0" err="1"/>
              <a:t>Wifi</a:t>
            </a:r>
            <a:r>
              <a:rPr lang="en-US" dirty="0"/>
              <a:t> ESP8266 </a:t>
            </a:r>
            <a:r>
              <a:rPr lang="en-US" dirty="0" err="1"/>
              <a:t>với</a:t>
            </a:r>
            <a:r>
              <a:rPr lang="en-US" dirty="0"/>
              <a:t> </a:t>
            </a:r>
            <a:r>
              <a:rPr lang="en-US" dirty="0" err="1"/>
              <a:t>thiết</a:t>
            </a:r>
            <a:r>
              <a:rPr lang="en-US" dirty="0"/>
              <a:t> </a:t>
            </a:r>
            <a:r>
              <a:rPr lang="en-US" dirty="0" err="1"/>
              <a:t>kế</a:t>
            </a:r>
            <a:r>
              <a:rPr lang="en-US" dirty="0"/>
              <a:t> </a:t>
            </a:r>
            <a:r>
              <a:rPr lang="en-US" dirty="0" err="1"/>
              <a:t>dễ</a:t>
            </a:r>
            <a:r>
              <a:rPr lang="en-US" dirty="0"/>
              <a:t> </a:t>
            </a:r>
            <a:r>
              <a:rPr lang="en-US" dirty="0" err="1"/>
              <a:t>sử</a:t>
            </a:r>
            <a:r>
              <a:rPr lang="en-US" dirty="0"/>
              <a:t> </a:t>
            </a:r>
            <a:r>
              <a:rPr lang="en-US" dirty="0" err="1"/>
              <a:t>dụng</a:t>
            </a:r>
            <a:r>
              <a:rPr lang="en-US" dirty="0"/>
              <a:t> </a:t>
            </a:r>
            <a:r>
              <a:rPr lang="en-US" dirty="0" err="1"/>
              <a:t>và</a:t>
            </a:r>
            <a:r>
              <a:rPr lang="en-US" dirty="0"/>
              <a:t> </a:t>
            </a:r>
            <a:r>
              <a:rPr lang="en-US" dirty="0" err="1"/>
              <a:t>lập</a:t>
            </a:r>
            <a:r>
              <a:rPr lang="en-US" dirty="0"/>
              <a:t> </a:t>
            </a:r>
            <a:r>
              <a:rPr lang="en-US" dirty="0" err="1"/>
              <a:t>trình</a:t>
            </a:r>
            <a:endParaRPr lang="en-US" dirty="0"/>
          </a:p>
        </p:txBody>
      </p:sp>
      <p:pic>
        <p:nvPicPr>
          <p:cNvPr id="7" name="Picture 6" descr="A circuit board&#10;&#10;Description automatically generated">
            <a:extLst>
              <a:ext uri="{FF2B5EF4-FFF2-40B4-BE49-F238E27FC236}">
                <a16:creationId xmlns:a16="http://schemas.microsoft.com/office/drawing/2014/main" id="{C417CC1A-DD54-4C96-AD8F-9110022F6D73}"/>
              </a:ext>
            </a:extLst>
          </p:cNvPr>
          <p:cNvPicPr>
            <a:picLocks noChangeAspect="1"/>
          </p:cNvPicPr>
          <p:nvPr/>
        </p:nvPicPr>
        <p:blipFill rotWithShape="1">
          <a:blip r:embed="rId2">
            <a:extLst>
              <a:ext uri="{28A0092B-C50C-407E-A947-70E740481C1C}">
                <a14:useLocalDpi xmlns:a14="http://schemas.microsoft.com/office/drawing/2010/main" val="0"/>
              </a:ext>
            </a:extLst>
          </a:blip>
          <a:srcRect r="3" b="3"/>
          <a:stretch/>
        </p:blipFill>
        <p:spPr>
          <a:xfrm>
            <a:off x="6374920" y="758514"/>
            <a:ext cx="5122238" cy="5122238"/>
          </a:xfrm>
          <a:custGeom>
            <a:avLst/>
            <a:gdLst/>
            <a:ahLst/>
            <a:cxnLst/>
            <a:rect l="l" t="t" r="r" b="b"/>
            <a:pathLst>
              <a:path w="2663168" h="2663168">
                <a:moveTo>
                  <a:pt x="1331584" y="0"/>
                </a:moveTo>
                <a:cubicBezTo>
                  <a:pt x="2066998" y="0"/>
                  <a:pt x="2663168" y="596170"/>
                  <a:pt x="2663168" y="1331584"/>
                </a:cubicBezTo>
                <a:cubicBezTo>
                  <a:pt x="2663168" y="2066998"/>
                  <a:pt x="2066998" y="2663168"/>
                  <a:pt x="1331584" y="2663168"/>
                </a:cubicBezTo>
                <a:cubicBezTo>
                  <a:pt x="596170" y="2663168"/>
                  <a:pt x="0" y="2066998"/>
                  <a:pt x="0" y="1331584"/>
                </a:cubicBezTo>
                <a:cubicBezTo>
                  <a:pt x="0" y="596170"/>
                  <a:pt x="596170" y="0"/>
                  <a:pt x="1331584" y="0"/>
                </a:cubicBezTo>
                <a:close/>
              </a:path>
            </a:pathLst>
          </a:custGeom>
        </p:spPr>
      </p:pic>
      <p:sp>
        <p:nvSpPr>
          <p:cNvPr id="33" name="Arc 27">
            <a:extLst>
              <a:ext uri="{FF2B5EF4-FFF2-40B4-BE49-F238E27FC236}">
                <a16:creationId xmlns:a16="http://schemas.microsoft.com/office/drawing/2014/main" id="{70BEB1E7-2F88-40BC-B73D-42E5B6F80BF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1189197" flipV="1">
            <a:off x="6261882" y="687822"/>
            <a:ext cx="5471147" cy="5471147"/>
          </a:xfrm>
          <a:prstGeom prst="arc">
            <a:avLst>
              <a:gd name="adj1" fmla="val 16200000"/>
              <a:gd name="adj2" fmla="val 20093138"/>
            </a:avLst>
          </a:prstGeom>
          <a:ln w="127000" cap="rnd">
            <a:solidFill>
              <a:schemeClr val="accent4">
                <a:alpha val="95000"/>
              </a:schemeClr>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34" name="Oval 29">
            <a:extLst>
              <a:ext uri="{FF2B5EF4-FFF2-40B4-BE49-F238E27FC236}">
                <a16:creationId xmlns:a16="http://schemas.microsoft.com/office/drawing/2014/main" id="{A7B99495-F43F-4D80-A44F-2CB4764EB9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248561" y="921125"/>
            <a:ext cx="791021" cy="769563"/>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3932804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0" name="Rectangle 29">
            <a:extLst>
              <a:ext uri="{FF2B5EF4-FFF2-40B4-BE49-F238E27FC236}">
                <a16:creationId xmlns:a16="http://schemas.microsoft.com/office/drawing/2014/main" id="{9427AF5F-9A0E-42B7-A252-FD64C9885F9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51BCFCE-075C-48C0-ABCE-BE9B3CCED3EC}"/>
              </a:ext>
            </a:extLst>
          </p:cNvPr>
          <p:cNvSpPr>
            <a:spLocks noGrp="1"/>
          </p:cNvSpPr>
          <p:nvPr>
            <p:ph type="title"/>
          </p:nvPr>
        </p:nvSpPr>
        <p:spPr>
          <a:xfrm>
            <a:off x="838200" y="365125"/>
            <a:ext cx="10515600" cy="1306443"/>
          </a:xfrm>
        </p:spPr>
        <p:txBody>
          <a:bodyPr>
            <a:normAutofit/>
          </a:bodyPr>
          <a:lstStyle/>
          <a:p>
            <a:r>
              <a:rPr lang="en-US" sz="4000"/>
              <a:t>2.1 NodeMCU ESP8266</a:t>
            </a:r>
          </a:p>
        </p:txBody>
      </p:sp>
      <p:sp>
        <p:nvSpPr>
          <p:cNvPr id="3" name="Content Placeholder 2">
            <a:extLst>
              <a:ext uri="{FF2B5EF4-FFF2-40B4-BE49-F238E27FC236}">
                <a16:creationId xmlns:a16="http://schemas.microsoft.com/office/drawing/2014/main" id="{56CFECF2-0E53-4E18-856D-13F496442488}"/>
              </a:ext>
            </a:extLst>
          </p:cNvPr>
          <p:cNvSpPr>
            <a:spLocks noGrp="1"/>
          </p:cNvSpPr>
          <p:nvPr>
            <p:ph idx="1"/>
          </p:nvPr>
        </p:nvSpPr>
        <p:spPr>
          <a:xfrm>
            <a:off x="838200" y="1825625"/>
            <a:ext cx="4152774" cy="4303464"/>
          </a:xfrm>
        </p:spPr>
        <p:txBody>
          <a:bodyPr>
            <a:normAutofit/>
          </a:bodyPr>
          <a:lstStyle/>
          <a:p>
            <a:pPr marL="0" indent="0">
              <a:buNone/>
            </a:pPr>
            <a:r>
              <a:rPr lang="en-US" sz="2000" dirty="0" err="1"/>
              <a:t>Sơ</a:t>
            </a:r>
            <a:r>
              <a:rPr lang="en-US" sz="2000" dirty="0"/>
              <a:t> </a:t>
            </a:r>
            <a:r>
              <a:rPr lang="en-US" sz="2000" dirty="0" err="1"/>
              <a:t>đồ</a:t>
            </a:r>
            <a:r>
              <a:rPr lang="en-US" sz="2000" dirty="0"/>
              <a:t> </a:t>
            </a:r>
            <a:r>
              <a:rPr lang="en-US" sz="2000" dirty="0" err="1"/>
              <a:t>chân</a:t>
            </a:r>
            <a:endParaRPr lang="en-US" sz="2000" dirty="0"/>
          </a:p>
          <a:p>
            <a:pPr marL="0" indent="0">
              <a:buNone/>
            </a:pPr>
            <a:endParaRPr lang="en-US" sz="2000" dirty="0"/>
          </a:p>
        </p:txBody>
      </p:sp>
      <p:pic>
        <p:nvPicPr>
          <p:cNvPr id="5" name="Picture 4">
            <a:extLst>
              <a:ext uri="{FF2B5EF4-FFF2-40B4-BE49-F238E27FC236}">
                <a16:creationId xmlns:a16="http://schemas.microsoft.com/office/drawing/2014/main" id="{89A5F8AD-F5EE-4245-AA55-60701C0893B7}"/>
              </a:ext>
            </a:extLst>
          </p:cNvPr>
          <p:cNvPicPr>
            <a:picLocks noChangeAspect="1"/>
          </p:cNvPicPr>
          <p:nvPr/>
        </p:nvPicPr>
        <p:blipFill rotWithShape="1">
          <a:blip r:embed="rId2">
            <a:extLst>
              <a:ext uri="{28A0092B-C50C-407E-A947-70E740481C1C}">
                <a14:useLocalDpi xmlns:a14="http://schemas.microsoft.com/office/drawing/2010/main" val="0"/>
              </a:ext>
            </a:extLst>
          </a:blip>
          <a:srcRect t="3286" r="2" b="14469"/>
          <a:stretch/>
        </p:blipFill>
        <p:spPr>
          <a:xfrm>
            <a:off x="5183500" y="1904282"/>
            <a:ext cx="6170299" cy="4224808"/>
          </a:xfrm>
          <a:prstGeom prst="rect">
            <a:avLst/>
          </a:prstGeom>
        </p:spPr>
      </p:pic>
    </p:spTree>
    <p:extLst>
      <p:ext uri="{BB962C8B-B14F-4D97-AF65-F5344CB8AC3E}">
        <p14:creationId xmlns:p14="http://schemas.microsoft.com/office/powerpoint/2010/main" val="152963516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6A84B152-3496-4C52-AF08-97AFFC09DD2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2" name="Title 1">
            <a:extLst>
              <a:ext uri="{FF2B5EF4-FFF2-40B4-BE49-F238E27FC236}">
                <a16:creationId xmlns:a16="http://schemas.microsoft.com/office/drawing/2014/main" id="{B0B1C7D1-922C-4678-9E06-E20E66AC4593}"/>
              </a:ext>
            </a:extLst>
          </p:cNvPr>
          <p:cNvSpPr>
            <a:spLocks noGrp="1"/>
          </p:cNvSpPr>
          <p:nvPr>
            <p:ph type="title"/>
          </p:nvPr>
        </p:nvSpPr>
        <p:spPr>
          <a:xfrm>
            <a:off x="838201" y="365125"/>
            <a:ext cx="5393360" cy="1325563"/>
          </a:xfrm>
        </p:spPr>
        <p:txBody>
          <a:bodyPr>
            <a:normAutofit/>
          </a:bodyPr>
          <a:lstStyle/>
          <a:p>
            <a:r>
              <a:rPr lang="en-US" dirty="0"/>
              <a:t>2.2 DHT11</a:t>
            </a:r>
          </a:p>
        </p:txBody>
      </p:sp>
      <p:sp>
        <p:nvSpPr>
          <p:cNvPr id="12" name="Freeform: Shape 11">
            <a:extLst>
              <a:ext uri="{FF2B5EF4-FFF2-40B4-BE49-F238E27FC236}">
                <a16:creationId xmlns:a16="http://schemas.microsoft.com/office/drawing/2014/main" id="{6B2ADB95-0FA3-4BD7-A8AC-89D014A83E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198657" y="1"/>
            <a:ext cx="1155142" cy="625027"/>
          </a:xfrm>
          <a:custGeom>
            <a:avLst/>
            <a:gdLst>
              <a:gd name="connsiteX0" fmla="*/ 4784 w 1155142"/>
              <a:gd name="connsiteY0" fmla="*/ 0 h 625027"/>
              <a:gd name="connsiteX1" fmla="*/ 1150358 w 1155142"/>
              <a:gd name="connsiteY1" fmla="*/ 0 h 625027"/>
              <a:gd name="connsiteX2" fmla="*/ 1155142 w 1155142"/>
              <a:gd name="connsiteY2" fmla="*/ 47456 h 625027"/>
              <a:gd name="connsiteX3" fmla="*/ 577571 w 1155142"/>
              <a:gd name="connsiteY3" fmla="*/ 625027 h 625027"/>
              <a:gd name="connsiteX4" fmla="*/ 0 w 1155142"/>
              <a:gd name="connsiteY4" fmla="*/ 47456 h 62502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55142" h="625027">
                <a:moveTo>
                  <a:pt x="4784" y="0"/>
                </a:moveTo>
                <a:lnTo>
                  <a:pt x="1150358" y="0"/>
                </a:lnTo>
                <a:lnTo>
                  <a:pt x="1155142" y="47456"/>
                </a:lnTo>
                <a:cubicBezTo>
                  <a:pt x="1155142" y="366440"/>
                  <a:pt x="896555" y="625027"/>
                  <a:pt x="577571" y="625027"/>
                </a:cubicBezTo>
                <a:cubicBezTo>
                  <a:pt x="258587" y="625027"/>
                  <a:pt x="0" y="366440"/>
                  <a:pt x="0" y="47456"/>
                </a:cubicBezTo>
                <a:close/>
              </a:path>
            </a:pathLst>
          </a:custGeom>
          <a:solidFill>
            <a:schemeClr val="accent1">
              <a:alpha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3" name="Content Placeholder 2">
            <a:extLst>
              <a:ext uri="{FF2B5EF4-FFF2-40B4-BE49-F238E27FC236}">
                <a16:creationId xmlns:a16="http://schemas.microsoft.com/office/drawing/2014/main" id="{D530889A-563C-4A1F-BA14-DAD9FC646261}"/>
              </a:ext>
            </a:extLst>
          </p:cNvPr>
          <p:cNvSpPr>
            <a:spLocks noGrp="1"/>
          </p:cNvSpPr>
          <p:nvPr>
            <p:ph idx="1"/>
          </p:nvPr>
        </p:nvSpPr>
        <p:spPr>
          <a:xfrm>
            <a:off x="838200" y="1825625"/>
            <a:ext cx="5393361" cy="4351338"/>
          </a:xfrm>
        </p:spPr>
        <p:txBody>
          <a:bodyPr>
            <a:normAutofit/>
          </a:bodyPr>
          <a:lstStyle/>
          <a:p>
            <a:r>
              <a:rPr lang="en-US" dirty="0" err="1"/>
              <a:t>Cảm</a:t>
            </a:r>
            <a:r>
              <a:rPr lang="en-US" dirty="0"/>
              <a:t> </a:t>
            </a:r>
            <a:r>
              <a:rPr lang="en-US" dirty="0" err="1"/>
              <a:t>biến</a:t>
            </a:r>
            <a:r>
              <a:rPr lang="en-US" dirty="0"/>
              <a:t> </a:t>
            </a:r>
            <a:r>
              <a:rPr lang="en-US" dirty="0" err="1"/>
              <a:t>độ</a:t>
            </a:r>
            <a:r>
              <a:rPr lang="en-US" dirty="0"/>
              <a:t> </a:t>
            </a:r>
            <a:r>
              <a:rPr lang="en-US" dirty="0" err="1"/>
              <a:t>ẩm</a:t>
            </a:r>
            <a:r>
              <a:rPr lang="en-US" dirty="0"/>
              <a:t> </a:t>
            </a:r>
            <a:r>
              <a:rPr lang="en-US" dirty="0" err="1"/>
              <a:t>nhiệt</a:t>
            </a:r>
            <a:r>
              <a:rPr lang="en-US" dirty="0"/>
              <a:t> </a:t>
            </a:r>
            <a:r>
              <a:rPr lang="en-US" dirty="0" err="1"/>
              <a:t>độ</a:t>
            </a:r>
            <a:r>
              <a:rPr lang="en-US" dirty="0"/>
              <a:t> DHT11 </a:t>
            </a:r>
            <a:r>
              <a:rPr lang="en-US" dirty="0" err="1"/>
              <a:t>là</a:t>
            </a:r>
            <a:r>
              <a:rPr lang="en-US" dirty="0"/>
              <a:t> </a:t>
            </a:r>
            <a:r>
              <a:rPr lang="en-US" dirty="0" err="1"/>
              <a:t>cảm</a:t>
            </a:r>
            <a:r>
              <a:rPr lang="en-US" dirty="0"/>
              <a:t> </a:t>
            </a:r>
            <a:r>
              <a:rPr lang="en-US" dirty="0" err="1"/>
              <a:t>biến</a:t>
            </a:r>
            <a:r>
              <a:rPr lang="en-US" dirty="0"/>
              <a:t> </a:t>
            </a:r>
            <a:r>
              <a:rPr lang="en-US" dirty="0" err="1"/>
              <a:t>rất</a:t>
            </a:r>
            <a:r>
              <a:rPr lang="en-US" dirty="0"/>
              <a:t> </a:t>
            </a:r>
            <a:r>
              <a:rPr lang="en-US" dirty="0" err="1"/>
              <a:t>thông</a:t>
            </a:r>
            <a:r>
              <a:rPr lang="en-US" dirty="0"/>
              <a:t> </a:t>
            </a:r>
            <a:r>
              <a:rPr lang="en-US" dirty="0" err="1"/>
              <a:t>dụng</a:t>
            </a:r>
            <a:r>
              <a:rPr lang="en-US" dirty="0"/>
              <a:t> </a:t>
            </a:r>
            <a:r>
              <a:rPr lang="en-US" dirty="0" err="1"/>
              <a:t>hiện</a:t>
            </a:r>
            <a:r>
              <a:rPr lang="en-US" dirty="0"/>
              <a:t> nay </a:t>
            </a:r>
            <a:r>
              <a:rPr lang="en-US" dirty="0" err="1"/>
              <a:t>với</a:t>
            </a:r>
            <a:r>
              <a:rPr lang="en-US" dirty="0"/>
              <a:t> chi </a:t>
            </a:r>
            <a:r>
              <a:rPr lang="en-US" dirty="0" err="1"/>
              <a:t>phí</a:t>
            </a:r>
            <a:r>
              <a:rPr lang="en-US" dirty="0"/>
              <a:t> </a:t>
            </a:r>
            <a:r>
              <a:rPr lang="en-US" dirty="0" err="1"/>
              <a:t>rẻ</a:t>
            </a:r>
            <a:r>
              <a:rPr lang="en-US" dirty="0"/>
              <a:t>  </a:t>
            </a:r>
            <a:r>
              <a:rPr lang="en-US" dirty="0" err="1"/>
              <a:t>đáp</a:t>
            </a:r>
            <a:r>
              <a:rPr lang="en-US" dirty="0"/>
              <a:t> </a:t>
            </a:r>
            <a:r>
              <a:rPr lang="en-US" dirty="0" err="1"/>
              <a:t>ứng</a:t>
            </a:r>
            <a:r>
              <a:rPr lang="en-US" dirty="0"/>
              <a:t> </a:t>
            </a:r>
            <a:r>
              <a:rPr lang="en-US" dirty="0" err="1"/>
              <a:t>được</a:t>
            </a:r>
            <a:r>
              <a:rPr lang="en-US" dirty="0"/>
              <a:t> </a:t>
            </a:r>
            <a:r>
              <a:rPr lang="en-US" dirty="0" err="1"/>
              <a:t>nhu</a:t>
            </a:r>
            <a:r>
              <a:rPr lang="en-US" dirty="0"/>
              <a:t> </a:t>
            </a:r>
            <a:r>
              <a:rPr lang="en-US" dirty="0" err="1"/>
              <a:t>cầu</a:t>
            </a:r>
            <a:r>
              <a:rPr lang="en-US" dirty="0"/>
              <a:t> </a:t>
            </a:r>
            <a:r>
              <a:rPr lang="en-US" dirty="0" err="1"/>
              <a:t>bình</a:t>
            </a:r>
            <a:r>
              <a:rPr lang="en-US" dirty="0"/>
              <a:t> </a:t>
            </a:r>
            <a:r>
              <a:rPr lang="en-US" dirty="0" err="1"/>
              <a:t>thường</a:t>
            </a:r>
            <a:endParaRPr lang="en-US" dirty="0"/>
          </a:p>
        </p:txBody>
      </p:sp>
      <p:sp>
        <p:nvSpPr>
          <p:cNvPr id="14" name="Oval 13">
            <a:extLst>
              <a:ext uri="{FF2B5EF4-FFF2-40B4-BE49-F238E27FC236}">
                <a16:creationId xmlns:a16="http://schemas.microsoft.com/office/drawing/2014/main" id="{C924DBCE-E731-4B22-8181-A39C1D86276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08185" y="3423959"/>
            <a:ext cx="630884" cy="630884"/>
          </a:xfrm>
          <a:prstGeom prst="ellipse">
            <a:avLst/>
          </a:prstGeom>
          <a:noFill/>
          <a:ln w="1270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Freeform: Shape 15">
            <a:extLst>
              <a:ext uri="{FF2B5EF4-FFF2-40B4-BE49-F238E27FC236}">
                <a16:creationId xmlns:a16="http://schemas.microsoft.com/office/drawing/2014/main" id="{4CBF9756-6AC8-4C65-84DF-56FBFFA1D87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463438">
            <a:off x="7450227" y="5166682"/>
            <a:ext cx="1835725" cy="2024785"/>
          </a:xfrm>
          <a:custGeom>
            <a:avLst/>
            <a:gdLst>
              <a:gd name="connsiteX0" fmla="*/ 1801138 w 1835725"/>
              <a:gd name="connsiteY0" fmla="*/ 1622662 h 2024785"/>
              <a:gd name="connsiteX1" fmla="*/ 1835717 w 1835725"/>
              <a:gd name="connsiteY1" fmla="*/ 1680254 h 2024785"/>
              <a:gd name="connsiteX2" fmla="*/ 1812568 w 1835725"/>
              <a:gd name="connsiteY2" fmla="*/ 1877193 h 2024785"/>
              <a:gd name="connsiteX3" fmla="*/ 1776210 w 1835725"/>
              <a:gd name="connsiteY3" fmla="*/ 2024785 h 2024785"/>
              <a:gd name="connsiteX4" fmla="*/ 1655772 w 1835725"/>
              <a:gd name="connsiteY4" fmla="*/ 1983449 h 2024785"/>
              <a:gd name="connsiteX5" fmla="*/ 1687591 w 1835725"/>
              <a:gd name="connsiteY5" fmla="*/ 1854495 h 2024785"/>
              <a:gd name="connsiteX6" fmla="*/ 1708939 w 1835725"/>
              <a:gd name="connsiteY6" fmla="*/ 1673301 h 2024785"/>
              <a:gd name="connsiteX7" fmla="*/ 1778129 w 1835725"/>
              <a:gd name="connsiteY7" fmla="*/ 1615979 h 2024785"/>
              <a:gd name="connsiteX8" fmla="*/ 1801138 w 1835725"/>
              <a:gd name="connsiteY8" fmla="*/ 1622662 h 2024785"/>
              <a:gd name="connsiteX9" fmla="*/ 1585229 w 1835725"/>
              <a:gd name="connsiteY9" fmla="*/ 764759 h 2024785"/>
              <a:gd name="connsiteX10" fmla="*/ 1623024 w 1835725"/>
              <a:gd name="connsiteY10" fmla="*/ 792810 h 2024785"/>
              <a:gd name="connsiteX11" fmla="*/ 1777614 w 1835725"/>
              <a:gd name="connsiteY11" fmla="*/ 1157141 h 2024785"/>
              <a:gd name="connsiteX12" fmla="*/ 1733799 w 1835725"/>
              <a:gd name="connsiteY12" fmla="*/ 1235532 h 2024785"/>
              <a:gd name="connsiteX13" fmla="*/ 1716464 w 1835725"/>
              <a:gd name="connsiteY13" fmla="*/ 1237722 h 2024785"/>
              <a:gd name="connsiteX14" fmla="*/ 1716464 w 1835725"/>
              <a:gd name="connsiteY14" fmla="*/ 1237913 h 2024785"/>
              <a:gd name="connsiteX15" fmla="*/ 1655409 w 1835725"/>
              <a:gd name="connsiteY15" fmla="*/ 1191717 h 2024785"/>
              <a:gd name="connsiteX16" fmla="*/ 1513200 w 1835725"/>
              <a:gd name="connsiteY16" fmla="*/ 856627 h 2024785"/>
              <a:gd name="connsiteX17" fmla="*/ 1538499 w 1835725"/>
              <a:gd name="connsiteY17" fmla="*/ 770415 h 2024785"/>
              <a:gd name="connsiteX18" fmla="*/ 1585229 w 1835725"/>
              <a:gd name="connsiteY18" fmla="*/ 764759 h 2024785"/>
              <a:gd name="connsiteX19" fmla="*/ 477919 w 1835725"/>
              <a:gd name="connsiteY19" fmla="*/ 21437 h 2024785"/>
              <a:gd name="connsiteX20" fmla="*/ 509236 w 1835725"/>
              <a:gd name="connsiteY20" fmla="*/ 84182 h 2024785"/>
              <a:gd name="connsiteX21" fmla="*/ 445829 w 1835725"/>
              <a:gd name="connsiteY21" fmla="*/ 139871 h 2024785"/>
              <a:gd name="connsiteX22" fmla="*/ 437447 w 1835725"/>
              <a:gd name="connsiteY22" fmla="*/ 139395 h 2024785"/>
              <a:gd name="connsiteX23" fmla="*/ 73211 w 1835725"/>
              <a:gd name="connsiteY23" fmla="*/ 137204 h 2024785"/>
              <a:gd name="connsiteX24" fmla="*/ 749 w 1835725"/>
              <a:gd name="connsiteY24" fmla="*/ 84082 h 2024785"/>
              <a:gd name="connsiteX25" fmla="*/ 53871 w 1835725"/>
              <a:gd name="connsiteY25" fmla="*/ 11621 h 2024785"/>
              <a:gd name="connsiteX26" fmla="*/ 58352 w 1835725"/>
              <a:gd name="connsiteY26" fmla="*/ 11093 h 2024785"/>
              <a:gd name="connsiteX27" fmla="*/ 454020 w 1835725"/>
              <a:gd name="connsiteY27" fmla="*/ 13474 h 2024785"/>
              <a:gd name="connsiteX28" fmla="*/ 477919 w 1835725"/>
              <a:gd name="connsiteY28" fmla="*/ 21437 h 2024785"/>
              <a:gd name="connsiteX29" fmla="*/ 957797 w 1835725"/>
              <a:gd name="connsiteY29" fmla="*/ 167970 h 2024785"/>
              <a:gd name="connsiteX30" fmla="*/ 1286982 w 1835725"/>
              <a:gd name="connsiteY30" fmla="*/ 387616 h 2024785"/>
              <a:gd name="connsiteX31" fmla="*/ 1293725 w 1835725"/>
              <a:gd name="connsiteY31" fmla="*/ 477075 h 2024785"/>
              <a:gd name="connsiteX32" fmla="*/ 1245453 w 1835725"/>
              <a:gd name="connsiteY32" fmla="*/ 499154 h 2024785"/>
              <a:gd name="connsiteX33" fmla="*/ 1245167 w 1835725"/>
              <a:gd name="connsiteY33" fmla="*/ 499154 h 2024785"/>
              <a:gd name="connsiteX34" fmla="*/ 1203638 w 1835725"/>
              <a:gd name="connsiteY34" fmla="*/ 484104 h 2024785"/>
              <a:gd name="connsiteX35" fmla="*/ 900647 w 1835725"/>
              <a:gd name="connsiteY35" fmla="*/ 281508 h 2024785"/>
              <a:gd name="connsiteX36" fmla="*/ 872454 w 1835725"/>
              <a:gd name="connsiteY36" fmla="*/ 196164 h 2024785"/>
              <a:gd name="connsiteX37" fmla="*/ 957797 w 1835725"/>
              <a:gd name="connsiteY37" fmla="*/ 167970 h 20247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1835725" h="2024785">
                <a:moveTo>
                  <a:pt x="1801138" y="1622662"/>
                </a:moveTo>
                <a:cubicBezTo>
                  <a:pt x="1822105" y="1633400"/>
                  <a:pt x="1836117" y="1655372"/>
                  <a:pt x="1835717" y="1680254"/>
                </a:cubicBezTo>
                <a:cubicBezTo>
                  <a:pt x="1832093" y="1746382"/>
                  <a:pt x="1824354" y="1812154"/>
                  <a:pt x="1812568" y="1877193"/>
                </a:cubicBezTo>
                <a:lnTo>
                  <a:pt x="1776210" y="2024785"/>
                </a:lnTo>
                <a:lnTo>
                  <a:pt x="1655772" y="1983449"/>
                </a:lnTo>
                <a:lnTo>
                  <a:pt x="1687591" y="1854495"/>
                </a:lnTo>
                <a:cubicBezTo>
                  <a:pt x="1698455" y="1794657"/>
                  <a:pt x="1705590" y="1734142"/>
                  <a:pt x="1708939" y="1673301"/>
                </a:cubicBezTo>
                <a:cubicBezTo>
                  <a:pt x="1712216" y="1638363"/>
                  <a:pt x="1743190" y="1612703"/>
                  <a:pt x="1778129" y="1615979"/>
                </a:cubicBezTo>
                <a:cubicBezTo>
                  <a:pt x="1786387" y="1616753"/>
                  <a:pt x="1794149" y="1619084"/>
                  <a:pt x="1801138" y="1622662"/>
                </a:cubicBezTo>
                <a:close/>
                <a:moveTo>
                  <a:pt x="1585229" y="764759"/>
                </a:moveTo>
                <a:cubicBezTo>
                  <a:pt x="1600438" y="768789"/>
                  <a:pt x="1614156" y="778436"/>
                  <a:pt x="1623024" y="792810"/>
                </a:cubicBezTo>
                <a:cubicBezTo>
                  <a:pt x="1689575" y="907319"/>
                  <a:pt x="1741505" y="1029715"/>
                  <a:pt x="1777614" y="1157141"/>
                </a:cubicBezTo>
                <a:cubicBezTo>
                  <a:pt x="1787149" y="1190888"/>
                  <a:pt x="1767537" y="1225969"/>
                  <a:pt x="1733799" y="1235532"/>
                </a:cubicBezTo>
                <a:cubicBezTo>
                  <a:pt x="1728151" y="1237046"/>
                  <a:pt x="1722312" y="1237780"/>
                  <a:pt x="1716464" y="1237722"/>
                </a:cubicBezTo>
                <a:lnTo>
                  <a:pt x="1716464" y="1237913"/>
                </a:lnTo>
                <a:cubicBezTo>
                  <a:pt x="1688070" y="1237913"/>
                  <a:pt x="1663124" y="1219044"/>
                  <a:pt x="1655409" y="1191717"/>
                </a:cubicBezTo>
                <a:cubicBezTo>
                  <a:pt x="1622214" y="1074512"/>
                  <a:pt x="1574437" y="961936"/>
                  <a:pt x="1513200" y="856627"/>
                </a:cubicBezTo>
                <a:cubicBezTo>
                  <a:pt x="1496379" y="825834"/>
                  <a:pt x="1507704" y="787236"/>
                  <a:pt x="1538499" y="770415"/>
                </a:cubicBezTo>
                <a:cubicBezTo>
                  <a:pt x="1553325" y="762319"/>
                  <a:pt x="1570022" y="760730"/>
                  <a:pt x="1585229" y="764759"/>
                </a:cubicBezTo>
                <a:close/>
                <a:moveTo>
                  <a:pt x="477919" y="21437"/>
                </a:moveTo>
                <a:cubicBezTo>
                  <a:pt x="499341" y="33775"/>
                  <a:pt x="512445" y="58102"/>
                  <a:pt x="509236" y="84182"/>
                </a:cubicBezTo>
                <a:cubicBezTo>
                  <a:pt x="505303" y="116151"/>
                  <a:pt x="478038" y="140098"/>
                  <a:pt x="445829" y="139871"/>
                </a:cubicBezTo>
                <a:cubicBezTo>
                  <a:pt x="443027" y="139899"/>
                  <a:pt x="440227" y="139740"/>
                  <a:pt x="437447" y="139395"/>
                </a:cubicBezTo>
                <a:cubicBezTo>
                  <a:pt x="316592" y="123615"/>
                  <a:pt x="194247" y="122878"/>
                  <a:pt x="73211" y="137204"/>
                </a:cubicBezTo>
                <a:cubicBezTo>
                  <a:pt x="38532" y="142545"/>
                  <a:pt x="6090" y="118762"/>
                  <a:pt x="749" y="84082"/>
                </a:cubicBezTo>
                <a:cubicBezTo>
                  <a:pt x="-4591" y="49403"/>
                  <a:pt x="19192" y="16961"/>
                  <a:pt x="53871" y="11621"/>
                </a:cubicBezTo>
                <a:cubicBezTo>
                  <a:pt x="55358" y="11392"/>
                  <a:pt x="56852" y="11216"/>
                  <a:pt x="58352" y="11093"/>
                </a:cubicBezTo>
                <a:cubicBezTo>
                  <a:pt x="189834" y="-4456"/>
                  <a:pt x="322735" y="-3656"/>
                  <a:pt x="454020" y="13474"/>
                </a:cubicBezTo>
                <a:cubicBezTo>
                  <a:pt x="462713" y="14543"/>
                  <a:pt x="470778" y="17324"/>
                  <a:pt x="477919" y="21437"/>
                </a:cubicBezTo>
                <a:close/>
                <a:moveTo>
                  <a:pt x="957797" y="167970"/>
                </a:moveTo>
                <a:cubicBezTo>
                  <a:pt x="1076184" y="227289"/>
                  <a:pt x="1186759" y="301068"/>
                  <a:pt x="1286982" y="387616"/>
                </a:cubicBezTo>
                <a:cubicBezTo>
                  <a:pt x="1313547" y="410457"/>
                  <a:pt x="1316566" y="450510"/>
                  <a:pt x="1293725" y="477075"/>
                </a:cubicBezTo>
                <a:cubicBezTo>
                  <a:pt x="1281638" y="491137"/>
                  <a:pt x="1263998" y="499204"/>
                  <a:pt x="1245453" y="499154"/>
                </a:cubicBezTo>
                <a:lnTo>
                  <a:pt x="1245167" y="499154"/>
                </a:lnTo>
                <a:cubicBezTo>
                  <a:pt x="1229965" y="499301"/>
                  <a:pt x="1215220" y="493956"/>
                  <a:pt x="1203638" y="484104"/>
                </a:cubicBezTo>
                <a:cubicBezTo>
                  <a:pt x="1111407" y="404300"/>
                  <a:pt x="1009633" y="336248"/>
                  <a:pt x="900647" y="281508"/>
                </a:cubicBezTo>
                <a:cubicBezTo>
                  <a:pt x="869295" y="265726"/>
                  <a:pt x="856672" y="227516"/>
                  <a:pt x="872454" y="196164"/>
                </a:cubicBezTo>
                <a:cubicBezTo>
                  <a:pt x="888235" y="164811"/>
                  <a:pt x="926445" y="152188"/>
                  <a:pt x="957797" y="167970"/>
                </a:cubicBezTo>
                <a:close/>
              </a:path>
            </a:pathLst>
          </a:custGeom>
          <a:solidFill>
            <a:schemeClr val="accent4"/>
          </a:solidFill>
          <a:ln w="9525" cap="flat">
            <a:noFill/>
            <a:prstDash val="solid"/>
            <a:miter/>
          </a:ln>
        </p:spPr>
        <p:txBody>
          <a:bodyPr rtlCol="0" anchor="ctr"/>
          <a:lstStyle/>
          <a:p>
            <a:endParaRPr lang="en-US"/>
          </a:p>
        </p:txBody>
      </p:sp>
      <p:pic>
        <p:nvPicPr>
          <p:cNvPr id="5" name="Picture 4" descr="A circuit board&#10;&#10;Description automatically generated">
            <a:extLst>
              <a:ext uri="{FF2B5EF4-FFF2-40B4-BE49-F238E27FC236}">
                <a16:creationId xmlns:a16="http://schemas.microsoft.com/office/drawing/2014/main" id="{AACC11B2-EB20-4B66-9136-3C03B6D2BEDE}"/>
              </a:ext>
            </a:extLst>
          </p:cNvPr>
          <p:cNvPicPr>
            <a:picLocks noChangeAspect="1"/>
          </p:cNvPicPr>
          <p:nvPr/>
        </p:nvPicPr>
        <p:blipFill rotWithShape="1">
          <a:blip r:embed="rId2">
            <a:extLst>
              <a:ext uri="{28A0092B-C50C-407E-A947-70E740481C1C}">
                <a14:useLocalDpi xmlns:a14="http://schemas.microsoft.com/office/drawing/2010/main" val="0"/>
              </a:ext>
            </a:extLst>
          </a:blip>
          <a:srcRect r="5" b="5"/>
          <a:stretch/>
        </p:blipFill>
        <p:spPr>
          <a:xfrm>
            <a:off x="7751975" y="1075239"/>
            <a:ext cx="4128603" cy="4128603"/>
          </a:xfrm>
          <a:custGeom>
            <a:avLst/>
            <a:gdLst/>
            <a:ahLst/>
            <a:cxnLst/>
            <a:rect l="l" t="t" r="r" b="b"/>
            <a:pathLst>
              <a:path w="2663168" h="2663168">
                <a:moveTo>
                  <a:pt x="1331584" y="0"/>
                </a:moveTo>
                <a:cubicBezTo>
                  <a:pt x="2066998" y="0"/>
                  <a:pt x="2663168" y="596170"/>
                  <a:pt x="2663168" y="1331584"/>
                </a:cubicBezTo>
                <a:cubicBezTo>
                  <a:pt x="2663168" y="2066998"/>
                  <a:pt x="2066998" y="2663168"/>
                  <a:pt x="1331584" y="2663168"/>
                </a:cubicBezTo>
                <a:cubicBezTo>
                  <a:pt x="596170" y="2663168"/>
                  <a:pt x="0" y="2066998"/>
                  <a:pt x="0" y="1331584"/>
                </a:cubicBezTo>
                <a:cubicBezTo>
                  <a:pt x="0" y="596170"/>
                  <a:pt x="596170" y="0"/>
                  <a:pt x="1331584" y="0"/>
                </a:cubicBezTo>
                <a:close/>
              </a:path>
            </a:pathLst>
          </a:custGeom>
        </p:spPr>
      </p:pic>
      <p:sp>
        <p:nvSpPr>
          <p:cNvPr id="18" name="Freeform: Shape 17">
            <a:extLst>
              <a:ext uri="{FF2B5EF4-FFF2-40B4-BE49-F238E27FC236}">
                <a16:creationId xmlns:a16="http://schemas.microsoft.com/office/drawing/2014/main" id="{2D385988-EAAF-4C27-AF8A-2BFBECAF3D4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749602" y="1"/>
            <a:ext cx="2066948" cy="1621879"/>
          </a:xfrm>
          <a:custGeom>
            <a:avLst/>
            <a:gdLst>
              <a:gd name="connsiteX0" fmla="*/ 0 w 2066948"/>
              <a:gd name="connsiteY0" fmla="*/ 0 h 1621879"/>
              <a:gd name="connsiteX1" fmla="*/ 123825 w 2066948"/>
              <a:gd name="connsiteY1" fmla="*/ 0 h 1621879"/>
              <a:gd name="connsiteX2" fmla="*/ 123825 w 2066948"/>
              <a:gd name="connsiteY2" fmla="*/ 1452620 h 1621879"/>
              <a:gd name="connsiteX3" fmla="*/ 1881378 w 2066948"/>
              <a:gd name="connsiteY3" fmla="*/ 436017 h 1621879"/>
              <a:gd name="connsiteX4" fmla="*/ 1127572 w 2066948"/>
              <a:gd name="connsiteY4" fmla="*/ 0 h 1621879"/>
              <a:gd name="connsiteX5" fmla="*/ 1374887 w 2066948"/>
              <a:gd name="connsiteY5" fmla="*/ 0 h 1621879"/>
              <a:gd name="connsiteX6" fmla="*/ 2035969 w 2066948"/>
              <a:gd name="connsiteY6" fmla="*/ 382391 h 1621879"/>
              <a:gd name="connsiteX7" fmla="*/ 2058648 w 2066948"/>
              <a:gd name="connsiteY7" fmla="*/ 466963 h 1621879"/>
              <a:gd name="connsiteX8" fmla="*/ 2035969 w 2066948"/>
              <a:gd name="connsiteY8" fmla="*/ 489642 h 1621879"/>
              <a:gd name="connsiteX9" fmla="*/ 92869 w 2066948"/>
              <a:gd name="connsiteY9" fmla="*/ 1613592 h 1621879"/>
              <a:gd name="connsiteX10" fmla="*/ 61913 w 2066948"/>
              <a:gd name="connsiteY10" fmla="*/ 1621879 h 1621879"/>
              <a:gd name="connsiteX11" fmla="*/ 0 w 2066948"/>
              <a:gd name="connsiteY11" fmla="*/ 1559967 h 16218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066948" h="1621879">
                <a:moveTo>
                  <a:pt x="0" y="0"/>
                </a:moveTo>
                <a:lnTo>
                  <a:pt x="123825" y="0"/>
                </a:lnTo>
                <a:lnTo>
                  <a:pt x="123825" y="1452620"/>
                </a:lnTo>
                <a:lnTo>
                  <a:pt x="1881378" y="436017"/>
                </a:lnTo>
                <a:lnTo>
                  <a:pt x="1127572" y="0"/>
                </a:lnTo>
                <a:lnTo>
                  <a:pt x="1374887" y="0"/>
                </a:lnTo>
                <a:lnTo>
                  <a:pt x="2035969" y="382391"/>
                </a:lnTo>
                <a:cubicBezTo>
                  <a:pt x="2065582" y="399479"/>
                  <a:pt x="2075745" y="437340"/>
                  <a:pt x="2058648" y="466963"/>
                </a:cubicBezTo>
                <a:cubicBezTo>
                  <a:pt x="2053219" y="476384"/>
                  <a:pt x="2045389" y="484204"/>
                  <a:pt x="2035969" y="489642"/>
                </a:cubicBezTo>
                <a:lnTo>
                  <a:pt x="92869" y="1613592"/>
                </a:lnTo>
                <a:cubicBezTo>
                  <a:pt x="83458" y="1619031"/>
                  <a:pt x="72780" y="1621889"/>
                  <a:pt x="61913" y="1621879"/>
                </a:cubicBezTo>
                <a:cubicBezTo>
                  <a:pt x="27719" y="1621879"/>
                  <a:pt x="0" y="1594161"/>
                  <a:pt x="0" y="1559967"/>
                </a:cubicBezTo>
                <a:close/>
              </a:path>
            </a:pathLst>
          </a:custGeom>
          <a:solidFill>
            <a:schemeClr val="accent6"/>
          </a:solidFill>
          <a:ln w="9525" cap="flat">
            <a:noFill/>
            <a:prstDash val="solid"/>
            <a:miter/>
          </a:ln>
        </p:spPr>
        <p:txBody>
          <a:bodyPr rtlCol="0" anchor="ctr"/>
          <a:lstStyle/>
          <a:p>
            <a:endParaRPr lang="en-US"/>
          </a:p>
        </p:txBody>
      </p:sp>
      <p:cxnSp>
        <p:nvCxnSpPr>
          <p:cNvPr id="20" name="Straight Connector 19">
            <a:extLst>
              <a:ext uri="{FF2B5EF4-FFF2-40B4-BE49-F238E27FC236}">
                <a16:creationId xmlns:a16="http://schemas.microsoft.com/office/drawing/2014/main" id="{43621FD4-D14D-45D5-9A57-9A2DE5EA59C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2138745" y="1027906"/>
            <a:ext cx="0" cy="1597708"/>
          </a:xfrm>
          <a:prstGeom prst="line">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cxnSp>
      <p:sp>
        <p:nvSpPr>
          <p:cNvPr id="22" name="Freeform: Shape 21">
            <a:extLst>
              <a:ext uri="{FF2B5EF4-FFF2-40B4-BE49-F238E27FC236}">
                <a16:creationId xmlns:a16="http://schemas.microsoft.com/office/drawing/2014/main" id="{B621D332-7329-4994-8836-C429A51B754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09527" y="6033795"/>
            <a:ext cx="1991064" cy="824205"/>
          </a:xfrm>
          <a:custGeom>
            <a:avLst/>
            <a:gdLst>
              <a:gd name="connsiteX0" fmla="*/ 995532 w 1991064"/>
              <a:gd name="connsiteY0" fmla="*/ 0 h 824205"/>
              <a:gd name="connsiteX1" fmla="*/ 1984823 w 1991064"/>
              <a:gd name="connsiteY1" fmla="*/ 784423 h 824205"/>
              <a:gd name="connsiteX2" fmla="*/ 1991064 w 1991064"/>
              <a:gd name="connsiteY2" fmla="*/ 824205 h 824205"/>
              <a:gd name="connsiteX3" fmla="*/ 0 w 1991064"/>
              <a:gd name="connsiteY3" fmla="*/ 824205 h 824205"/>
              <a:gd name="connsiteX4" fmla="*/ 6241 w 1991064"/>
              <a:gd name="connsiteY4" fmla="*/ 784423 h 824205"/>
              <a:gd name="connsiteX5" fmla="*/ 995532 w 1991064"/>
              <a:gd name="connsiteY5" fmla="*/ 0 h 8242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991064" h="824205">
                <a:moveTo>
                  <a:pt x="995532" y="0"/>
                </a:moveTo>
                <a:cubicBezTo>
                  <a:pt x="1483521" y="0"/>
                  <a:pt x="1890663" y="336754"/>
                  <a:pt x="1984823" y="784423"/>
                </a:cubicBezTo>
                <a:lnTo>
                  <a:pt x="1991064" y="824205"/>
                </a:lnTo>
                <a:lnTo>
                  <a:pt x="0" y="824205"/>
                </a:lnTo>
                <a:lnTo>
                  <a:pt x="6241" y="784423"/>
                </a:lnTo>
                <a:cubicBezTo>
                  <a:pt x="100402" y="336754"/>
                  <a:pt x="507544" y="0"/>
                  <a:pt x="995532" y="0"/>
                </a:cubicBez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4" name="Freeform: Shape 23">
            <a:extLst>
              <a:ext uri="{FF2B5EF4-FFF2-40B4-BE49-F238E27FC236}">
                <a16:creationId xmlns:a16="http://schemas.microsoft.com/office/drawing/2014/main" id="{2D20F754-35A9-4508-BE3C-C59996D1437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851696" y="5519196"/>
            <a:ext cx="1340305" cy="1338805"/>
          </a:xfrm>
          <a:custGeom>
            <a:avLst/>
            <a:gdLst>
              <a:gd name="connsiteX0" fmla="*/ 61913 w 1340305"/>
              <a:gd name="connsiteY0" fmla="*/ 0 h 1338805"/>
              <a:gd name="connsiteX1" fmla="*/ 1340305 w 1340305"/>
              <a:gd name="connsiteY1" fmla="*/ 0 h 1338805"/>
              <a:gd name="connsiteX2" fmla="*/ 1340305 w 1340305"/>
              <a:gd name="connsiteY2" fmla="*/ 123825 h 1338805"/>
              <a:gd name="connsiteX3" fmla="*/ 123825 w 1340305"/>
              <a:gd name="connsiteY3" fmla="*/ 123825 h 1338805"/>
              <a:gd name="connsiteX4" fmla="*/ 123825 w 1340305"/>
              <a:gd name="connsiteY4" fmla="*/ 1338805 h 1338805"/>
              <a:gd name="connsiteX5" fmla="*/ 0 w 1340305"/>
              <a:gd name="connsiteY5" fmla="*/ 1338805 h 1338805"/>
              <a:gd name="connsiteX6" fmla="*/ 0 w 1340305"/>
              <a:gd name="connsiteY6" fmla="*/ 61913 h 1338805"/>
              <a:gd name="connsiteX7" fmla="*/ 61913 w 1340305"/>
              <a:gd name="connsiteY7" fmla="*/ 0 h 13388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340305" h="1338805">
                <a:moveTo>
                  <a:pt x="61913" y="0"/>
                </a:moveTo>
                <a:lnTo>
                  <a:pt x="1340305" y="0"/>
                </a:lnTo>
                <a:lnTo>
                  <a:pt x="1340305" y="123825"/>
                </a:lnTo>
                <a:lnTo>
                  <a:pt x="123825" y="123825"/>
                </a:lnTo>
                <a:lnTo>
                  <a:pt x="123825" y="1338805"/>
                </a:lnTo>
                <a:lnTo>
                  <a:pt x="0" y="1338805"/>
                </a:lnTo>
                <a:lnTo>
                  <a:pt x="0" y="61913"/>
                </a:lnTo>
                <a:cubicBezTo>
                  <a:pt x="0" y="27719"/>
                  <a:pt x="27719" y="0"/>
                  <a:pt x="61913" y="0"/>
                </a:cubicBezTo>
                <a:close/>
              </a:path>
            </a:pathLst>
          </a:custGeom>
          <a:solidFill>
            <a:schemeClr val="accent6"/>
          </a:solidFill>
          <a:ln w="9525" cap="flat">
            <a:noFill/>
            <a:prstDash val="solid"/>
            <a:miter/>
          </a:ln>
        </p:spPr>
        <p:txBody>
          <a:bodyPr rtlCol="0" anchor="ctr"/>
          <a:lstStyle/>
          <a:p>
            <a:endParaRPr lang="en-US"/>
          </a:p>
        </p:txBody>
      </p:sp>
    </p:spTree>
    <p:extLst>
      <p:ext uri="{BB962C8B-B14F-4D97-AF65-F5344CB8AC3E}">
        <p14:creationId xmlns:p14="http://schemas.microsoft.com/office/powerpoint/2010/main" val="342645521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80DF40B2-80F7-4E71-B46C-284163F3654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5EE2986-B713-4A05-86FC-C0311AD98510}"/>
              </a:ext>
            </a:extLst>
          </p:cNvPr>
          <p:cNvSpPr>
            <a:spLocks noGrp="1"/>
          </p:cNvSpPr>
          <p:nvPr>
            <p:ph type="title"/>
          </p:nvPr>
        </p:nvSpPr>
        <p:spPr>
          <a:xfrm>
            <a:off x="838199" y="548464"/>
            <a:ext cx="3807187" cy="2228074"/>
          </a:xfrm>
        </p:spPr>
        <p:txBody>
          <a:bodyPr>
            <a:normAutofit/>
          </a:bodyPr>
          <a:lstStyle/>
          <a:p>
            <a:r>
              <a:rPr lang="en-US" sz="4000"/>
              <a:t>2.2 DHT11</a:t>
            </a:r>
          </a:p>
        </p:txBody>
      </p:sp>
      <p:sp>
        <p:nvSpPr>
          <p:cNvPr id="3" name="Content Placeholder 2">
            <a:extLst>
              <a:ext uri="{FF2B5EF4-FFF2-40B4-BE49-F238E27FC236}">
                <a16:creationId xmlns:a16="http://schemas.microsoft.com/office/drawing/2014/main" id="{108D947F-2504-4DA0-8ABF-A70E2649C027}"/>
              </a:ext>
            </a:extLst>
          </p:cNvPr>
          <p:cNvSpPr>
            <a:spLocks noGrp="1"/>
          </p:cNvSpPr>
          <p:nvPr>
            <p:ph idx="1"/>
          </p:nvPr>
        </p:nvSpPr>
        <p:spPr>
          <a:xfrm>
            <a:off x="838201" y="2962279"/>
            <a:ext cx="3799425" cy="3143241"/>
          </a:xfrm>
        </p:spPr>
        <p:txBody>
          <a:bodyPr>
            <a:normAutofit/>
          </a:bodyPr>
          <a:lstStyle/>
          <a:p>
            <a:r>
              <a:rPr lang="vi-VN" sz="1400"/>
              <a:t>Thông tin kỹ thuật:</a:t>
            </a:r>
          </a:p>
          <a:p>
            <a:r>
              <a:rPr lang="vi-VN" sz="1400"/>
              <a:t>Nguồn: 3 -&gt; 5 VDC.</a:t>
            </a:r>
          </a:p>
          <a:p>
            <a:r>
              <a:rPr lang="vi-VN" sz="1400"/>
              <a:t>Dòng sử dụng: 2.5mA max (khi truyền dữ liệu).</a:t>
            </a:r>
          </a:p>
          <a:p>
            <a:r>
              <a:rPr lang="vi-VN" sz="1400"/>
              <a:t>Đo tốt ở độ ẩm 20 to 70%RH với sai số 5%.</a:t>
            </a:r>
          </a:p>
          <a:p>
            <a:r>
              <a:rPr lang="vi-VN" sz="1400"/>
              <a:t>Đo tốt ở nhiệt độ 0 to 50°C sai số ±2°C.</a:t>
            </a:r>
          </a:p>
          <a:p>
            <a:r>
              <a:rPr lang="vi-VN" sz="1400"/>
              <a:t>Tần số lấy mẫu tối đa 1Hz (1 giây 1 lần)</a:t>
            </a:r>
          </a:p>
          <a:p>
            <a:r>
              <a:rPr lang="vi-VN" sz="1400"/>
              <a:t>Kích thước 15mm x 12mm x 5.5mm.</a:t>
            </a:r>
          </a:p>
          <a:p>
            <a:r>
              <a:rPr lang="vi-VN" sz="1400"/>
              <a:t>4 chân, khoảng cách chân 0.1''.</a:t>
            </a:r>
            <a:endParaRPr lang="en-US" sz="1400"/>
          </a:p>
        </p:txBody>
      </p:sp>
      <p:pic>
        <p:nvPicPr>
          <p:cNvPr id="5" name="Picture 4">
            <a:extLst>
              <a:ext uri="{FF2B5EF4-FFF2-40B4-BE49-F238E27FC236}">
                <a16:creationId xmlns:a16="http://schemas.microsoft.com/office/drawing/2014/main" id="{8B33A3CC-9E13-4FE2-802F-667777FD6BB3}"/>
              </a:ext>
            </a:extLst>
          </p:cNvPr>
          <p:cNvPicPr>
            <a:picLocks noChangeAspect="1"/>
          </p:cNvPicPr>
          <p:nvPr/>
        </p:nvPicPr>
        <p:blipFill rotWithShape="1">
          <a:blip r:embed="rId2">
            <a:extLst>
              <a:ext uri="{28A0092B-C50C-407E-A947-70E740481C1C}">
                <a14:useLocalDpi xmlns:a14="http://schemas.microsoft.com/office/drawing/2010/main" val="0"/>
              </a:ext>
            </a:extLst>
          </a:blip>
          <a:srcRect b="4506"/>
          <a:stretch/>
        </p:blipFill>
        <p:spPr>
          <a:xfrm>
            <a:off x="5010386" y="10"/>
            <a:ext cx="7181613" cy="6857990"/>
          </a:xfrm>
          <a:prstGeom prst="rect">
            <a:avLst/>
          </a:prstGeom>
          <a:effectLst/>
        </p:spPr>
      </p:pic>
    </p:spTree>
    <p:extLst>
      <p:ext uri="{BB962C8B-B14F-4D97-AF65-F5344CB8AC3E}">
        <p14:creationId xmlns:p14="http://schemas.microsoft.com/office/powerpoint/2010/main" val="241166787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9" name="Rectangle 28">
            <a:extLst>
              <a:ext uri="{FF2B5EF4-FFF2-40B4-BE49-F238E27FC236}">
                <a16:creationId xmlns:a16="http://schemas.microsoft.com/office/drawing/2014/main" id="{1BB867FF-FC45-48F7-8104-F89BE54909F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Freeform: Shape 30">
            <a:extLst>
              <a:ext uri="{FF2B5EF4-FFF2-40B4-BE49-F238E27FC236}">
                <a16:creationId xmlns:a16="http://schemas.microsoft.com/office/drawing/2014/main" id="{8BB56887-D0D5-4F0C-9E19-7247EB83C8B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208695" y="1"/>
            <a:ext cx="1135066" cy="477997"/>
          </a:xfrm>
          <a:custGeom>
            <a:avLst/>
            <a:gdLst>
              <a:gd name="connsiteX0" fmla="*/ 0 w 1135066"/>
              <a:gd name="connsiteY0" fmla="*/ 0 h 477997"/>
              <a:gd name="connsiteX1" fmla="*/ 1135066 w 1135066"/>
              <a:gd name="connsiteY1" fmla="*/ 0 h 477997"/>
              <a:gd name="connsiteX2" fmla="*/ 1133370 w 1135066"/>
              <a:gd name="connsiteY2" fmla="*/ 16827 h 477997"/>
              <a:gd name="connsiteX3" fmla="*/ 567533 w 1135066"/>
              <a:gd name="connsiteY3" fmla="*/ 477997 h 477997"/>
              <a:gd name="connsiteX4" fmla="*/ 1696 w 1135066"/>
              <a:gd name="connsiteY4" fmla="*/ 16827 h 4779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35066" h="477997">
                <a:moveTo>
                  <a:pt x="0" y="0"/>
                </a:moveTo>
                <a:lnTo>
                  <a:pt x="1135066" y="0"/>
                </a:lnTo>
                <a:lnTo>
                  <a:pt x="1133370" y="16827"/>
                </a:lnTo>
                <a:cubicBezTo>
                  <a:pt x="1079514" y="280016"/>
                  <a:pt x="846644" y="477997"/>
                  <a:pt x="567533" y="477997"/>
                </a:cubicBezTo>
                <a:cubicBezTo>
                  <a:pt x="288422" y="477997"/>
                  <a:pt x="55552" y="280016"/>
                  <a:pt x="1696" y="16827"/>
                </a:cubicBezTo>
                <a:close/>
              </a:path>
            </a:pathLst>
          </a:cu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51629EE8-6B32-46AF-9B91-B4832A2F42F7}"/>
              </a:ext>
            </a:extLst>
          </p:cNvPr>
          <p:cNvSpPr>
            <a:spLocks noGrp="1"/>
          </p:cNvSpPr>
          <p:nvPr>
            <p:ph type="title"/>
          </p:nvPr>
        </p:nvSpPr>
        <p:spPr>
          <a:xfrm>
            <a:off x="838200" y="365125"/>
            <a:ext cx="10515600" cy="1325563"/>
          </a:xfrm>
        </p:spPr>
        <p:txBody>
          <a:bodyPr vert="horz" lIns="91440" tIns="45720" rIns="91440" bIns="45720" rtlCol="0">
            <a:normAutofit/>
          </a:bodyPr>
          <a:lstStyle/>
          <a:p>
            <a:r>
              <a:rPr lang="en-US" kern="1200">
                <a:latin typeface="+mj-lt"/>
                <a:ea typeface="+mj-ea"/>
                <a:cs typeface="+mj-cs"/>
              </a:rPr>
              <a:t>2.3 Thiết kế trang web với Vuejs</a:t>
            </a:r>
          </a:p>
        </p:txBody>
      </p:sp>
      <p:sp>
        <p:nvSpPr>
          <p:cNvPr id="33" name="Arc 32">
            <a:extLst>
              <a:ext uri="{FF2B5EF4-FFF2-40B4-BE49-F238E27FC236}">
                <a16:creationId xmlns:a16="http://schemas.microsoft.com/office/drawing/2014/main" id="{081E4A58-353D-44AE-B2FC-2A74E2E400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V="1">
            <a:off x="555710" y="2183223"/>
            <a:ext cx="4083433"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3" name="Content Placeholder 2">
            <a:extLst>
              <a:ext uri="{FF2B5EF4-FFF2-40B4-BE49-F238E27FC236}">
                <a16:creationId xmlns:a16="http://schemas.microsoft.com/office/drawing/2014/main" id="{1579B8BD-A955-4EEE-A008-9E6AE67C96F5}"/>
              </a:ext>
            </a:extLst>
          </p:cNvPr>
          <p:cNvSpPr>
            <a:spLocks noGrp="1"/>
          </p:cNvSpPr>
          <p:nvPr>
            <p:ph idx="1"/>
          </p:nvPr>
        </p:nvSpPr>
        <p:spPr>
          <a:xfrm>
            <a:off x="838200" y="1825625"/>
            <a:ext cx="10515600" cy="4351338"/>
          </a:xfrm>
        </p:spPr>
        <p:txBody>
          <a:bodyPr vert="horz" lIns="91440" tIns="45720" rIns="91440" bIns="45720" rtlCol="0">
            <a:normAutofit/>
          </a:bodyPr>
          <a:lstStyle/>
          <a:p>
            <a:pPr marL="0" indent="0">
              <a:buNone/>
            </a:pPr>
            <a:r>
              <a:rPr lang="en-US" kern="1200" dirty="0" err="1">
                <a:latin typeface="+mn-lt"/>
                <a:ea typeface="+mn-ea"/>
                <a:cs typeface="+mn-cs"/>
              </a:rPr>
              <a:t>Vuejs</a:t>
            </a:r>
            <a:r>
              <a:rPr lang="en-US" kern="1200" dirty="0">
                <a:latin typeface="+mn-lt"/>
                <a:ea typeface="+mn-ea"/>
                <a:cs typeface="+mn-cs"/>
              </a:rPr>
              <a:t> </a:t>
            </a:r>
            <a:r>
              <a:rPr lang="en-US" kern="1200" dirty="0" err="1">
                <a:latin typeface="+mn-lt"/>
                <a:ea typeface="+mn-ea"/>
                <a:cs typeface="+mn-cs"/>
              </a:rPr>
              <a:t>là</a:t>
            </a:r>
            <a:r>
              <a:rPr lang="en-US" kern="1200" dirty="0">
                <a:latin typeface="+mn-lt"/>
                <a:ea typeface="+mn-ea"/>
                <a:cs typeface="+mn-cs"/>
              </a:rPr>
              <a:t> framework </a:t>
            </a:r>
            <a:r>
              <a:rPr lang="en-US" kern="1200" dirty="0" err="1">
                <a:latin typeface="+mn-lt"/>
                <a:ea typeface="+mn-ea"/>
                <a:cs typeface="+mn-cs"/>
              </a:rPr>
              <a:t>giúp</a:t>
            </a:r>
            <a:r>
              <a:rPr lang="en-US" kern="1200" dirty="0">
                <a:latin typeface="+mn-lt"/>
                <a:ea typeface="+mn-ea"/>
                <a:cs typeface="+mn-cs"/>
              </a:rPr>
              <a:t> </a:t>
            </a:r>
            <a:r>
              <a:rPr lang="en-US" kern="1200" dirty="0" err="1">
                <a:latin typeface="+mn-lt"/>
                <a:ea typeface="+mn-ea"/>
                <a:cs typeface="+mn-cs"/>
              </a:rPr>
              <a:t>xây</a:t>
            </a:r>
            <a:r>
              <a:rPr lang="en-US" kern="1200" dirty="0">
                <a:latin typeface="+mn-lt"/>
                <a:ea typeface="+mn-ea"/>
                <a:cs typeface="+mn-cs"/>
              </a:rPr>
              <a:t> </a:t>
            </a:r>
            <a:r>
              <a:rPr lang="en-US" kern="1200" dirty="0" err="1">
                <a:latin typeface="+mn-lt"/>
                <a:ea typeface="+mn-ea"/>
                <a:cs typeface="+mn-cs"/>
              </a:rPr>
              <a:t>dựng</a:t>
            </a:r>
            <a:r>
              <a:rPr lang="en-US" kern="1200" dirty="0">
                <a:latin typeface="+mn-lt"/>
                <a:ea typeface="+mn-ea"/>
                <a:cs typeface="+mn-cs"/>
              </a:rPr>
              <a:t> </a:t>
            </a:r>
            <a:r>
              <a:rPr lang="en-US" kern="1200" dirty="0" err="1">
                <a:latin typeface="+mn-lt"/>
                <a:ea typeface="+mn-ea"/>
                <a:cs typeface="+mn-cs"/>
              </a:rPr>
              <a:t>trang</a:t>
            </a:r>
            <a:r>
              <a:rPr lang="en-US" kern="1200" dirty="0">
                <a:latin typeface="+mn-lt"/>
                <a:ea typeface="+mn-ea"/>
                <a:cs typeface="+mn-cs"/>
              </a:rPr>
              <a:t> web </a:t>
            </a:r>
            <a:r>
              <a:rPr lang="en-US" kern="1200" dirty="0" err="1">
                <a:latin typeface="+mn-lt"/>
                <a:ea typeface="+mn-ea"/>
                <a:cs typeface="+mn-cs"/>
              </a:rPr>
              <a:t>dưới</a:t>
            </a:r>
            <a:r>
              <a:rPr lang="en-US" kern="1200" dirty="0">
                <a:latin typeface="+mn-lt"/>
                <a:ea typeface="+mn-ea"/>
                <a:cs typeface="+mn-cs"/>
              </a:rPr>
              <a:t> </a:t>
            </a:r>
            <a:r>
              <a:rPr lang="en-US" kern="1200" dirty="0" err="1">
                <a:latin typeface="+mn-lt"/>
                <a:ea typeface="+mn-ea"/>
                <a:cs typeface="+mn-cs"/>
              </a:rPr>
              <a:t>dạng</a:t>
            </a:r>
            <a:r>
              <a:rPr lang="en-US" kern="1200" dirty="0">
                <a:latin typeface="+mn-lt"/>
                <a:ea typeface="+mn-ea"/>
                <a:cs typeface="+mn-cs"/>
              </a:rPr>
              <a:t> Single Page Application.</a:t>
            </a:r>
          </a:p>
        </p:txBody>
      </p:sp>
    </p:spTree>
    <p:extLst>
      <p:ext uri="{BB962C8B-B14F-4D97-AF65-F5344CB8AC3E}">
        <p14:creationId xmlns:p14="http://schemas.microsoft.com/office/powerpoint/2010/main" val="291155707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45F1EC-BC23-4E87-BBAD-B8844F3AC627}"/>
              </a:ext>
            </a:extLst>
          </p:cNvPr>
          <p:cNvSpPr>
            <a:spLocks noGrp="1"/>
          </p:cNvSpPr>
          <p:nvPr>
            <p:ph type="title"/>
          </p:nvPr>
        </p:nvSpPr>
        <p:spPr/>
        <p:txBody>
          <a:bodyPr/>
          <a:lstStyle/>
          <a:p>
            <a:r>
              <a:rPr lang="en-US"/>
              <a:t>2.3 Thiết kế trang web với Vuejs</a:t>
            </a:r>
            <a:endParaRPr lang="en-US" dirty="0"/>
          </a:p>
        </p:txBody>
      </p:sp>
      <p:pic>
        <p:nvPicPr>
          <p:cNvPr id="5" name="Content Placeholder 4">
            <a:extLst>
              <a:ext uri="{FF2B5EF4-FFF2-40B4-BE49-F238E27FC236}">
                <a16:creationId xmlns:a16="http://schemas.microsoft.com/office/drawing/2014/main" id="{4BCC7DB6-B6AA-4ADB-9DCA-5FBE37CC4361}"/>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1676941" y="1390650"/>
            <a:ext cx="8101832" cy="4786313"/>
          </a:xfrm>
        </p:spPr>
      </p:pic>
    </p:spTree>
    <p:extLst>
      <p:ext uri="{BB962C8B-B14F-4D97-AF65-F5344CB8AC3E}">
        <p14:creationId xmlns:p14="http://schemas.microsoft.com/office/powerpoint/2010/main" val="426193543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907EF6B7-1338-4443-8C46-6A318D952D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reeform: Shape 9">
            <a:extLst>
              <a:ext uri="{FF2B5EF4-FFF2-40B4-BE49-F238E27FC236}">
                <a16:creationId xmlns:a16="http://schemas.microsoft.com/office/drawing/2014/main" id="{DAAE4CDD-124C-4DCF-9584-B6033B545D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4167271" cy="6858000"/>
          </a:xfrm>
          <a:custGeom>
            <a:avLst/>
            <a:gdLst>
              <a:gd name="connsiteX0" fmla="*/ 0 w 4167271"/>
              <a:gd name="connsiteY0" fmla="*/ 0 h 6858000"/>
              <a:gd name="connsiteX1" fmla="*/ 2259550 w 4167271"/>
              <a:gd name="connsiteY1" fmla="*/ 0 h 6858000"/>
              <a:gd name="connsiteX2" fmla="*/ 2387803 w 4167271"/>
              <a:gd name="connsiteY2" fmla="*/ 82222 h 6858000"/>
              <a:gd name="connsiteX3" fmla="*/ 4167271 w 4167271"/>
              <a:gd name="connsiteY3" fmla="*/ 3429000 h 6858000"/>
              <a:gd name="connsiteX4" fmla="*/ 2387803 w 4167271"/>
              <a:gd name="connsiteY4" fmla="*/ 6775779 h 6858000"/>
              <a:gd name="connsiteX5" fmla="*/ 2259550 w 4167271"/>
              <a:gd name="connsiteY5" fmla="*/ 6858000 h 6858000"/>
              <a:gd name="connsiteX6" fmla="*/ 0 w 4167271"/>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167271" h="6858000">
                <a:moveTo>
                  <a:pt x="0" y="0"/>
                </a:moveTo>
                <a:lnTo>
                  <a:pt x="2259550" y="0"/>
                </a:lnTo>
                <a:lnTo>
                  <a:pt x="2387803" y="82222"/>
                </a:lnTo>
                <a:cubicBezTo>
                  <a:pt x="3461407" y="807534"/>
                  <a:pt x="4167271" y="2035835"/>
                  <a:pt x="4167271" y="3429000"/>
                </a:cubicBezTo>
                <a:cubicBezTo>
                  <a:pt x="4167271" y="4822165"/>
                  <a:pt x="3461407" y="6050467"/>
                  <a:pt x="2387803" y="6775779"/>
                </a:cubicBezTo>
                <a:lnTo>
                  <a:pt x="2259550" y="6858000"/>
                </a:lnTo>
                <a:lnTo>
                  <a:pt x="0" y="685800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836D2DF-9279-46C6-8692-B782748786B1}"/>
              </a:ext>
            </a:extLst>
          </p:cNvPr>
          <p:cNvSpPr>
            <a:spLocks noGrp="1"/>
          </p:cNvSpPr>
          <p:nvPr>
            <p:ph type="title"/>
          </p:nvPr>
        </p:nvSpPr>
        <p:spPr>
          <a:xfrm>
            <a:off x="686834" y="1153572"/>
            <a:ext cx="3200400" cy="4461163"/>
          </a:xfrm>
        </p:spPr>
        <p:txBody>
          <a:bodyPr>
            <a:normAutofit/>
          </a:bodyPr>
          <a:lstStyle/>
          <a:p>
            <a:r>
              <a:rPr lang="en-US" dirty="0">
                <a:solidFill>
                  <a:srgbClr val="FFFFFF"/>
                </a:solidFill>
              </a:rPr>
              <a:t>3. </a:t>
            </a:r>
            <a:r>
              <a:rPr lang="en-US" dirty="0" err="1">
                <a:solidFill>
                  <a:srgbClr val="FFFFFF"/>
                </a:solidFill>
              </a:rPr>
              <a:t>Thiết</a:t>
            </a:r>
            <a:r>
              <a:rPr lang="en-US" dirty="0">
                <a:solidFill>
                  <a:srgbClr val="FFFFFF"/>
                </a:solidFill>
              </a:rPr>
              <a:t> </a:t>
            </a:r>
            <a:r>
              <a:rPr lang="en-US" dirty="0" err="1">
                <a:solidFill>
                  <a:srgbClr val="FFFFFF"/>
                </a:solidFill>
              </a:rPr>
              <a:t>kế</a:t>
            </a:r>
            <a:r>
              <a:rPr lang="en-US" dirty="0">
                <a:solidFill>
                  <a:srgbClr val="FFFFFF"/>
                </a:solidFill>
              </a:rPr>
              <a:t> </a:t>
            </a:r>
            <a:r>
              <a:rPr lang="en-US" dirty="0" err="1">
                <a:solidFill>
                  <a:srgbClr val="FFFFFF"/>
                </a:solidFill>
              </a:rPr>
              <a:t>hệ</a:t>
            </a:r>
            <a:r>
              <a:rPr lang="en-US" dirty="0">
                <a:solidFill>
                  <a:srgbClr val="FFFFFF"/>
                </a:solidFill>
              </a:rPr>
              <a:t> </a:t>
            </a:r>
            <a:r>
              <a:rPr lang="en-US" dirty="0" err="1">
                <a:solidFill>
                  <a:srgbClr val="FFFFFF"/>
                </a:solidFill>
              </a:rPr>
              <a:t>thống</a:t>
            </a:r>
            <a:endParaRPr lang="en-US" dirty="0">
              <a:solidFill>
                <a:srgbClr val="FFFFFF"/>
              </a:solidFill>
            </a:endParaRPr>
          </a:p>
        </p:txBody>
      </p:sp>
      <p:sp>
        <p:nvSpPr>
          <p:cNvPr id="12" name="Arc 11">
            <a:extLst>
              <a:ext uri="{FF2B5EF4-FFF2-40B4-BE49-F238E27FC236}">
                <a16:creationId xmlns:a16="http://schemas.microsoft.com/office/drawing/2014/main" id="{081E4A58-353D-44AE-B2FC-2A74E2E400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7550402" y="2455479"/>
            <a:ext cx="4083433"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3" name="Content Placeholder 2">
            <a:extLst>
              <a:ext uri="{FF2B5EF4-FFF2-40B4-BE49-F238E27FC236}">
                <a16:creationId xmlns:a16="http://schemas.microsoft.com/office/drawing/2014/main" id="{0BC12AC1-B8D0-45EA-9075-F4C3BA65FE2B}"/>
              </a:ext>
            </a:extLst>
          </p:cNvPr>
          <p:cNvSpPr>
            <a:spLocks noGrp="1"/>
          </p:cNvSpPr>
          <p:nvPr>
            <p:ph idx="1"/>
          </p:nvPr>
        </p:nvSpPr>
        <p:spPr>
          <a:xfrm>
            <a:off x="4447308" y="591344"/>
            <a:ext cx="6906491" cy="5585619"/>
          </a:xfrm>
        </p:spPr>
        <p:txBody>
          <a:bodyPr anchor="ctr">
            <a:normAutofit/>
          </a:bodyPr>
          <a:lstStyle/>
          <a:p>
            <a:r>
              <a:rPr lang="en-US" dirty="0" err="1"/>
              <a:t>Sơ</a:t>
            </a:r>
            <a:r>
              <a:rPr lang="en-US" dirty="0"/>
              <a:t> </a:t>
            </a:r>
            <a:r>
              <a:rPr lang="en-US" dirty="0" err="1"/>
              <a:t>đồ</a:t>
            </a:r>
            <a:r>
              <a:rPr lang="en-US" dirty="0"/>
              <a:t> </a:t>
            </a:r>
            <a:r>
              <a:rPr lang="en-US" dirty="0" err="1"/>
              <a:t>mạch</a:t>
            </a:r>
            <a:r>
              <a:rPr lang="en-US" dirty="0"/>
              <a:t> </a:t>
            </a:r>
            <a:r>
              <a:rPr lang="en-US" dirty="0" err="1"/>
              <a:t>nguyên</a:t>
            </a:r>
            <a:r>
              <a:rPr lang="en-US" dirty="0"/>
              <a:t> </a:t>
            </a:r>
            <a:r>
              <a:rPr lang="en-US" dirty="0" err="1"/>
              <a:t>lý</a:t>
            </a:r>
            <a:endParaRPr lang="en-US" dirty="0"/>
          </a:p>
          <a:p>
            <a:r>
              <a:rPr lang="en-US" dirty="0"/>
              <a:t>Code</a:t>
            </a:r>
          </a:p>
        </p:txBody>
      </p:sp>
    </p:spTree>
    <p:extLst>
      <p:ext uri="{BB962C8B-B14F-4D97-AF65-F5344CB8AC3E}">
        <p14:creationId xmlns:p14="http://schemas.microsoft.com/office/powerpoint/2010/main" val="279269611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4" name="Rectangle 13">
            <a:extLst>
              <a:ext uri="{FF2B5EF4-FFF2-40B4-BE49-F238E27FC236}">
                <a16:creationId xmlns:a16="http://schemas.microsoft.com/office/drawing/2014/main" id="{4F7EBAE4-9945-4473-9E34-B2C66EA0F03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2" name="Title 1">
            <a:extLst>
              <a:ext uri="{FF2B5EF4-FFF2-40B4-BE49-F238E27FC236}">
                <a16:creationId xmlns:a16="http://schemas.microsoft.com/office/drawing/2014/main" id="{F55B2ED7-E872-4DBD-A512-2BF93291C84B}"/>
              </a:ext>
            </a:extLst>
          </p:cNvPr>
          <p:cNvSpPr>
            <a:spLocks noGrp="1"/>
          </p:cNvSpPr>
          <p:nvPr>
            <p:ph type="title"/>
          </p:nvPr>
        </p:nvSpPr>
        <p:spPr>
          <a:xfrm>
            <a:off x="838200" y="365125"/>
            <a:ext cx="5393361" cy="1325563"/>
          </a:xfrm>
        </p:spPr>
        <p:txBody>
          <a:bodyPr>
            <a:normAutofit/>
          </a:bodyPr>
          <a:lstStyle/>
          <a:p>
            <a:r>
              <a:rPr lang="en-US"/>
              <a:t>3.1 Sơ đồ hệ thống</a:t>
            </a:r>
            <a:endParaRPr lang="en-US" dirty="0"/>
          </a:p>
        </p:txBody>
      </p:sp>
      <p:sp>
        <p:nvSpPr>
          <p:cNvPr id="16" name="Arc 15">
            <a:extLst>
              <a:ext uri="{FF2B5EF4-FFF2-40B4-BE49-F238E27FC236}">
                <a16:creationId xmlns:a16="http://schemas.microsoft.com/office/drawing/2014/main" id="{70BEB1E7-2F88-40BC-B73D-42E5B6F80BF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1189197" flipV="1">
            <a:off x="6261882" y="687822"/>
            <a:ext cx="5471147" cy="5471147"/>
          </a:xfrm>
          <a:prstGeom prst="arc">
            <a:avLst>
              <a:gd name="adj1" fmla="val 16200000"/>
              <a:gd name="adj2" fmla="val 20093138"/>
            </a:avLst>
          </a:prstGeom>
          <a:ln w="127000" cap="rnd">
            <a:solidFill>
              <a:schemeClr val="accent4">
                <a:alpha val="95000"/>
              </a:schemeClr>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18" name="Oval 17">
            <a:extLst>
              <a:ext uri="{FF2B5EF4-FFF2-40B4-BE49-F238E27FC236}">
                <a16:creationId xmlns:a16="http://schemas.microsoft.com/office/drawing/2014/main" id="{A7B99495-F43F-4D80-A44F-2CB4764EB9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248561" y="921125"/>
            <a:ext cx="791021" cy="769563"/>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panose="020F0502020204030204"/>
              <a:ea typeface="+mn-ea"/>
              <a:cs typeface="+mn-cs"/>
            </a:endParaRPr>
          </a:p>
        </p:txBody>
      </p:sp>
      <p:sp>
        <p:nvSpPr>
          <p:cNvPr id="7" name="TextBox 6">
            <a:extLst>
              <a:ext uri="{FF2B5EF4-FFF2-40B4-BE49-F238E27FC236}">
                <a16:creationId xmlns:a16="http://schemas.microsoft.com/office/drawing/2014/main" id="{AB1AA3CA-58C3-4574-BB48-ECAF6162BA95}"/>
              </a:ext>
            </a:extLst>
          </p:cNvPr>
          <p:cNvSpPr txBox="1"/>
          <p:nvPr/>
        </p:nvSpPr>
        <p:spPr>
          <a:xfrm>
            <a:off x="1348740" y="3596640"/>
            <a:ext cx="10005060" cy="1200329"/>
          </a:xfrm>
          <a:prstGeom prst="rect">
            <a:avLst/>
          </a:prstGeom>
          <a:noFill/>
        </p:spPr>
        <p:txBody>
          <a:bodyPr wrap="square" rtlCol="0">
            <a:spAutoFit/>
          </a:bodyPr>
          <a:lstStyle/>
          <a:p>
            <a:pPr marL="285750" indent="-285750">
              <a:buFont typeface="Arial" panose="020B0604020202020204" pitchFamily="34" charset="0"/>
              <a:buChar char="•"/>
            </a:pPr>
            <a:r>
              <a:rPr lang="en-US" dirty="0" err="1"/>
              <a:t>Thiết</a:t>
            </a:r>
            <a:r>
              <a:rPr lang="en-US" dirty="0"/>
              <a:t> </a:t>
            </a:r>
            <a:r>
              <a:rPr lang="en-US" dirty="0" err="1"/>
              <a:t>bị</a:t>
            </a:r>
            <a:r>
              <a:rPr lang="en-US" dirty="0"/>
              <a:t> IoT: </a:t>
            </a:r>
            <a:r>
              <a:rPr lang="en-US" dirty="0" err="1"/>
              <a:t>Liên</a:t>
            </a:r>
            <a:r>
              <a:rPr lang="en-US" dirty="0"/>
              <a:t> </a:t>
            </a:r>
            <a:r>
              <a:rPr lang="en-US" dirty="0" err="1"/>
              <a:t>quan</a:t>
            </a:r>
            <a:r>
              <a:rPr lang="en-US" dirty="0"/>
              <a:t> </a:t>
            </a:r>
            <a:r>
              <a:rPr lang="en-US" dirty="0" err="1"/>
              <a:t>đến</a:t>
            </a:r>
            <a:r>
              <a:rPr lang="en-US" dirty="0"/>
              <a:t> </a:t>
            </a:r>
            <a:r>
              <a:rPr lang="en-US" dirty="0" err="1"/>
              <a:t>lập</a:t>
            </a:r>
            <a:r>
              <a:rPr lang="en-US" dirty="0"/>
              <a:t> </a:t>
            </a:r>
            <a:r>
              <a:rPr lang="en-US" dirty="0" err="1"/>
              <a:t>trình</a:t>
            </a:r>
            <a:r>
              <a:rPr lang="en-US" dirty="0"/>
              <a:t> </a:t>
            </a:r>
            <a:r>
              <a:rPr lang="en-US" dirty="0" err="1"/>
              <a:t>cho</a:t>
            </a:r>
            <a:r>
              <a:rPr lang="en-US" dirty="0"/>
              <a:t> </a:t>
            </a:r>
            <a:r>
              <a:rPr lang="en-US" dirty="0" err="1"/>
              <a:t>NodeMCU</a:t>
            </a:r>
            <a:r>
              <a:rPr lang="en-US" dirty="0"/>
              <a:t> </a:t>
            </a:r>
            <a:r>
              <a:rPr lang="en-US" dirty="0" err="1"/>
              <a:t>để</a:t>
            </a:r>
            <a:r>
              <a:rPr lang="en-US" dirty="0"/>
              <a:t> </a:t>
            </a:r>
            <a:r>
              <a:rPr lang="en-US" dirty="0" err="1"/>
              <a:t>lấy</a:t>
            </a:r>
            <a:r>
              <a:rPr lang="en-US" dirty="0"/>
              <a:t>, </a:t>
            </a:r>
            <a:r>
              <a:rPr lang="en-US" dirty="0" err="1"/>
              <a:t>gửi</a:t>
            </a:r>
            <a:r>
              <a:rPr lang="en-US" dirty="0"/>
              <a:t> </a:t>
            </a:r>
            <a:r>
              <a:rPr lang="en-US" dirty="0" err="1"/>
              <a:t>dữ</a:t>
            </a:r>
            <a:r>
              <a:rPr lang="en-US" dirty="0"/>
              <a:t> </a:t>
            </a:r>
            <a:r>
              <a:rPr lang="en-US" dirty="0" err="1"/>
              <a:t>liệu</a:t>
            </a:r>
            <a:r>
              <a:rPr lang="en-US" dirty="0"/>
              <a:t> </a:t>
            </a:r>
            <a:r>
              <a:rPr lang="en-US" dirty="0" err="1"/>
              <a:t>và</a:t>
            </a:r>
            <a:r>
              <a:rPr lang="en-US" dirty="0"/>
              <a:t> </a:t>
            </a:r>
            <a:r>
              <a:rPr lang="en-US" dirty="0" err="1"/>
              <a:t>nhận</a:t>
            </a:r>
            <a:r>
              <a:rPr lang="en-US" dirty="0"/>
              <a:t> </a:t>
            </a:r>
            <a:r>
              <a:rPr lang="en-US" dirty="0" err="1"/>
              <a:t>lệnh</a:t>
            </a:r>
            <a:r>
              <a:rPr lang="en-US" dirty="0"/>
              <a:t> </a:t>
            </a:r>
            <a:r>
              <a:rPr lang="en-US" dirty="0" err="1"/>
              <a:t>từ</a:t>
            </a:r>
            <a:r>
              <a:rPr lang="en-US" dirty="0"/>
              <a:t> </a:t>
            </a:r>
            <a:r>
              <a:rPr lang="en-US" dirty="0" err="1"/>
              <a:t>phía</a:t>
            </a:r>
            <a:r>
              <a:rPr lang="en-US" dirty="0"/>
              <a:t> Broker Server</a:t>
            </a:r>
          </a:p>
          <a:p>
            <a:pPr marL="285750" indent="-285750">
              <a:buFont typeface="Arial" panose="020B0604020202020204" pitchFamily="34" charset="0"/>
              <a:buChar char="•"/>
            </a:pPr>
            <a:r>
              <a:rPr lang="en-US" dirty="0"/>
              <a:t>Broker Server: </a:t>
            </a:r>
            <a:r>
              <a:rPr lang="en-US" dirty="0" err="1"/>
              <a:t>Là</a:t>
            </a:r>
            <a:r>
              <a:rPr lang="en-US" dirty="0"/>
              <a:t> Server </a:t>
            </a:r>
            <a:r>
              <a:rPr lang="en-US" dirty="0" err="1"/>
              <a:t>trung</a:t>
            </a:r>
            <a:r>
              <a:rPr lang="en-US" dirty="0"/>
              <a:t> </a:t>
            </a:r>
            <a:r>
              <a:rPr lang="en-US" dirty="0" err="1"/>
              <a:t>gian</a:t>
            </a:r>
            <a:r>
              <a:rPr lang="en-US" dirty="0"/>
              <a:t> </a:t>
            </a:r>
            <a:r>
              <a:rPr lang="en-US" dirty="0" err="1"/>
              <a:t>truyền</a:t>
            </a:r>
            <a:r>
              <a:rPr lang="en-US" dirty="0"/>
              <a:t> </a:t>
            </a:r>
            <a:r>
              <a:rPr lang="en-US" dirty="0" err="1"/>
              <a:t>dữ</a:t>
            </a:r>
            <a:r>
              <a:rPr lang="en-US" dirty="0"/>
              <a:t> </a:t>
            </a:r>
            <a:r>
              <a:rPr lang="en-US" dirty="0" err="1"/>
              <a:t>liệu</a:t>
            </a:r>
            <a:r>
              <a:rPr lang="en-US" dirty="0"/>
              <a:t> qua </a:t>
            </a:r>
            <a:r>
              <a:rPr lang="en-US" dirty="0" err="1"/>
              <a:t>lại</a:t>
            </a:r>
            <a:r>
              <a:rPr lang="en-US" dirty="0"/>
              <a:t> </a:t>
            </a:r>
            <a:r>
              <a:rPr lang="en-US" dirty="0" err="1"/>
              <a:t>giữa</a:t>
            </a:r>
            <a:r>
              <a:rPr lang="en-US" dirty="0"/>
              <a:t> Web Server </a:t>
            </a:r>
            <a:r>
              <a:rPr lang="en-US" dirty="0" err="1"/>
              <a:t>và</a:t>
            </a:r>
            <a:r>
              <a:rPr lang="en-US" dirty="0"/>
              <a:t> </a:t>
            </a:r>
            <a:r>
              <a:rPr lang="en-US" dirty="0" err="1"/>
              <a:t>Thiết</a:t>
            </a:r>
            <a:r>
              <a:rPr lang="en-US" dirty="0"/>
              <a:t> </a:t>
            </a:r>
            <a:r>
              <a:rPr lang="en-US" dirty="0" err="1"/>
              <a:t>bị</a:t>
            </a:r>
            <a:r>
              <a:rPr lang="en-US" dirty="0"/>
              <a:t> IoT</a:t>
            </a:r>
          </a:p>
          <a:p>
            <a:pPr marL="285750" indent="-285750">
              <a:buFont typeface="Arial" panose="020B0604020202020204" pitchFamily="34" charset="0"/>
              <a:buChar char="•"/>
            </a:pPr>
            <a:r>
              <a:rPr lang="en-US" dirty="0"/>
              <a:t>Web Server: </a:t>
            </a:r>
            <a:r>
              <a:rPr lang="en-US" dirty="0" err="1"/>
              <a:t>Liên</a:t>
            </a:r>
            <a:r>
              <a:rPr lang="en-US" dirty="0"/>
              <a:t> </a:t>
            </a:r>
            <a:r>
              <a:rPr lang="en-US" dirty="0" err="1"/>
              <a:t>quan</a:t>
            </a:r>
            <a:r>
              <a:rPr lang="en-US" dirty="0"/>
              <a:t> </a:t>
            </a:r>
            <a:r>
              <a:rPr lang="en-US" dirty="0" err="1"/>
              <a:t>đến</a:t>
            </a:r>
            <a:r>
              <a:rPr lang="en-US" dirty="0"/>
              <a:t> </a:t>
            </a:r>
            <a:r>
              <a:rPr lang="en-US" dirty="0" err="1"/>
              <a:t>lập</a:t>
            </a:r>
            <a:r>
              <a:rPr lang="en-US" dirty="0"/>
              <a:t> </a:t>
            </a:r>
            <a:r>
              <a:rPr lang="en-US" dirty="0" err="1"/>
              <a:t>trình</a:t>
            </a:r>
            <a:r>
              <a:rPr lang="en-US" dirty="0"/>
              <a:t> </a:t>
            </a:r>
            <a:r>
              <a:rPr lang="en-US" dirty="0" err="1"/>
              <a:t>giao</a:t>
            </a:r>
            <a:r>
              <a:rPr lang="en-US" dirty="0"/>
              <a:t> </a:t>
            </a:r>
            <a:r>
              <a:rPr lang="en-US" dirty="0" err="1"/>
              <a:t>diện</a:t>
            </a:r>
            <a:r>
              <a:rPr lang="en-US" dirty="0"/>
              <a:t> </a:t>
            </a:r>
            <a:r>
              <a:rPr lang="en-US" dirty="0" err="1"/>
              <a:t>để</a:t>
            </a:r>
            <a:r>
              <a:rPr lang="en-US" dirty="0"/>
              <a:t> </a:t>
            </a:r>
            <a:r>
              <a:rPr lang="en-US" dirty="0" err="1"/>
              <a:t>hiển</a:t>
            </a:r>
            <a:r>
              <a:rPr lang="en-US" dirty="0"/>
              <a:t> </a:t>
            </a:r>
            <a:r>
              <a:rPr lang="en-US" dirty="0" err="1"/>
              <a:t>thị</a:t>
            </a:r>
            <a:r>
              <a:rPr lang="en-US" dirty="0"/>
              <a:t> </a:t>
            </a:r>
            <a:r>
              <a:rPr lang="en-US" dirty="0" err="1"/>
              <a:t>cho</a:t>
            </a:r>
            <a:r>
              <a:rPr lang="en-US" dirty="0"/>
              <a:t> </a:t>
            </a:r>
            <a:r>
              <a:rPr lang="en-US" dirty="0" err="1"/>
              <a:t>người</a:t>
            </a:r>
            <a:r>
              <a:rPr lang="en-US" dirty="0"/>
              <a:t> </a:t>
            </a:r>
            <a:r>
              <a:rPr lang="en-US" dirty="0" err="1"/>
              <a:t>dùng</a:t>
            </a:r>
            <a:r>
              <a:rPr lang="en-US" dirty="0"/>
              <a:t> </a:t>
            </a:r>
            <a:r>
              <a:rPr lang="en-US" dirty="0" err="1"/>
              <a:t>theo</a:t>
            </a:r>
            <a:r>
              <a:rPr lang="en-US" dirty="0"/>
              <a:t> </a:t>
            </a:r>
            <a:r>
              <a:rPr lang="en-US" dirty="0" err="1"/>
              <a:t>dõi</a:t>
            </a:r>
            <a:endParaRPr lang="en-US" dirty="0"/>
          </a:p>
        </p:txBody>
      </p:sp>
      <p:pic>
        <p:nvPicPr>
          <p:cNvPr id="12" name="Content Placeholder 11">
            <a:extLst>
              <a:ext uri="{FF2B5EF4-FFF2-40B4-BE49-F238E27FC236}">
                <a16:creationId xmlns:a16="http://schemas.microsoft.com/office/drawing/2014/main" id="{1CBFE72A-2E61-4C19-8CD2-561C9A15D6F0}"/>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2025967" y="1510400"/>
            <a:ext cx="7439025" cy="1533525"/>
          </a:xfrm>
        </p:spPr>
      </p:pic>
    </p:spTree>
    <p:extLst>
      <p:ext uri="{BB962C8B-B14F-4D97-AF65-F5344CB8AC3E}">
        <p14:creationId xmlns:p14="http://schemas.microsoft.com/office/powerpoint/2010/main" val="97665413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BB867FF-FC45-48F7-8104-F89BE54909F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reeform: Shape 9">
            <a:extLst>
              <a:ext uri="{FF2B5EF4-FFF2-40B4-BE49-F238E27FC236}">
                <a16:creationId xmlns:a16="http://schemas.microsoft.com/office/drawing/2014/main" id="{8BB56887-D0D5-4F0C-9E19-7247EB83C8B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208695" y="1"/>
            <a:ext cx="1135066" cy="477997"/>
          </a:xfrm>
          <a:custGeom>
            <a:avLst/>
            <a:gdLst>
              <a:gd name="connsiteX0" fmla="*/ 0 w 1135066"/>
              <a:gd name="connsiteY0" fmla="*/ 0 h 477997"/>
              <a:gd name="connsiteX1" fmla="*/ 1135066 w 1135066"/>
              <a:gd name="connsiteY1" fmla="*/ 0 h 477997"/>
              <a:gd name="connsiteX2" fmla="*/ 1133370 w 1135066"/>
              <a:gd name="connsiteY2" fmla="*/ 16827 h 477997"/>
              <a:gd name="connsiteX3" fmla="*/ 567533 w 1135066"/>
              <a:gd name="connsiteY3" fmla="*/ 477997 h 477997"/>
              <a:gd name="connsiteX4" fmla="*/ 1696 w 1135066"/>
              <a:gd name="connsiteY4" fmla="*/ 16827 h 4779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35066" h="477997">
                <a:moveTo>
                  <a:pt x="0" y="0"/>
                </a:moveTo>
                <a:lnTo>
                  <a:pt x="1135066" y="0"/>
                </a:lnTo>
                <a:lnTo>
                  <a:pt x="1133370" y="16827"/>
                </a:lnTo>
                <a:cubicBezTo>
                  <a:pt x="1079514" y="280016"/>
                  <a:pt x="846644" y="477997"/>
                  <a:pt x="567533" y="477997"/>
                </a:cubicBezTo>
                <a:cubicBezTo>
                  <a:pt x="288422" y="477997"/>
                  <a:pt x="55552" y="280016"/>
                  <a:pt x="1696" y="16827"/>
                </a:cubicBezTo>
                <a:close/>
              </a:path>
            </a:pathLst>
          </a:cu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641C0161-3961-47A7-ADFE-AA12E504DD35}"/>
              </a:ext>
            </a:extLst>
          </p:cNvPr>
          <p:cNvSpPr>
            <a:spLocks noGrp="1"/>
          </p:cNvSpPr>
          <p:nvPr>
            <p:ph type="title"/>
          </p:nvPr>
        </p:nvSpPr>
        <p:spPr>
          <a:xfrm>
            <a:off x="838200" y="365125"/>
            <a:ext cx="10515600" cy="1325563"/>
          </a:xfrm>
        </p:spPr>
        <p:txBody>
          <a:bodyPr>
            <a:normAutofit/>
          </a:bodyPr>
          <a:lstStyle/>
          <a:p>
            <a:r>
              <a:rPr lang="en-US" dirty="0"/>
              <a:t>3.1 </a:t>
            </a:r>
            <a:r>
              <a:rPr lang="en-US" dirty="0" err="1"/>
              <a:t>Sơ</a:t>
            </a:r>
            <a:r>
              <a:rPr lang="en-US" dirty="0"/>
              <a:t> </a:t>
            </a:r>
            <a:r>
              <a:rPr lang="en-US" dirty="0" err="1"/>
              <a:t>đồ</a:t>
            </a:r>
            <a:r>
              <a:rPr lang="en-US" dirty="0"/>
              <a:t> </a:t>
            </a:r>
            <a:r>
              <a:rPr lang="en-US" dirty="0" err="1"/>
              <a:t>hệ</a:t>
            </a:r>
            <a:r>
              <a:rPr lang="en-US" dirty="0"/>
              <a:t> </a:t>
            </a:r>
            <a:r>
              <a:rPr lang="en-US" dirty="0" err="1"/>
              <a:t>thống</a:t>
            </a:r>
            <a:endParaRPr lang="en-US" dirty="0"/>
          </a:p>
        </p:txBody>
      </p:sp>
      <p:sp>
        <p:nvSpPr>
          <p:cNvPr id="12" name="Arc 11">
            <a:extLst>
              <a:ext uri="{FF2B5EF4-FFF2-40B4-BE49-F238E27FC236}">
                <a16:creationId xmlns:a16="http://schemas.microsoft.com/office/drawing/2014/main" id="{081E4A58-353D-44AE-B2FC-2A74E2E400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V="1">
            <a:off x="555710" y="2183223"/>
            <a:ext cx="4083433"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3" name="Content Placeholder 2">
            <a:extLst>
              <a:ext uri="{FF2B5EF4-FFF2-40B4-BE49-F238E27FC236}">
                <a16:creationId xmlns:a16="http://schemas.microsoft.com/office/drawing/2014/main" id="{3E4306A2-65DE-499E-ACEF-C97C2EF0BA9F}"/>
              </a:ext>
            </a:extLst>
          </p:cNvPr>
          <p:cNvSpPr>
            <a:spLocks noGrp="1"/>
          </p:cNvSpPr>
          <p:nvPr>
            <p:ph idx="1"/>
          </p:nvPr>
        </p:nvSpPr>
        <p:spPr>
          <a:xfrm>
            <a:off x="838200" y="1825625"/>
            <a:ext cx="10515600" cy="4351338"/>
          </a:xfrm>
        </p:spPr>
        <p:txBody>
          <a:bodyPr>
            <a:normAutofit/>
          </a:bodyPr>
          <a:lstStyle/>
          <a:p>
            <a:r>
              <a:rPr lang="en-US" dirty="0" err="1"/>
              <a:t>Cảm</a:t>
            </a:r>
            <a:r>
              <a:rPr lang="en-US" dirty="0"/>
              <a:t> </a:t>
            </a:r>
            <a:r>
              <a:rPr lang="en-US" dirty="0" err="1"/>
              <a:t>biến</a:t>
            </a:r>
            <a:r>
              <a:rPr lang="en-US" dirty="0"/>
              <a:t> </a:t>
            </a:r>
            <a:r>
              <a:rPr lang="en-US" dirty="0" err="1"/>
              <a:t>nhiệt</a:t>
            </a:r>
            <a:r>
              <a:rPr lang="en-US" dirty="0"/>
              <a:t> </a:t>
            </a:r>
            <a:r>
              <a:rPr lang="en-US" dirty="0" err="1"/>
              <a:t>độ</a:t>
            </a:r>
            <a:r>
              <a:rPr lang="en-US" dirty="0"/>
              <a:t>, </a:t>
            </a:r>
            <a:r>
              <a:rPr lang="en-US" dirty="0" err="1"/>
              <a:t>độ</a:t>
            </a:r>
            <a:r>
              <a:rPr lang="en-US" dirty="0"/>
              <a:t> </a:t>
            </a:r>
            <a:r>
              <a:rPr lang="en-US" dirty="0" err="1"/>
              <a:t>ẩm</a:t>
            </a:r>
            <a:r>
              <a:rPr lang="en-US" dirty="0"/>
              <a:t> </a:t>
            </a:r>
            <a:r>
              <a:rPr lang="en-US" dirty="0" err="1"/>
              <a:t>gửi</a:t>
            </a:r>
            <a:r>
              <a:rPr lang="en-US" dirty="0"/>
              <a:t> </a:t>
            </a:r>
            <a:r>
              <a:rPr lang="en-US" dirty="0" err="1"/>
              <a:t>dữ</a:t>
            </a:r>
            <a:r>
              <a:rPr lang="en-US" dirty="0"/>
              <a:t> </a:t>
            </a:r>
            <a:r>
              <a:rPr lang="en-US" dirty="0" err="1"/>
              <a:t>liệu</a:t>
            </a:r>
            <a:r>
              <a:rPr lang="en-US" dirty="0"/>
              <a:t> </a:t>
            </a:r>
            <a:r>
              <a:rPr lang="en-US" dirty="0" err="1"/>
              <a:t>lên</a:t>
            </a:r>
            <a:r>
              <a:rPr lang="en-US" dirty="0"/>
              <a:t> </a:t>
            </a:r>
            <a:r>
              <a:rPr lang="en-US" dirty="0" err="1"/>
              <a:t>NodeMCU</a:t>
            </a:r>
            <a:endParaRPr lang="en-US" dirty="0"/>
          </a:p>
          <a:p>
            <a:r>
              <a:rPr lang="en-US" dirty="0" err="1"/>
              <a:t>NodeMCU</a:t>
            </a:r>
            <a:r>
              <a:rPr lang="en-US" dirty="0"/>
              <a:t> </a:t>
            </a:r>
            <a:r>
              <a:rPr lang="en-US" dirty="0" err="1"/>
              <a:t>sẽ</a:t>
            </a:r>
            <a:r>
              <a:rPr lang="en-US" dirty="0"/>
              <a:t> </a:t>
            </a:r>
            <a:r>
              <a:rPr lang="en-US" dirty="0" err="1"/>
              <a:t>gửi</a:t>
            </a:r>
            <a:r>
              <a:rPr lang="en-US" dirty="0"/>
              <a:t> </a:t>
            </a:r>
            <a:r>
              <a:rPr lang="en-US" dirty="0" err="1"/>
              <a:t>dữ</a:t>
            </a:r>
            <a:r>
              <a:rPr lang="en-US" dirty="0"/>
              <a:t> </a:t>
            </a:r>
            <a:r>
              <a:rPr lang="en-US" dirty="0" err="1"/>
              <a:t>liệu</a:t>
            </a:r>
            <a:r>
              <a:rPr lang="en-US" dirty="0"/>
              <a:t> </a:t>
            </a:r>
            <a:r>
              <a:rPr lang="en-US" dirty="0" err="1"/>
              <a:t>lên</a:t>
            </a:r>
            <a:r>
              <a:rPr lang="en-US" dirty="0"/>
              <a:t> MQTT Broker </a:t>
            </a:r>
            <a:r>
              <a:rPr lang="en-US" dirty="0" err="1"/>
              <a:t>thông</a:t>
            </a:r>
            <a:r>
              <a:rPr lang="en-US" dirty="0"/>
              <a:t> qua </a:t>
            </a:r>
            <a:r>
              <a:rPr lang="en-US" dirty="0" err="1"/>
              <a:t>Wifi</a:t>
            </a:r>
            <a:endParaRPr lang="en-US" dirty="0"/>
          </a:p>
          <a:p>
            <a:r>
              <a:rPr lang="en-US" dirty="0"/>
              <a:t>Web server </a:t>
            </a:r>
            <a:r>
              <a:rPr lang="en-US" dirty="0" err="1"/>
              <a:t>sẽ</a:t>
            </a:r>
            <a:r>
              <a:rPr lang="en-US" dirty="0"/>
              <a:t> </a:t>
            </a:r>
            <a:r>
              <a:rPr lang="en-US" dirty="0" err="1"/>
              <a:t>cập</a:t>
            </a:r>
            <a:r>
              <a:rPr lang="en-US" dirty="0"/>
              <a:t> </a:t>
            </a:r>
            <a:r>
              <a:rPr lang="en-US" dirty="0" err="1"/>
              <a:t>nhật</a:t>
            </a:r>
            <a:r>
              <a:rPr lang="en-US" dirty="0"/>
              <a:t> </a:t>
            </a:r>
            <a:r>
              <a:rPr lang="en-US" dirty="0" err="1"/>
              <a:t>dữ</a:t>
            </a:r>
            <a:r>
              <a:rPr lang="en-US" dirty="0"/>
              <a:t> </a:t>
            </a:r>
            <a:r>
              <a:rPr lang="en-US" dirty="0" err="1"/>
              <a:t>liệu</a:t>
            </a:r>
            <a:r>
              <a:rPr lang="en-US" dirty="0"/>
              <a:t> </a:t>
            </a:r>
            <a:r>
              <a:rPr lang="en-US" dirty="0" err="1"/>
              <a:t>mới</a:t>
            </a:r>
            <a:r>
              <a:rPr lang="en-US" dirty="0"/>
              <a:t> </a:t>
            </a:r>
            <a:r>
              <a:rPr lang="en-US" dirty="0" err="1"/>
              <a:t>nhất</a:t>
            </a:r>
            <a:r>
              <a:rPr lang="en-US" dirty="0"/>
              <a:t> </a:t>
            </a:r>
            <a:r>
              <a:rPr lang="en-US" dirty="0" err="1"/>
              <a:t>từ</a:t>
            </a:r>
            <a:r>
              <a:rPr lang="en-US" dirty="0"/>
              <a:t> MQTT Broker do </a:t>
            </a:r>
            <a:r>
              <a:rPr lang="en-US" dirty="0" err="1"/>
              <a:t>đã</a:t>
            </a:r>
            <a:r>
              <a:rPr lang="en-US" dirty="0"/>
              <a:t> subscribe 1 </a:t>
            </a:r>
            <a:r>
              <a:rPr lang="en-US" dirty="0" err="1"/>
              <a:t>kênh</a:t>
            </a:r>
            <a:r>
              <a:rPr lang="en-US" dirty="0"/>
              <a:t> </a:t>
            </a:r>
            <a:r>
              <a:rPr lang="en-US" dirty="0" err="1"/>
              <a:t>trước</a:t>
            </a:r>
            <a:r>
              <a:rPr lang="en-US" dirty="0"/>
              <a:t> </a:t>
            </a:r>
            <a:r>
              <a:rPr lang="en-US" dirty="0" err="1"/>
              <a:t>đấy</a:t>
            </a:r>
            <a:r>
              <a:rPr lang="en-US" dirty="0"/>
              <a:t>.</a:t>
            </a:r>
          </a:p>
        </p:txBody>
      </p:sp>
    </p:spTree>
    <p:extLst>
      <p:ext uri="{BB962C8B-B14F-4D97-AF65-F5344CB8AC3E}">
        <p14:creationId xmlns:p14="http://schemas.microsoft.com/office/powerpoint/2010/main" val="70610240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907EF6B7-1338-4443-8C46-6A318D952D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reeform: Shape 9">
            <a:extLst>
              <a:ext uri="{FF2B5EF4-FFF2-40B4-BE49-F238E27FC236}">
                <a16:creationId xmlns:a16="http://schemas.microsoft.com/office/drawing/2014/main" id="{DAAE4CDD-124C-4DCF-9584-B6033B545D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4167271" cy="6858000"/>
          </a:xfrm>
          <a:custGeom>
            <a:avLst/>
            <a:gdLst>
              <a:gd name="connsiteX0" fmla="*/ 0 w 4167271"/>
              <a:gd name="connsiteY0" fmla="*/ 0 h 6858000"/>
              <a:gd name="connsiteX1" fmla="*/ 2259550 w 4167271"/>
              <a:gd name="connsiteY1" fmla="*/ 0 h 6858000"/>
              <a:gd name="connsiteX2" fmla="*/ 2387803 w 4167271"/>
              <a:gd name="connsiteY2" fmla="*/ 82222 h 6858000"/>
              <a:gd name="connsiteX3" fmla="*/ 4167271 w 4167271"/>
              <a:gd name="connsiteY3" fmla="*/ 3429000 h 6858000"/>
              <a:gd name="connsiteX4" fmla="*/ 2387803 w 4167271"/>
              <a:gd name="connsiteY4" fmla="*/ 6775779 h 6858000"/>
              <a:gd name="connsiteX5" fmla="*/ 2259550 w 4167271"/>
              <a:gd name="connsiteY5" fmla="*/ 6858000 h 6858000"/>
              <a:gd name="connsiteX6" fmla="*/ 0 w 4167271"/>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167271" h="6858000">
                <a:moveTo>
                  <a:pt x="0" y="0"/>
                </a:moveTo>
                <a:lnTo>
                  <a:pt x="2259550" y="0"/>
                </a:lnTo>
                <a:lnTo>
                  <a:pt x="2387803" y="82222"/>
                </a:lnTo>
                <a:cubicBezTo>
                  <a:pt x="3461407" y="807534"/>
                  <a:pt x="4167271" y="2035835"/>
                  <a:pt x="4167271" y="3429000"/>
                </a:cubicBezTo>
                <a:cubicBezTo>
                  <a:pt x="4167271" y="4822165"/>
                  <a:pt x="3461407" y="6050467"/>
                  <a:pt x="2387803" y="6775779"/>
                </a:cubicBezTo>
                <a:lnTo>
                  <a:pt x="2259550" y="6858000"/>
                </a:lnTo>
                <a:lnTo>
                  <a:pt x="0" y="685800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E81A933-8290-4AC2-A6E9-B16302B519FB}"/>
              </a:ext>
            </a:extLst>
          </p:cNvPr>
          <p:cNvSpPr>
            <a:spLocks noGrp="1"/>
          </p:cNvSpPr>
          <p:nvPr>
            <p:ph type="title"/>
          </p:nvPr>
        </p:nvSpPr>
        <p:spPr>
          <a:xfrm>
            <a:off x="686834" y="1153572"/>
            <a:ext cx="3200400" cy="4461163"/>
          </a:xfrm>
        </p:spPr>
        <p:txBody>
          <a:bodyPr>
            <a:normAutofit/>
          </a:bodyPr>
          <a:lstStyle/>
          <a:p>
            <a:r>
              <a:rPr lang="en-US" dirty="0">
                <a:solidFill>
                  <a:srgbClr val="FFFFFF"/>
                </a:solidFill>
              </a:rPr>
              <a:t>4. </a:t>
            </a:r>
            <a:r>
              <a:rPr lang="en-US" dirty="0" err="1">
                <a:solidFill>
                  <a:srgbClr val="FFFFFF"/>
                </a:solidFill>
              </a:rPr>
              <a:t>Bảo</a:t>
            </a:r>
            <a:r>
              <a:rPr lang="en-US" dirty="0">
                <a:solidFill>
                  <a:srgbClr val="FFFFFF"/>
                </a:solidFill>
              </a:rPr>
              <a:t> </a:t>
            </a:r>
            <a:r>
              <a:rPr lang="en-US" dirty="0" err="1">
                <a:solidFill>
                  <a:srgbClr val="FFFFFF"/>
                </a:solidFill>
              </a:rPr>
              <a:t>mật</a:t>
            </a:r>
            <a:r>
              <a:rPr lang="en-US" dirty="0">
                <a:solidFill>
                  <a:srgbClr val="FFFFFF"/>
                </a:solidFill>
              </a:rPr>
              <a:t> </a:t>
            </a:r>
            <a:r>
              <a:rPr lang="en-US" dirty="0" err="1">
                <a:solidFill>
                  <a:srgbClr val="FFFFFF"/>
                </a:solidFill>
              </a:rPr>
              <a:t>hệ</a:t>
            </a:r>
            <a:r>
              <a:rPr lang="en-US" dirty="0">
                <a:solidFill>
                  <a:srgbClr val="FFFFFF"/>
                </a:solidFill>
              </a:rPr>
              <a:t> </a:t>
            </a:r>
            <a:r>
              <a:rPr lang="en-US" dirty="0" err="1">
                <a:solidFill>
                  <a:srgbClr val="FFFFFF"/>
                </a:solidFill>
              </a:rPr>
              <a:t>thống</a:t>
            </a:r>
            <a:endParaRPr lang="en-US" dirty="0">
              <a:solidFill>
                <a:srgbClr val="FFFFFF"/>
              </a:solidFill>
            </a:endParaRPr>
          </a:p>
        </p:txBody>
      </p:sp>
      <p:sp>
        <p:nvSpPr>
          <p:cNvPr id="12" name="Arc 11">
            <a:extLst>
              <a:ext uri="{FF2B5EF4-FFF2-40B4-BE49-F238E27FC236}">
                <a16:creationId xmlns:a16="http://schemas.microsoft.com/office/drawing/2014/main" id="{081E4A58-353D-44AE-B2FC-2A74E2E400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7550402" y="2455479"/>
            <a:ext cx="4083433"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3" name="Content Placeholder 2">
            <a:extLst>
              <a:ext uri="{FF2B5EF4-FFF2-40B4-BE49-F238E27FC236}">
                <a16:creationId xmlns:a16="http://schemas.microsoft.com/office/drawing/2014/main" id="{C7D5B462-3CF3-4276-8456-A2FD4D12A00A}"/>
              </a:ext>
            </a:extLst>
          </p:cNvPr>
          <p:cNvSpPr>
            <a:spLocks noGrp="1"/>
          </p:cNvSpPr>
          <p:nvPr>
            <p:ph idx="1"/>
          </p:nvPr>
        </p:nvSpPr>
        <p:spPr>
          <a:xfrm>
            <a:off x="4447308" y="591344"/>
            <a:ext cx="6906491" cy="5585619"/>
          </a:xfrm>
        </p:spPr>
        <p:txBody>
          <a:bodyPr anchor="ctr">
            <a:normAutofit/>
          </a:bodyPr>
          <a:lstStyle/>
          <a:p>
            <a:r>
              <a:rPr lang="en-US" dirty="0" err="1"/>
              <a:t>Mã</a:t>
            </a:r>
            <a:r>
              <a:rPr lang="en-US" dirty="0"/>
              <a:t> </a:t>
            </a:r>
            <a:r>
              <a:rPr lang="en-US" dirty="0" err="1"/>
              <a:t>hóa</a:t>
            </a:r>
            <a:r>
              <a:rPr lang="en-US" dirty="0"/>
              <a:t> </a:t>
            </a:r>
            <a:r>
              <a:rPr lang="en-US" dirty="0" err="1"/>
              <a:t>dữ</a:t>
            </a:r>
            <a:r>
              <a:rPr lang="en-US" dirty="0"/>
              <a:t> </a:t>
            </a:r>
            <a:r>
              <a:rPr lang="en-US" dirty="0" err="1"/>
              <a:t>liệu</a:t>
            </a:r>
            <a:r>
              <a:rPr lang="en-US" dirty="0"/>
              <a:t> </a:t>
            </a:r>
            <a:r>
              <a:rPr lang="en-US" dirty="0" err="1"/>
              <a:t>truyền</a:t>
            </a:r>
            <a:r>
              <a:rPr lang="en-US" dirty="0"/>
              <a:t> </a:t>
            </a:r>
            <a:r>
              <a:rPr lang="en-US" dirty="0" err="1"/>
              <a:t>đi</a:t>
            </a:r>
            <a:r>
              <a:rPr lang="en-US" dirty="0"/>
              <a:t> </a:t>
            </a:r>
            <a:r>
              <a:rPr lang="en-US" dirty="0" err="1"/>
              <a:t>từ</a:t>
            </a:r>
            <a:r>
              <a:rPr lang="en-US" dirty="0"/>
              <a:t> </a:t>
            </a:r>
            <a:r>
              <a:rPr lang="en-US" dirty="0" err="1"/>
              <a:t>thiết</a:t>
            </a:r>
            <a:r>
              <a:rPr lang="en-US" dirty="0"/>
              <a:t> </a:t>
            </a:r>
            <a:r>
              <a:rPr lang="en-US" dirty="0" err="1"/>
              <a:t>bị</a:t>
            </a:r>
            <a:r>
              <a:rPr lang="en-US" dirty="0"/>
              <a:t> </a:t>
            </a:r>
            <a:r>
              <a:rPr lang="en-US" dirty="0" err="1"/>
              <a:t>thông</a:t>
            </a:r>
            <a:r>
              <a:rPr lang="en-US" dirty="0"/>
              <a:t> </a:t>
            </a:r>
            <a:r>
              <a:rPr lang="en-US" dirty="0" err="1"/>
              <a:t>minh</a:t>
            </a:r>
            <a:r>
              <a:rPr lang="en-US" dirty="0"/>
              <a:t>.</a:t>
            </a:r>
          </a:p>
          <a:p>
            <a:r>
              <a:rPr lang="en-US" dirty="0" err="1"/>
              <a:t>Xác</a:t>
            </a:r>
            <a:r>
              <a:rPr lang="en-US" dirty="0"/>
              <a:t> </a:t>
            </a:r>
            <a:r>
              <a:rPr lang="en-US" dirty="0" err="1"/>
              <a:t>thực</a:t>
            </a:r>
            <a:r>
              <a:rPr lang="en-US" dirty="0"/>
              <a:t> </a:t>
            </a:r>
            <a:r>
              <a:rPr lang="en-US" dirty="0" err="1"/>
              <a:t>thiết</a:t>
            </a:r>
            <a:r>
              <a:rPr lang="en-US" dirty="0"/>
              <a:t> </a:t>
            </a:r>
            <a:r>
              <a:rPr lang="en-US" dirty="0" err="1"/>
              <a:t>bị</a:t>
            </a:r>
            <a:r>
              <a:rPr lang="en-US" dirty="0"/>
              <a:t> </a:t>
            </a:r>
            <a:r>
              <a:rPr lang="en-US" dirty="0" err="1"/>
              <a:t>thông</a:t>
            </a:r>
            <a:r>
              <a:rPr lang="en-US" dirty="0"/>
              <a:t> </a:t>
            </a:r>
            <a:r>
              <a:rPr lang="en-US" dirty="0" err="1"/>
              <a:t>minh</a:t>
            </a:r>
            <a:r>
              <a:rPr lang="en-US" dirty="0"/>
              <a:t> </a:t>
            </a:r>
            <a:r>
              <a:rPr lang="en-US" dirty="0" err="1"/>
              <a:t>với</a:t>
            </a:r>
            <a:r>
              <a:rPr lang="en-US" dirty="0"/>
              <a:t> server.</a:t>
            </a:r>
          </a:p>
          <a:p>
            <a:r>
              <a:rPr lang="en-US" dirty="0" err="1"/>
              <a:t>Một</a:t>
            </a:r>
            <a:r>
              <a:rPr lang="en-US" dirty="0"/>
              <a:t> </a:t>
            </a:r>
            <a:r>
              <a:rPr lang="en-US" dirty="0" err="1"/>
              <a:t>số</a:t>
            </a:r>
            <a:r>
              <a:rPr lang="en-US" dirty="0"/>
              <a:t> </a:t>
            </a:r>
            <a:r>
              <a:rPr lang="en-US" dirty="0" err="1"/>
              <a:t>cách</a:t>
            </a:r>
            <a:r>
              <a:rPr lang="en-US" dirty="0"/>
              <a:t> </a:t>
            </a:r>
            <a:r>
              <a:rPr lang="en-US" dirty="0" err="1"/>
              <a:t>khác</a:t>
            </a:r>
            <a:endParaRPr lang="en-US" dirty="0"/>
          </a:p>
          <a:p>
            <a:endParaRPr lang="en-US" dirty="0"/>
          </a:p>
        </p:txBody>
      </p:sp>
    </p:spTree>
    <p:extLst>
      <p:ext uri="{BB962C8B-B14F-4D97-AF65-F5344CB8AC3E}">
        <p14:creationId xmlns:p14="http://schemas.microsoft.com/office/powerpoint/2010/main" val="239233862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BB867FF-FC45-48F7-8104-F89BE54909F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reeform: Shape 9">
            <a:extLst>
              <a:ext uri="{FF2B5EF4-FFF2-40B4-BE49-F238E27FC236}">
                <a16:creationId xmlns:a16="http://schemas.microsoft.com/office/drawing/2014/main" id="{8BB56887-D0D5-4F0C-9E19-7247EB83C8B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208695" y="1"/>
            <a:ext cx="1135066" cy="477997"/>
          </a:xfrm>
          <a:custGeom>
            <a:avLst/>
            <a:gdLst>
              <a:gd name="connsiteX0" fmla="*/ 0 w 1135066"/>
              <a:gd name="connsiteY0" fmla="*/ 0 h 477997"/>
              <a:gd name="connsiteX1" fmla="*/ 1135066 w 1135066"/>
              <a:gd name="connsiteY1" fmla="*/ 0 h 477997"/>
              <a:gd name="connsiteX2" fmla="*/ 1133370 w 1135066"/>
              <a:gd name="connsiteY2" fmla="*/ 16827 h 477997"/>
              <a:gd name="connsiteX3" fmla="*/ 567533 w 1135066"/>
              <a:gd name="connsiteY3" fmla="*/ 477997 h 477997"/>
              <a:gd name="connsiteX4" fmla="*/ 1696 w 1135066"/>
              <a:gd name="connsiteY4" fmla="*/ 16827 h 4779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35066" h="477997">
                <a:moveTo>
                  <a:pt x="0" y="0"/>
                </a:moveTo>
                <a:lnTo>
                  <a:pt x="1135066" y="0"/>
                </a:lnTo>
                <a:lnTo>
                  <a:pt x="1133370" y="16827"/>
                </a:lnTo>
                <a:cubicBezTo>
                  <a:pt x="1079514" y="280016"/>
                  <a:pt x="846644" y="477997"/>
                  <a:pt x="567533" y="477997"/>
                </a:cubicBezTo>
                <a:cubicBezTo>
                  <a:pt x="288422" y="477997"/>
                  <a:pt x="55552" y="280016"/>
                  <a:pt x="1696" y="16827"/>
                </a:cubicBezTo>
                <a:close/>
              </a:path>
            </a:pathLst>
          </a:cu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B187F106-C019-4B77-995A-50D77190ABAC}"/>
              </a:ext>
            </a:extLst>
          </p:cNvPr>
          <p:cNvSpPr>
            <a:spLocks noGrp="1"/>
          </p:cNvSpPr>
          <p:nvPr>
            <p:ph type="title"/>
          </p:nvPr>
        </p:nvSpPr>
        <p:spPr>
          <a:xfrm>
            <a:off x="838200" y="365125"/>
            <a:ext cx="10515600" cy="1325563"/>
          </a:xfrm>
        </p:spPr>
        <p:txBody>
          <a:bodyPr>
            <a:normAutofit/>
          </a:bodyPr>
          <a:lstStyle/>
          <a:p>
            <a:r>
              <a:rPr lang="en-US" dirty="0"/>
              <a:t>4.1 </a:t>
            </a:r>
            <a:r>
              <a:rPr lang="en-US" dirty="0" err="1"/>
              <a:t>Mã</a:t>
            </a:r>
            <a:r>
              <a:rPr lang="en-US" dirty="0"/>
              <a:t> </a:t>
            </a:r>
            <a:r>
              <a:rPr lang="en-US" dirty="0" err="1"/>
              <a:t>hóa</a:t>
            </a:r>
            <a:r>
              <a:rPr lang="en-US" dirty="0"/>
              <a:t> </a:t>
            </a:r>
            <a:r>
              <a:rPr lang="en-US" dirty="0" err="1"/>
              <a:t>dữ</a:t>
            </a:r>
            <a:r>
              <a:rPr lang="en-US" dirty="0"/>
              <a:t> </a:t>
            </a:r>
            <a:r>
              <a:rPr lang="en-US" dirty="0" err="1"/>
              <a:t>liệu</a:t>
            </a:r>
            <a:r>
              <a:rPr lang="en-US" dirty="0"/>
              <a:t> </a:t>
            </a:r>
            <a:r>
              <a:rPr lang="en-US" dirty="0" err="1"/>
              <a:t>đường</a:t>
            </a:r>
            <a:r>
              <a:rPr lang="en-US" dirty="0"/>
              <a:t> </a:t>
            </a:r>
            <a:r>
              <a:rPr lang="en-US" dirty="0" err="1"/>
              <a:t>truyền</a:t>
            </a:r>
            <a:r>
              <a:rPr lang="en-US" dirty="0"/>
              <a:t> </a:t>
            </a:r>
          </a:p>
        </p:txBody>
      </p:sp>
      <p:sp>
        <p:nvSpPr>
          <p:cNvPr id="12" name="Arc 11">
            <a:extLst>
              <a:ext uri="{FF2B5EF4-FFF2-40B4-BE49-F238E27FC236}">
                <a16:creationId xmlns:a16="http://schemas.microsoft.com/office/drawing/2014/main" id="{081E4A58-353D-44AE-B2FC-2A74E2E400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V="1">
            <a:off x="555710" y="2183223"/>
            <a:ext cx="4083433"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3" name="Content Placeholder 2">
            <a:extLst>
              <a:ext uri="{FF2B5EF4-FFF2-40B4-BE49-F238E27FC236}">
                <a16:creationId xmlns:a16="http://schemas.microsoft.com/office/drawing/2014/main" id="{97FB89DB-0962-496E-8AEF-E6EAD814CD69}"/>
              </a:ext>
            </a:extLst>
          </p:cNvPr>
          <p:cNvSpPr>
            <a:spLocks noGrp="1"/>
          </p:cNvSpPr>
          <p:nvPr>
            <p:ph idx="1"/>
          </p:nvPr>
        </p:nvSpPr>
        <p:spPr>
          <a:xfrm>
            <a:off x="838200" y="1825625"/>
            <a:ext cx="10515600" cy="4351338"/>
          </a:xfrm>
        </p:spPr>
        <p:txBody>
          <a:bodyPr>
            <a:normAutofit/>
          </a:bodyPr>
          <a:lstStyle/>
          <a:p>
            <a:r>
              <a:rPr lang="en-US" dirty="0"/>
              <a:t>AES (Advanced Encryption Standard) </a:t>
            </a:r>
            <a:r>
              <a:rPr lang="en-US" dirty="0" err="1"/>
              <a:t>là</a:t>
            </a:r>
            <a:r>
              <a:rPr lang="en-US" dirty="0"/>
              <a:t> </a:t>
            </a:r>
            <a:r>
              <a:rPr lang="en-US" dirty="0" err="1"/>
              <a:t>một</a:t>
            </a:r>
            <a:r>
              <a:rPr lang="en-US" dirty="0"/>
              <a:t> </a:t>
            </a:r>
            <a:r>
              <a:rPr lang="en-US" dirty="0" err="1"/>
              <a:t>thuật</a:t>
            </a:r>
            <a:r>
              <a:rPr lang="en-US" dirty="0"/>
              <a:t> </a:t>
            </a:r>
            <a:r>
              <a:rPr lang="en-US" dirty="0" err="1"/>
              <a:t>toán</a:t>
            </a:r>
            <a:r>
              <a:rPr lang="en-US" dirty="0"/>
              <a:t> </a:t>
            </a:r>
            <a:r>
              <a:rPr lang="en-US" dirty="0" err="1"/>
              <a:t>mã</a:t>
            </a:r>
            <a:r>
              <a:rPr lang="en-US" dirty="0"/>
              <a:t> </a:t>
            </a:r>
            <a:r>
              <a:rPr lang="en-US" dirty="0" err="1"/>
              <a:t>hóa</a:t>
            </a:r>
            <a:r>
              <a:rPr lang="en-US" dirty="0"/>
              <a:t> </a:t>
            </a:r>
            <a:r>
              <a:rPr lang="en-US" dirty="0" err="1"/>
              <a:t>khỗi</a:t>
            </a:r>
            <a:r>
              <a:rPr lang="en-US" dirty="0"/>
              <a:t> </a:t>
            </a:r>
            <a:r>
              <a:rPr lang="en-US" dirty="0" err="1"/>
              <a:t>được</a:t>
            </a:r>
            <a:r>
              <a:rPr lang="en-US" dirty="0"/>
              <a:t> </a:t>
            </a:r>
            <a:r>
              <a:rPr lang="en-US" dirty="0" err="1"/>
              <a:t>chính</a:t>
            </a:r>
            <a:r>
              <a:rPr lang="en-US" dirty="0"/>
              <a:t> </a:t>
            </a:r>
            <a:r>
              <a:rPr lang="en-US" dirty="0" err="1"/>
              <a:t>phủ</a:t>
            </a:r>
            <a:r>
              <a:rPr lang="en-US" dirty="0"/>
              <a:t> </a:t>
            </a:r>
            <a:r>
              <a:rPr lang="en-US" dirty="0" err="1"/>
              <a:t>Hoa</a:t>
            </a:r>
            <a:r>
              <a:rPr lang="en-US" dirty="0"/>
              <a:t> </a:t>
            </a:r>
            <a:r>
              <a:rPr lang="en-US" dirty="0" err="1"/>
              <a:t>Kỳ</a:t>
            </a:r>
            <a:r>
              <a:rPr lang="en-US" dirty="0"/>
              <a:t> </a:t>
            </a:r>
            <a:r>
              <a:rPr lang="en-US" dirty="0" err="1"/>
              <a:t>áp</a:t>
            </a:r>
            <a:r>
              <a:rPr lang="en-US" dirty="0"/>
              <a:t> </a:t>
            </a:r>
            <a:r>
              <a:rPr lang="en-US" dirty="0" err="1"/>
              <a:t>dụng</a:t>
            </a:r>
            <a:r>
              <a:rPr lang="en-US" dirty="0"/>
              <a:t> </a:t>
            </a:r>
            <a:r>
              <a:rPr lang="en-US" dirty="0" err="1"/>
              <a:t>làm</a:t>
            </a:r>
            <a:r>
              <a:rPr lang="en-US" dirty="0"/>
              <a:t> </a:t>
            </a:r>
            <a:r>
              <a:rPr lang="en-US" dirty="0" err="1"/>
              <a:t>tiêu</a:t>
            </a:r>
            <a:r>
              <a:rPr lang="en-US" dirty="0"/>
              <a:t> </a:t>
            </a:r>
            <a:r>
              <a:rPr lang="en-US" dirty="0" err="1"/>
              <a:t>chuẩn</a:t>
            </a:r>
            <a:r>
              <a:rPr lang="en-US" dirty="0"/>
              <a:t> </a:t>
            </a:r>
            <a:r>
              <a:rPr lang="en-US" dirty="0" err="1"/>
              <a:t>mã</a:t>
            </a:r>
            <a:r>
              <a:rPr lang="en-US" dirty="0"/>
              <a:t> </a:t>
            </a:r>
            <a:r>
              <a:rPr lang="en-US" dirty="0" err="1"/>
              <a:t>hóa</a:t>
            </a:r>
            <a:r>
              <a:rPr lang="en-US" dirty="0"/>
              <a:t>. </a:t>
            </a:r>
          </a:p>
          <a:p>
            <a:r>
              <a:rPr lang="en-US" dirty="0"/>
              <a:t>Khi </a:t>
            </a:r>
            <a:r>
              <a:rPr lang="en-US" dirty="0" err="1"/>
              <a:t>cài</a:t>
            </a:r>
            <a:r>
              <a:rPr lang="en-US" dirty="0"/>
              <a:t> </a:t>
            </a:r>
            <a:r>
              <a:rPr lang="en-US" dirty="0" err="1"/>
              <a:t>đặt</a:t>
            </a:r>
            <a:r>
              <a:rPr lang="en-US" dirty="0"/>
              <a:t> </a:t>
            </a:r>
            <a:r>
              <a:rPr lang="en-US" dirty="0" err="1"/>
              <a:t>thuật</a:t>
            </a:r>
            <a:r>
              <a:rPr lang="en-US" dirty="0"/>
              <a:t> </a:t>
            </a:r>
            <a:r>
              <a:rPr lang="en-US" dirty="0" err="1"/>
              <a:t>toán</a:t>
            </a:r>
            <a:r>
              <a:rPr lang="en-US" dirty="0"/>
              <a:t> </a:t>
            </a:r>
            <a:r>
              <a:rPr lang="en-US" dirty="0" err="1"/>
              <a:t>mã</a:t>
            </a:r>
            <a:r>
              <a:rPr lang="en-US" dirty="0"/>
              <a:t> AES </a:t>
            </a:r>
            <a:r>
              <a:rPr lang="en-US" dirty="0" err="1"/>
              <a:t>người</a:t>
            </a:r>
            <a:r>
              <a:rPr lang="en-US" dirty="0"/>
              <a:t> ta </a:t>
            </a:r>
            <a:r>
              <a:rPr lang="en-US" dirty="0" err="1"/>
              <a:t>thường</a:t>
            </a:r>
            <a:r>
              <a:rPr lang="en-US" dirty="0"/>
              <a:t> </a:t>
            </a:r>
            <a:r>
              <a:rPr lang="en-US" dirty="0" err="1"/>
              <a:t>không</a:t>
            </a:r>
            <a:r>
              <a:rPr lang="en-US" dirty="0"/>
              <a:t> </a:t>
            </a:r>
            <a:r>
              <a:rPr lang="en-US" dirty="0" err="1"/>
              <a:t>sử</a:t>
            </a:r>
            <a:r>
              <a:rPr lang="en-US" dirty="0"/>
              <a:t> </a:t>
            </a:r>
            <a:r>
              <a:rPr lang="en-US" dirty="0" err="1"/>
              <a:t>dụng</a:t>
            </a:r>
            <a:r>
              <a:rPr lang="en-US" dirty="0"/>
              <a:t> ở </a:t>
            </a:r>
            <a:r>
              <a:rPr lang="en-US" dirty="0" err="1"/>
              <a:t>dạng</a:t>
            </a:r>
            <a:r>
              <a:rPr lang="en-US" dirty="0"/>
              <a:t> </a:t>
            </a:r>
            <a:r>
              <a:rPr lang="en-US" dirty="0" err="1"/>
              <a:t>nguyên</a:t>
            </a:r>
            <a:r>
              <a:rPr lang="en-US" dirty="0"/>
              <a:t> </a:t>
            </a:r>
            <a:r>
              <a:rPr lang="en-US" dirty="0" err="1"/>
              <a:t>gốc</a:t>
            </a:r>
            <a:r>
              <a:rPr lang="en-US" dirty="0"/>
              <a:t>. AES </a:t>
            </a:r>
            <a:r>
              <a:rPr lang="en-US" dirty="0" err="1"/>
              <a:t>thường</a:t>
            </a:r>
            <a:r>
              <a:rPr lang="en-US" dirty="0"/>
              <a:t> </a:t>
            </a:r>
            <a:r>
              <a:rPr lang="en-US" dirty="0" err="1"/>
              <a:t>hoạt</a:t>
            </a:r>
            <a:r>
              <a:rPr lang="en-US" dirty="0"/>
              <a:t> </a:t>
            </a:r>
            <a:r>
              <a:rPr lang="en-US" dirty="0" err="1"/>
              <a:t>động</a:t>
            </a:r>
            <a:r>
              <a:rPr lang="en-US" dirty="0"/>
              <a:t> ở 4 </a:t>
            </a:r>
            <a:r>
              <a:rPr lang="en-US" dirty="0" err="1"/>
              <a:t>ché</a:t>
            </a:r>
            <a:r>
              <a:rPr lang="en-US" dirty="0"/>
              <a:t> </a:t>
            </a:r>
            <a:r>
              <a:rPr lang="en-US" dirty="0" err="1"/>
              <a:t>độ</a:t>
            </a:r>
            <a:r>
              <a:rPr lang="en-US" dirty="0"/>
              <a:t> </a:t>
            </a:r>
            <a:r>
              <a:rPr lang="en-US" dirty="0" err="1"/>
              <a:t>cơ</a:t>
            </a:r>
            <a:r>
              <a:rPr lang="en-US" dirty="0"/>
              <a:t> </a:t>
            </a:r>
            <a:r>
              <a:rPr lang="en-US" dirty="0" err="1"/>
              <a:t>bản</a:t>
            </a:r>
            <a:r>
              <a:rPr lang="en-US" dirty="0"/>
              <a:t> </a:t>
            </a:r>
            <a:r>
              <a:rPr lang="en-US" dirty="0" err="1"/>
              <a:t>của</a:t>
            </a:r>
            <a:r>
              <a:rPr lang="en-US" dirty="0"/>
              <a:t> </a:t>
            </a:r>
            <a:r>
              <a:rPr lang="en-US" dirty="0" err="1"/>
              <a:t>mã</a:t>
            </a:r>
            <a:r>
              <a:rPr lang="en-US" dirty="0"/>
              <a:t> </a:t>
            </a:r>
            <a:r>
              <a:rPr lang="en-US" dirty="0" err="1"/>
              <a:t>khối</a:t>
            </a:r>
            <a:r>
              <a:rPr lang="en-US" dirty="0"/>
              <a:t> n-bit (ECB,CBC,CFB,OFB)</a:t>
            </a:r>
          </a:p>
        </p:txBody>
      </p:sp>
    </p:spTree>
    <p:extLst>
      <p:ext uri="{BB962C8B-B14F-4D97-AF65-F5344CB8AC3E}">
        <p14:creationId xmlns:p14="http://schemas.microsoft.com/office/powerpoint/2010/main" val="113333470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671365-12E8-4187-A9F3-7BAC7C5EE7DF}"/>
              </a:ext>
            </a:extLst>
          </p:cNvPr>
          <p:cNvSpPr>
            <a:spLocks noGrp="1"/>
          </p:cNvSpPr>
          <p:nvPr>
            <p:ph type="title"/>
          </p:nvPr>
        </p:nvSpPr>
        <p:spPr/>
        <p:txBody>
          <a:bodyPr/>
          <a:lstStyle/>
          <a:p>
            <a:r>
              <a:rPr lang="en-US" dirty="0"/>
              <a:t>AES</a:t>
            </a:r>
          </a:p>
        </p:txBody>
      </p:sp>
      <p:pic>
        <p:nvPicPr>
          <p:cNvPr id="5" name="Content Placeholder 4" descr="Chart, diagram&#10;&#10;Description automatically generated">
            <a:extLst>
              <a:ext uri="{FF2B5EF4-FFF2-40B4-BE49-F238E27FC236}">
                <a16:creationId xmlns:a16="http://schemas.microsoft.com/office/drawing/2014/main" id="{9EBAAB67-E65B-4A93-A337-CC42DEAB9373}"/>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3049037" y="212221"/>
            <a:ext cx="6597261" cy="6645779"/>
          </a:xfrm>
        </p:spPr>
      </p:pic>
    </p:spTree>
    <p:extLst>
      <p:ext uri="{BB962C8B-B14F-4D97-AF65-F5344CB8AC3E}">
        <p14:creationId xmlns:p14="http://schemas.microsoft.com/office/powerpoint/2010/main" val="155955593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53F29798-D584-4792-9B62-3F5F5C36D61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9EDC3F6-5217-44FE-A26F-ADD2E8BFEDAF}"/>
              </a:ext>
            </a:extLst>
          </p:cNvPr>
          <p:cNvSpPr>
            <a:spLocks noGrp="1"/>
          </p:cNvSpPr>
          <p:nvPr>
            <p:ph type="title"/>
          </p:nvPr>
        </p:nvSpPr>
        <p:spPr>
          <a:xfrm>
            <a:off x="838200" y="562271"/>
            <a:ext cx="10515600" cy="1128417"/>
          </a:xfrm>
        </p:spPr>
        <p:txBody>
          <a:bodyPr vert="horz" lIns="91440" tIns="45720" rIns="91440" bIns="45720" rtlCol="0" anchor="ctr">
            <a:normAutofit/>
          </a:bodyPr>
          <a:lstStyle/>
          <a:p>
            <a:r>
              <a:rPr lang="en-US" dirty="0"/>
              <a:t>ECB (Electronic </a:t>
            </a:r>
            <a:r>
              <a:rPr lang="en-US" dirty="0" err="1"/>
              <a:t>CodeBook</a:t>
            </a:r>
            <a:r>
              <a:rPr lang="en-US" dirty="0"/>
              <a:t>)</a:t>
            </a:r>
          </a:p>
        </p:txBody>
      </p:sp>
      <p:pic>
        <p:nvPicPr>
          <p:cNvPr id="5" name="Content Placeholder 4" descr="Diagram&#10;&#10;Description automatically generated">
            <a:extLst>
              <a:ext uri="{FF2B5EF4-FFF2-40B4-BE49-F238E27FC236}">
                <a16:creationId xmlns:a16="http://schemas.microsoft.com/office/drawing/2014/main" id="{3684F08B-EC7F-4999-8395-74B22CF48064}"/>
              </a:ext>
            </a:extLst>
          </p:cNvPr>
          <p:cNvPicPr>
            <a:picLocks noGrp="1" noChangeAspect="1"/>
          </p:cNvPicPr>
          <p:nvPr>
            <p:ph idx="1"/>
          </p:nvPr>
        </p:nvPicPr>
        <p:blipFill rotWithShape="1">
          <a:blip r:embed="rId2">
            <a:extLst>
              <a:ext uri="{28A0092B-C50C-407E-A947-70E740481C1C}">
                <a14:useLocalDpi xmlns:a14="http://schemas.microsoft.com/office/drawing/2010/main" val="0"/>
              </a:ext>
            </a:extLst>
          </a:blip>
          <a:srcRect l="2922" r="816" b="-2"/>
          <a:stretch/>
        </p:blipFill>
        <p:spPr>
          <a:xfrm>
            <a:off x="838200" y="1845426"/>
            <a:ext cx="10512547" cy="4450303"/>
          </a:xfrm>
          <a:prstGeom prst="rect">
            <a:avLst/>
          </a:prstGeom>
        </p:spPr>
      </p:pic>
    </p:spTree>
    <p:extLst>
      <p:ext uri="{BB962C8B-B14F-4D97-AF65-F5344CB8AC3E}">
        <p14:creationId xmlns:p14="http://schemas.microsoft.com/office/powerpoint/2010/main" val="192807596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BB867FF-FC45-48F7-8104-F89BE54909F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reeform: Shape 9">
            <a:extLst>
              <a:ext uri="{FF2B5EF4-FFF2-40B4-BE49-F238E27FC236}">
                <a16:creationId xmlns:a16="http://schemas.microsoft.com/office/drawing/2014/main" id="{8BB56887-D0D5-4F0C-9E19-7247EB83C8B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208695" y="1"/>
            <a:ext cx="1135066" cy="477997"/>
          </a:xfrm>
          <a:custGeom>
            <a:avLst/>
            <a:gdLst>
              <a:gd name="connsiteX0" fmla="*/ 0 w 1135066"/>
              <a:gd name="connsiteY0" fmla="*/ 0 h 477997"/>
              <a:gd name="connsiteX1" fmla="*/ 1135066 w 1135066"/>
              <a:gd name="connsiteY1" fmla="*/ 0 h 477997"/>
              <a:gd name="connsiteX2" fmla="*/ 1133370 w 1135066"/>
              <a:gd name="connsiteY2" fmla="*/ 16827 h 477997"/>
              <a:gd name="connsiteX3" fmla="*/ 567533 w 1135066"/>
              <a:gd name="connsiteY3" fmla="*/ 477997 h 477997"/>
              <a:gd name="connsiteX4" fmla="*/ 1696 w 1135066"/>
              <a:gd name="connsiteY4" fmla="*/ 16827 h 4779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35066" h="477997">
                <a:moveTo>
                  <a:pt x="0" y="0"/>
                </a:moveTo>
                <a:lnTo>
                  <a:pt x="1135066" y="0"/>
                </a:lnTo>
                <a:lnTo>
                  <a:pt x="1133370" y="16827"/>
                </a:lnTo>
                <a:cubicBezTo>
                  <a:pt x="1079514" y="280016"/>
                  <a:pt x="846644" y="477997"/>
                  <a:pt x="567533" y="477997"/>
                </a:cubicBezTo>
                <a:cubicBezTo>
                  <a:pt x="288422" y="477997"/>
                  <a:pt x="55552" y="280016"/>
                  <a:pt x="1696" y="16827"/>
                </a:cubicBezTo>
                <a:close/>
              </a:path>
            </a:pathLst>
          </a:cu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90F944E2-594B-4252-9D8E-67F77678B467}"/>
              </a:ext>
            </a:extLst>
          </p:cNvPr>
          <p:cNvSpPr>
            <a:spLocks noGrp="1"/>
          </p:cNvSpPr>
          <p:nvPr>
            <p:ph type="title"/>
          </p:nvPr>
        </p:nvSpPr>
        <p:spPr>
          <a:xfrm>
            <a:off x="838200" y="365125"/>
            <a:ext cx="10515600" cy="1325563"/>
          </a:xfrm>
        </p:spPr>
        <p:txBody>
          <a:bodyPr>
            <a:normAutofit/>
          </a:bodyPr>
          <a:lstStyle/>
          <a:p>
            <a:r>
              <a:rPr lang="en-US" dirty="0"/>
              <a:t>4.2 </a:t>
            </a:r>
            <a:r>
              <a:rPr lang="en-US" dirty="0" err="1"/>
              <a:t>Xác</a:t>
            </a:r>
            <a:r>
              <a:rPr lang="en-US" dirty="0"/>
              <a:t> </a:t>
            </a:r>
            <a:r>
              <a:rPr lang="en-US" dirty="0" err="1"/>
              <a:t>thực</a:t>
            </a:r>
            <a:r>
              <a:rPr lang="en-US" dirty="0"/>
              <a:t> </a:t>
            </a:r>
            <a:r>
              <a:rPr lang="en-US" dirty="0" err="1"/>
              <a:t>thiết</a:t>
            </a:r>
            <a:r>
              <a:rPr lang="en-US" dirty="0"/>
              <a:t> </a:t>
            </a:r>
            <a:r>
              <a:rPr lang="en-US" dirty="0" err="1"/>
              <a:t>bị</a:t>
            </a:r>
            <a:r>
              <a:rPr lang="en-US" dirty="0"/>
              <a:t> </a:t>
            </a:r>
            <a:r>
              <a:rPr lang="en-US" dirty="0" err="1"/>
              <a:t>thông</a:t>
            </a:r>
            <a:r>
              <a:rPr lang="en-US" dirty="0"/>
              <a:t> </a:t>
            </a:r>
            <a:r>
              <a:rPr lang="en-US" dirty="0" err="1"/>
              <a:t>minh</a:t>
            </a:r>
            <a:r>
              <a:rPr lang="en-US" dirty="0"/>
              <a:t> </a:t>
            </a:r>
            <a:r>
              <a:rPr lang="en-US" dirty="0" err="1"/>
              <a:t>với</a:t>
            </a:r>
            <a:r>
              <a:rPr lang="en-US" dirty="0"/>
              <a:t> server</a:t>
            </a:r>
          </a:p>
        </p:txBody>
      </p:sp>
      <p:sp>
        <p:nvSpPr>
          <p:cNvPr id="12" name="Arc 11">
            <a:extLst>
              <a:ext uri="{FF2B5EF4-FFF2-40B4-BE49-F238E27FC236}">
                <a16:creationId xmlns:a16="http://schemas.microsoft.com/office/drawing/2014/main" id="{081E4A58-353D-44AE-B2FC-2A74E2E400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V="1">
            <a:off x="555710" y="2183223"/>
            <a:ext cx="4083433"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3" name="Content Placeholder 2">
            <a:extLst>
              <a:ext uri="{FF2B5EF4-FFF2-40B4-BE49-F238E27FC236}">
                <a16:creationId xmlns:a16="http://schemas.microsoft.com/office/drawing/2014/main" id="{0BABCBE2-1EB4-4809-B7F5-FD4A9313F910}"/>
              </a:ext>
            </a:extLst>
          </p:cNvPr>
          <p:cNvSpPr>
            <a:spLocks noGrp="1"/>
          </p:cNvSpPr>
          <p:nvPr>
            <p:ph idx="1"/>
          </p:nvPr>
        </p:nvSpPr>
        <p:spPr>
          <a:xfrm>
            <a:off x="838200" y="1825625"/>
            <a:ext cx="10515600" cy="4351338"/>
          </a:xfrm>
        </p:spPr>
        <p:txBody>
          <a:bodyPr>
            <a:normAutofit fontScale="92500" lnSpcReduction="10000"/>
          </a:bodyPr>
          <a:lstStyle/>
          <a:p>
            <a:r>
              <a:rPr lang="en-US" dirty="0" err="1"/>
              <a:t>Để</a:t>
            </a:r>
            <a:r>
              <a:rPr lang="en-US" dirty="0"/>
              <a:t> </a:t>
            </a:r>
            <a:r>
              <a:rPr lang="en-US" dirty="0" err="1"/>
              <a:t>giao</a:t>
            </a:r>
            <a:r>
              <a:rPr lang="en-US" dirty="0"/>
              <a:t> </a:t>
            </a:r>
            <a:r>
              <a:rPr lang="en-US" dirty="0" err="1"/>
              <a:t>tiếp</a:t>
            </a:r>
            <a:r>
              <a:rPr lang="en-US" dirty="0"/>
              <a:t> </a:t>
            </a:r>
            <a:r>
              <a:rPr lang="en-US" dirty="0" err="1"/>
              <a:t>được</a:t>
            </a:r>
            <a:r>
              <a:rPr lang="en-US" dirty="0"/>
              <a:t> </a:t>
            </a:r>
            <a:r>
              <a:rPr lang="en-US" dirty="0" err="1"/>
              <a:t>với</a:t>
            </a:r>
            <a:r>
              <a:rPr lang="en-US" dirty="0"/>
              <a:t> server, </a:t>
            </a:r>
            <a:r>
              <a:rPr lang="en-US" dirty="0" err="1"/>
              <a:t>phía</a:t>
            </a:r>
            <a:r>
              <a:rPr lang="en-US" dirty="0"/>
              <a:t> </a:t>
            </a:r>
            <a:r>
              <a:rPr lang="en-US" dirty="0" err="1"/>
              <a:t>thiết</a:t>
            </a:r>
            <a:r>
              <a:rPr lang="en-US" dirty="0"/>
              <a:t> </a:t>
            </a:r>
            <a:r>
              <a:rPr lang="en-US" dirty="0" err="1"/>
              <a:t>bị</a:t>
            </a:r>
            <a:r>
              <a:rPr lang="en-US" dirty="0"/>
              <a:t> </a:t>
            </a:r>
            <a:r>
              <a:rPr lang="en-US" dirty="0" err="1"/>
              <a:t>thông</a:t>
            </a:r>
            <a:r>
              <a:rPr lang="en-US" dirty="0"/>
              <a:t> </a:t>
            </a:r>
            <a:r>
              <a:rPr lang="en-US" dirty="0" err="1"/>
              <a:t>minh</a:t>
            </a:r>
            <a:r>
              <a:rPr lang="en-US" dirty="0"/>
              <a:t> </a:t>
            </a:r>
            <a:r>
              <a:rPr lang="en-US" dirty="0" err="1"/>
              <a:t>cần</a:t>
            </a:r>
            <a:r>
              <a:rPr lang="en-US" dirty="0"/>
              <a:t> </a:t>
            </a:r>
            <a:r>
              <a:rPr lang="en-US" dirty="0" err="1"/>
              <a:t>cung</a:t>
            </a:r>
            <a:r>
              <a:rPr lang="en-US" dirty="0"/>
              <a:t> </a:t>
            </a:r>
            <a:r>
              <a:rPr lang="en-US" dirty="0" err="1"/>
              <a:t>cấp</a:t>
            </a:r>
            <a:r>
              <a:rPr lang="en-US" dirty="0"/>
              <a:t> </a:t>
            </a:r>
            <a:r>
              <a:rPr lang="en-US" dirty="0" err="1"/>
              <a:t>một</a:t>
            </a:r>
            <a:r>
              <a:rPr lang="en-US" dirty="0"/>
              <a:t> user </a:t>
            </a:r>
            <a:r>
              <a:rPr lang="en-US" dirty="0" err="1"/>
              <a:t>và</a:t>
            </a:r>
            <a:r>
              <a:rPr lang="en-US" dirty="0"/>
              <a:t> password </a:t>
            </a:r>
            <a:r>
              <a:rPr lang="en-US" dirty="0" err="1"/>
              <a:t>khi</a:t>
            </a:r>
            <a:r>
              <a:rPr lang="en-US" dirty="0"/>
              <a:t> subscribe </a:t>
            </a:r>
            <a:r>
              <a:rPr lang="en-US" dirty="0" err="1"/>
              <a:t>một</a:t>
            </a:r>
            <a:r>
              <a:rPr lang="en-US" dirty="0"/>
              <a:t> </a:t>
            </a:r>
            <a:r>
              <a:rPr lang="en-US" dirty="0" err="1"/>
              <a:t>kênh</a:t>
            </a:r>
            <a:r>
              <a:rPr lang="en-US" dirty="0"/>
              <a:t> </a:t>
            </a:r>
            <a:r>
              <a:rPr lang="en-US" dirty="0" err="1"/>
              <a:t>trên</a:t>
            </a:r>
            <a:r>
              <a:rPr lang="en-US" dirty="0"/>
              <a:t> server</a:t>
            </a:r>
          </a:p>
          <a:p>
            <a:r>
              <a:rPr lang="en-US" dirty="0" err="1"/>
              <a:t>Các</a:t>
            </a:r>
            <a:r>
              <a:rPr lang="en-US" dirty="0"/>
              <a:t> </a:t>
            </a:r>
            <a:r>
              <a:rPr lang="en-US" dirty="0" err="1"/>
              <a:t>tiêu</a:t>
            </a:r>
            <a:r>
              <a:rPr lang="en-US" dirty="0"/>
              <a:t> </a:t>
            </a:r>
            <a:r>
              <a:rPr lang="en-US" dirty="0" err="1"/>
              <a:t>chuẩn</a:t>
            </a:r>
            <a:r>
              <a:rPr lang="en-US" dirty="0"/>
              <a:t> </a:t>
            </a:r>
            <a:r>
              <a:rPr lang="en-US" dirty="0" err="1"/>
              <a:t>đặt</a:t>
            </a:r>
            <a:r>
              <a:rPr lang="en-US" dirty="0"/>
              <a:t> </a:t>
            </a:r>
            <a:r>
              <a:rPr lang="en-US" dirty="0" err="1"/>
              <a:t>mật</a:t>
            </a:r>
            <a:r>
              <a:rPr lang="en-US" dirty="0"/>
              <a:t> </a:t>
            </a:r>
            <a:r>
              <a:rPr lang="en-US" dirty="0" err="1"/>
              <a:t>khẩu</a:t>
            </a:r>
            <a:r>
              <a:rPr lang="en-US" dirty="0"/>
              <a:t> </a:t>
            </a:r>
            <a:r>
              <a:rPr lang="en-US" dirty="0" err="1"/>
              <a:t>mạnh</a:t>
            </a:r>
            <a:r>
              <a:rPr lang="en-US" dirty="0"/>
              <a:t>:</a:t>
            </a:r>
          </a:p>
          <a:p>
            <a:pPr algn="l">
              <a:buFont typeface="Wingdings" panose="05000000000000000000" pitchFamily="2" charset="2"/>
              <a:buChar char="q"/>
            </a:pPr>
            <a:r>
              <a:rPr lang="vi-VN" sz="2400" b="0" i="0" dirty="0">
                <a:solidFill>
                  <a:srgbClr val="333333"/>
                </a:solidFill>
                <a:effectLst/>
                <a:latin typeface="Helvetica" panose="020B0604020202020204" pitchFamily="34" charset="0"/>
              </a:rPr>
              <a:t>Sử dụng tối thiểu 8 ký tự, và tối đa 15 ký tự.</a:t>
            </a:r>
          </a:p>
          <a:p>
            <a:pPr algn="l">
              <a:buFont typeface="Wingdings" panose="05000000000000000000" pitchFamily="2" charset="2"/>
              <a:buChar char="q"/>
            </a:pPr>
            <a:r>
              <a:rPr lang="vi-VN" sz="2400" b="0" i="0" dirty="0">
                <a:solidFill>
                  <a:srgbClr val="333333"/>
                </a:solidFill>
                <a:effectLst/>
                <a:latin typeface="Helvetica" panose="020B0604020202020204" pitchFamily="34" charset="0"/>
              </a:rPr>
              <a:t>Bao gồm số, chữ thường, chữ in hoa và ký tự đặc biệt.</a:t>
            </a:r>
          </a:p>
          <a:p>
            <a:pPr algn="l">
              <a:buFont typeface="Wingdings" panose="05000000000000000000" pitchFamily="2" charset="2"/>
              <a:buChar char="q"/>
            </a:pPr>
            <a:r>
              <a:rPr lang="vi-VN" sz="2400" b="0" i="0" dirty="0">
                <a:solidFill>
                  <a:srgbClr val="333333"/>
                </a:solidFill>
                <a:effectLst/>
                <a:latin typeface="Helvetica" panose="020B0604020202020204" pitchFamily="34" charset="0"/>
              </a:rPr>
              <a:t>Duy nhất, không dùng chung cho các tài khoản khác.</a:t>
            </a:r>
          </a:p>
          <a:p>
            <a:pPr algn="l">
              <a:buFont typeface="Wingdings" panose="05000000000000000000" pitchFamily="2" charset="2"/>
              <a:buChar char="q"/>
            </a:pPr>
            <a:r>
              <a:rPr lang="vi-VN" sz="2400" b="0" i="0" dirty="0">
                <a:solidFill>
                  <a:srgbClr val="333333"/>
                </a:solidFill>
                <a:effectLst/>
                <a:latin typeface="Helvetica" panose="020B0604020202020204" pitchFamily="34" charset="0"/>
              </a:rPr>
              <a:t>Không được mang ý nghĩa đi kèm(số điện thoại, ngày sinh, tên địa danh...).</a:t>
            </a:r>
          </a:p>
          <a:p>
            <a:pPr algn="l">
              <a:buFont typeface="Wingdings" panose="05000000000000000000" pitchFamily="2" charset="2"/>
              <a:buChar char="q"/>
            </a:pPr>
            <a:r>
              <a:rPr lang="vi-VN" sz="2400" b="0" i="0" dirty="0">
                <a:solidFill>
                  <a:srgbClr val="333333"/>
                </a:solidFill>
                <a:effectLst/>
                <a:latin typeface="Helvetica" panose="020B0604020202020204" pitchFamily="34" charset="0"/>
              </a:rPr>
              <a:t>Không sử dụng tên riêng.</a:t>
            </a:r>
          </a:p>
          <a:p>
            <a:pPr algn="l">
              <a:buFont typeface="Wingdings" panose="05000000000000000000" pitchFamily="2" charset="2"/>
              <a:buChar char="q"/>
            </a:pPr>
            <a:r>
              <a:rPr lang="vi-VN" sz="2400" b="0" i="0" dirty="0">
                <a:solidFill>
                  <a:srgbClr val="333333"/>
                </a:solidFill>
                <a:effectLst/>
                <a:latin typeface="Helvetica" panose="020B0604020202020204" pitchFamily="34" charset="0"/>
              </a:rPr>
              <a:t>Không sử dụng các con số nổi tiếng, vd: 113, 115, 12345678...</a:t>
            </a:r>
          </a:p>
          <a:p>
            <a:pPr algn="l">
              <a:buFont typeface="Wingdings" panose="05000000000000000000" pitchFamily="2" charset="2"/>
              <a:buChar char="q"/>
            </a:pPr>
            <a:r>
              <a:rPr lang="vi-VN" sz="2400" b="0" i="0" dirty="0">
                <a:solidFill>
                  <a:srgbClr val="333333"/>
                </a:solidFill>
                <a:effectLst/>
                <a:latin typeface="Helvetica" panose="020B0604020202020204" pitchFamily="34" charset="0"/>
              </a:rPr>
              <a:t>Không sử dụng các thông tin trong mật khẩu cho câu hỏi bí mật (câu hỏi bí mật là phương pháp giúp người dùng đặt lại mật khẩu khi quên).</a:t>
            </a:r>
          </a:p>
          <a:p>
            <a:pPr marL="0" indent="0">
              <a:buNone/>
            </a:pPr>
            <a:endParaRPr lang="en-US" dirty="0"/>
          </a:p>
        </p:txBody>
      </p:sp>
    </p:spTree>
    <p:extLst>
      <p:ext uri="{BB962C8B-B14F-4D97-AF65-F5344CB8AC3E}">
        <p14:creationId xmlns:p14="http://schemas.microsoft.com/office/powerpoint/2010/main" val="313009606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5" name="Rectangle 24">
            <a:extLst>
              <a:ext uri="{FF2B5EF4-FFF2-40B4-BE49-F238E27FC236}">
                <a16:creationId xmlns:a16="http://schemas.microsoft.com/office/drawing/2014/main" id="{1CD81A2A-6ED4-4EF4-A14C-912D31E1480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2" name="Title 1">
            <a:extLst>
              <a:ext uri="{FF2B5EF4-FFF2-40B4-BE49-F238E27FC236}">
                <a16:creationId xmlns:a16="http://schemas.microsoft.com/office/drawing/2014/main" id="{C4E14A9C-F05C-4A29-A3C9-B5C585DBFAD6}"/>
              </a:ext>
            </a:extLst>
          </p:cNvPr>
          <p:cNvSpPr>
            <a:spLocks noGrp="1"/>
          </p:cNvSpPr>
          <p:nvPr>
            <p:ph type="title"/>
          </p:nvPr>
        </p:nvSpPr>
        <p:spPr>
          <a:xfrm>
            <a:off x="838200" y="365125"/>
            <a:ext cx="5393361" cy="1325563"/>
          </a:xfrm>
        </p:spPr>
        <p:txBody>
          <a:bodyPr>
            <a:normAutofit/>
          </a:bodyPr>
          <a:lstStyle/>
          <a:p>
            <a:r>
              <a:rPr lang="en-US"/>
              <a:t>4.3 Một số cách khác</a:t>
            </a:r>
          </a:p>
        </p:txBody>
      </p:sp>
      <p:sp>
        <p:nvSpPr>
          <p:cNvPr id="27" name="Freeform: Shape 26">
            <a:extLst>
              <a:ext uri="{FF2B5EF4-FFF2-40B4-BE49-F238E27FC236}">
                <a16:creationId xmlns:a16="http://schemas.microsoft.com/office/drawing/2014/main" id="{1661932C-CA15-4E17-B115-FAE7CBEE478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198657" y="1"/>
            <a:ext cx="1155142" cy="625027"/>
          </a:xfrm>
          <a:custGeom>
            <a:avLst/>
            <a:gdLst>
              <a:gd name="connsiteX0" fmla="*/ 4784 w 1155142"/>
              <a:gd name="connsiteY0" fmla="*/ 0 h 625027"/>
              <a:gd name="connsiteX1" fmla="*/ 1150358 w 1155142"/>
              <a:gd name="connsiteY1" fmla="*/ 0 h 625027"/>
              <a:gd name="connsiteX2" fmla="*/ 1155142 w 1155142"/>
              <a:gd name="connsiteY2" fmla="*/ 47456 h 625027"/>
              <a:gd name="connsiteX3" fmla="*/ 577571 w 1155142"/>
              <a:gd name="connsiteY3" fmla="*/ 625027 h 625027"/>
              <a:gd name="connsiteX4" fmla="*/ 0 w 1155142"/>
              <a:gd name="connsiteY4" fmla="*/ 47456 h 62502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55142" h="625027">
                <a:moveTo>
                  <a:pt x="4784" y="0"/>
                </a:moveTo>
                <a:lnTo>
                  <a:pt x="1150358" y="0"/>
                </a:lnTo>
                <a:lnTo>
                  <a:pt x="1155142" y="47456"/>
                </a:lnTo>
                <a:cubicBezTo>
                  <a:pt x="1155142" y="366440"/>
                  <a:pt x="896555" y="625027"/>
                  <a:pt x="577571" y="625027"/>
                </a:cubicBezTo>
                <a:cubicBezTo>
                  <a:pt x="258587" y="625027"/>
                  <a:pt x="0" y="366440"/>
                  <a:pt x="0" y="47456"/>
                </a:cubicBezTo>
                <a:close/>
              </a:path>
            </a:pathLst>
          </a:custGeom>
          <a:solidFill>
            <a:schemeClr val="accent5">
              <a:alpha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3" name="Content Placeholder 2">
            <a:extLst>
              <a:ext uri="{FF2B5EF4-FFF2-40B4-BE49-F238E27FC236}">
                <a16:creationId xmlns:a16="http://schemas.microsoft.com/office/drawing/2014/main" id="{014FB253-8217-4694-A8D8-693A46C41919}"/>
              </a:ext>
            </a:extLst>
          </p:cNvPr>
          <p:cNvSpPr>
            <a:spLocks noGrp="1"/>
          </p:cNvSpPr>
          <p:nvPr>
            <p:ph idx="1"/>
          </p:nvPr>
        </p:nvSpPr>
        <p:spPr>
          <a:xfrm>
            <a:off x="838200" y="1825625"/>
            <a:ext cx="5393361" cy="4351338"/>
          </a:xfrm>
        </p:spPr>
        <p:txBody>
          <a:bodyPr>
            <a:normAutofit/>
          </a:bodyPr>
          <a:lstStyle/>
          <a:p>
            <a:r>
              <a:rPr lang="en-US" dirty="0" err="1"/>
              <a:t>Bảo</a:t>
            </a:r>
            <a:r>
              <a:rPr lang="en-US" dirty="0"/>
              <a:t> </a:t>
            </a:r>
            <a:r>
              <a:rPr lang="en-US" dirty="0" err="1"/>
              <a:t>vệ</a:t>
            </a:r>
            <a:r>
              <a:rPr lang="en-US" dirty="0"/>
              <a:t> </a:t>
            </a:r>
            <a:r>
              <a:rPr lang="en-US" dirty="0" err="1"/>
              <a:t>và</a:t>
            </a:r>
            <a:r>
              <a:rPr lang="en-US" dirty="0"/>
              <a:t> </a:t>
            </a:r>
            <a:r>
              <a:rPr lang="en-US" dirty="0" err="1"/>
              <a:t>bảo</a:t>
            </a:r>
            <a:r>
              <a:rPr lang="en-US" dirty="0"/>
              <a:t> </a:t>
            </a:r>
            <a:r>
              <a:rPr lang="en-US" dirty="0" err="1"/>
              <a:t>mật</a:t>
            </a:r>
            <a:r>
              <a:rPr lang="en-US" dirty="0"/>
              <a:t> </a:t>
            </a:r>
            <a:r>
              <a:rPr lang="en-US" dirty="0" err="1"/>
              <a:t>đường</a:t>
            </a:r>
            <a:r>
              <a:rPr lang="en-US" dirty="0"/>
              <a:t> </a:t>
            </a:r>
            <a:r>
              <a:rPr lang="en-US" dirty="0" err="1"/>
              <a:t>truyền</a:t>
            </a:r>
            <a:r>
              <a:rPr lang="en-US" dirty="0"/>
              <a:t>: Ở </a:t>
            </a:r>
            <a:r>
              <a:rPr lang="en-US" dirty="0" err="1"/>
              <a:t>đây</a:t>
            </a:r>
            <a:r>
              <a:rPr lang="en-US" dirty="0"/>
              <a:t> </a:t>
            </a:r>
            <a:r>
              <a:rPr lang="en-US" dirty="0" err="1"/>
              <a:t>là</a:t>
            </a:r>
            <a:r>
              <a:rPr lang="en-US" dirty="0"/>
              <a:t> </a:t>
            </a:r>
            <a:r>
              <a:rPr lang="en-US" dirty="0" err="1"/>
              <a:t>wifi</a:t>
            </a:r>
            <a:r>
              <a:rPr lang="en-US" dirty="0"/>
              <a:t>, </a:t>
            </a:r>
            <a:r>
              <a:rPr lang="en-US" dirty="0" err="1"/>
              <a:t>thì</a:t>
            </a:r>
            <a:r>
              <a:rPr lang="en-US" dirty="0"/>
              <a:t> </a:t>
            </a:r>
            <a:r>
              <a:rPr lang="en-US" dirty="0" err="1"/>
              <a:t>cần</a:t>
            </a:r>
            <a:r>
              <a:rPr lang="en-US" dirty="0"/>
              <a:t> </a:t>
            </a:r>
            <a:r>
              <a:rPr lang="en-US" dirty="0" err="1"/>
              <a:t>đặt</a:t>
            </a:r>
            <a:r>
              <a:rPr lang="en-US" dirty="0"/>
              <a:t> password </a:t>
            </a:r>
            <a:r>
              <a:rPr lang="en-US" dirty="0" err="1"/>
              <a:t>khó</a:t>
            </a:r>
            <a:r>
              <a:rPr lang="en-US" dirty="0"/>
              <a:t> </a:t>
            </a:r>
            <a:r>
              <a:rPr lang="en-US" dirty="0" err="1"/>
              <a:t>có</a:t>
            </a:r>
            <a:r>
              <a:rPr lang="en-US" dirty="0"/>
              <a:t> </a:t>
            </a:r>
            <a:r>
              <a:rPr lang="en-US" dirty="0" err="1"/>
              <a:t>thể</a:t>
            </a:r>
            <a:r>
              <a:rPr lang="en-US" dirty="0"/>
              <a:t> </a:t>
            </a:r>
            <a:r>
              <a:rPr lang="en-US" dirty="0" err="1"/>
              <a:t>dò</a:t>
            </a:r>
            <a:r>
              <a:rPr lang="en-US" dirty="0"/>
              <a:t>  </a:t>
            </a:r>
            <a:r>
              <a:rPr lang="en-US" dirty="0" err="1"/>
              <a:t>được</a:t>
            </a:r>
            <a:r>
              <a:rPr lang="en-US" dirty="0"/>
              <a:t>, </a:t>
            </a:r>
            <a:r>
              <a:rPr lang="en-US" dirty="0" err="1"/>
              <a:t>sử</a:t>
            </a:r>
            <a:r>
              <a:rPr lang="en-US" dirty="0"/>
              <a:t> </a:t>
            </a:r>
            <a:r>
              <a:rPr lang="en-US" dirty="0" err="1"/>
              <a:t>dụng</a:t>
            </a:r>
            <a:r>
              <a:rPr lang="en-US" dirty="0"/>
              <a:t> </a:t>
            </a:r>
            <a:r>
              <a:rPr lang="en-US" dirty="0" err="1"/>
              <a:t>các</a:t>
            </a:r>
            <a:r>
              <a:rPr lang="en-US" dirty="0"/>
              <a:t> </a:t>
            </a:r>
            <a:r>
              <a:rPr lang="en-US" dirty="0" err="1"/>
              <a:t>chuẩn</a:t>
            </a:r>
            <a:r>
              <a:rPr lang="en-US" dirty="0"/>
              <a:t> </a:t>
            </a:r>
            <a:r>
              <a:rPr lang="en-US" dirty="0" err="1"/>
              <a:t>bảo</a:t>
            </a:r>
            <a:r>
              <a:rPr lang="en-US" dirty="0"/>
              <a:t> </a:t>
            </a:r>
            <a:r>
              <a:rPr lang="en-US" dirty="0" err="1"/>
              <a:t>mật</a:t>
            </a:r>
            <a:r>
              <a:rPr lang="en-US" dirty="0"/>
              <a:t> </a:t>
            </a:r>
            <a:r>
              <a:rPr lang="en-US" dirty="0" err="1"/>
              <a:t>wifi</a:t>
            </a:r>
            <a:r>
              <a:rPr lang="en-US" dirty="0"/>
              <a:t> </a:t>
            </a:r>
            <a:r>
              <a:rPr lang="en-US" dirty="0" err="1"/>
              <a:t>mới</a:t>
            </a:r>
            <a:r>
              <a:rPr lang="en-US" dirty="0"/>
              <a:t> </a:t>
            </a:r>
            <a:r>
              <a:rPr lang="en-US" dirty="0" err="1"/>
              <a:t>nhất</a:t>
            </a:r>
            <a:r>
              <a:rPr lang="en-US" dirty="0"/>
              <a:t>.</a:t>
            </a:r>
          </a:p>
          <a:p>
            <a:r>
              <a:rPr lang="en-US" dirty="0" err="1"/>
              <a:t>Sử</a:t>
            </a:r>
            <a:r>
              <a:rPr lang="en-US" dirty="0"/>
              <a:t> </a:t>
            </a:r>
            <a:r>
              <a:rPr lang="en-US" dirty="0" err="1"/>
              <a:t>dụng</a:t>
            </a:r>
            <a:r>
              <a:rPr lang="en-US" dirty="0"/>
              <a:t> </a:t>
            </a:r>
            <a:r>
              <a:rPr lang="en-US" dirty="0" err="1"/>
              <a:t>các</a:t>
            </a:r>
            <a:r>
              <a:rPr lang="en-US" dirty="0"/>
              <a:t> </a:t>
            </a:r>
            <a:r>
              <a:rPr lang="en-US" dirty="0" err="1"/>
              <a:t>phần</a:t>
            </a:r>
            <a:r>
              <a:rPr lang="en-US" dirty="0"/>
              <a:t> </a:t>
            </a:r>
            <a:r>
              <a:rPr lang="en-US" dirty="0" err="1"/>
              <a:t>cứng</a:t>
            </a:r>
            <a:r>
              <a:rPr lang="en-US" dirty="0"/>
              <a:t> </a:t>
            </a:r>
            <a:r>
              <a:rPr lang="en-US" dirty="0" err="1"/>
              <a:t>nguồn</a:t>
            </a:r>
            <a:r>
              <a:rPr lang="en-US" dirty="0"/>
              <a:t> </a:t>
            </a:r>
            <a:r>
              <a:rPr lang="en-US" dirty="0" err="1"/>
              <a:t>gốc</a:t>
            </a:r>
            <a:r>
              <a:rPr lang="en-US" dirty="0"/>
              <a:t> </a:t>
            </a:r>
            <a:r>
              <a:rPr lang="en-US" dirty="0" err="1"/>
              <a:t>rõ</a:t>
            </a:r>
            <a:r>
              <a:rPr lang="en-US" dirty="0"/>
              <a:t> rang, </a:t>
            </a:r>
            <a:r>
              <a:rPr lang="en-US" dirty="0" err="1"/>
              <a:t>không</a:t>
            </a:r>
            <a:r>
              <a:rPr lang="en-US" dirty="0"/>
              <a:t> </a:t>
            </a:r>
            <a:r>
              <a:rPr lang="en-US" dirty="0" err="1"/>
              <a:t>có</a:t>
            </a:r>
            <a:r>
              <a:rPr lang="en-US" dirty="0"/>
              <a:t> </a:t>
            </a:r>
            <a:r>
              <a:rPr lang="en-US" dirty="0" err="1"/>
              <a:t>mã</a:t>
            </a:r>
            <a:r>
              <a:rPr lang="en-US" dirty="0"/>
              <a:t> </a:t>
            </a:r>
            <a:r>
              <a:rPr lang="en-US" dirty="0" err="1"/>
              <a:t>độc</a:t>
            </a:r>
            <a:r>
              <a:rPr lang="en-US" dirty="0"/>
              <a:t>.</a:t>
            </a:r>
          </a:p>
          <a:p>
            <a:r>
              <a:rPr lang="en-US" dirty="0" err="1"/>
              <a:t>Sử</a:t>
            </a:r>
            <a:r>
              <a:rPr lang="en-US" dirty="0"/>
              <a:t> </a:t>
            </a:r>
            <a:r>
              <a:rPr lang="en-US" dirty="0" err="1"/>
              <a:t>dụng</a:t>
            </a:r>
            <a:r>
              <a:rPr lang="en-US" dirty="0"/>
              <a:t> Public Key Infrastructure </a:t>
            </a:r>
            <a:r>
              <a:rPr lang="en-US" dirty="0" err="1"/>
              <a:t>để</a:t>
            </a:r>
            <a:r>
              <a:rPr lang="en-US" dirty="0"/>
              <a:t> </a:t>
            </a:r>
            <a:r>
              <a:rPr lang="en-US" dirty="0" err="1"/>
              <a:t>bảo</a:t>
            </a:r>
            <a:r>
              <a:rPr lang="en-US" dirty="0"/>
              <a:t> </a:t>
            </a:r>
            <a:r>
              <a:rPr lang="en-US" dirty="0" err="1"/>
              <a:t>mật</a:t>
            </a:r>
            <a:endParaRPr lang="en-US" dirty="0"/>
          </a:p>
        </p:txBody>
      </p:sp>
      <p:sp>
        <p:nvSpPr>
          <p:cNvPr id="29" name="Oval 28">
            <a:extLst>
              <a:ext uri="{FF2B5EF4-FFF2-40B4-BE49-F238E27FC236}">
                <a16:creationId xmlns:a16="http://schemas.microsoft.com/office/drawing/2014/main" id="{8590ADD5-9383-4D3D-9047-3DA2593CCB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08185" y="3423959"/>
            <a:ext cx="540822" cy="540822"/>
          </a:xfrm>
          <a:prstGeom prst="ellipse">
            <a:avLst/>
          </a:prstGeom>
          <a:noFill/>
          <a:ln w="127000">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0" name="Graphic 6" descr="Laptop Secure">
            <a:extLst>
              <a:ext uri="{FF2B5EF4-FFF2-40B4-BE49-F238E27FC236}">
                <a16:creationId xmlns:a16="http://schemas.microsoft.com/office/drawing/2014/main" id="{840EE655-BE38-4FAD-96A6-52E13651279E}"/>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7887184" y="1216485"/>
            <a:ext cx="3781051" cy="3781051"/>
          </a:xfrm>
          <a:custGeom>
            <a:avLst/>
            <a:gdLst/>
            <a:ahLst/>
            <a:cxnLst/>
            <a:rect l="l" t="t" r="r" b="b"/>
            <a:pathLst>
              <a:path w="4114800" h="5712488">
                <a:moveTo>
                  <a:pt x="133155" y="0"/>
                </a:moveTo>
                <a:lnTo>
                  <a:pt x="3981645" y="0"/>
                </a:lnTo>
                <a:cubicBezTo>
                  <a:pt x="4055184" y="0"/>
                  <a:pt x="4114800" y="59616"/>
                  <a:pt x="4114800" y="133155"/>
                </a:cubicBezTo>
                <a:lnTo>
                  <a:pt x="4114800" y="5579333"/>
                </a:lnTo>
                <a:cubicBezTo>
                  <a:pt x="4114800" y="5652872"/>
                  <a:pt x="4055184" y="5712488"/>
                  <a:pt x="3981645" y="5712488"/>
                </a:cubicBezTo>
                <a:lnTo>
                  <a:pt x="133155" y="5712488"/>
                </a:lnTo>
                <a:cubicBezTo>
                  <a:pt x="59616" y="5712488"/>
                  <a:pt x="0" y="5652872"/>
                  <a:pt x="0" y="5579333"/>
                </a:cubicBezTo>
                <a:lnTo>
                  <a:pt x="0" y="133155"/>
                </a:lnTo>
                <a:cubicBezTo>
                  <a:pt x="0" y="59616"/>
                  <a:pt x="59616" y="0"/>
                  <a:pt x="133155" y="0"/>
                </a:cubicBezTo>
                <a:close/>
              </a:path>
            </a:pathLst>
          </a:custGeom>
        </p:spPr>
      </p:pic>
      <p:sp>
        <p:nvSpPr>
          <p:cNvPr id="31" name="Freeform: Shape 30">
            <a:extLst>
              <a:ext uri="{FF2B5EF4-FFF2-40B4-BE49-F238E27FC236}">
                <a16:creationId xmlns:a16="http://schemas.microsoft.com/office/drawing/2014/main" id="{DABE3E45-88CF-45D8-8D40-C773324D93F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749602" y="1"/>
            <a:ext cx="2066948" cy="1621879"/>
          </a:xfrm>
          <a:custGeom>
            <a:avLst/>
            <a:gdLst>
              <a:gd name="connsiteX0" fmla="*/ 0 w 2066948"/>
              <a:gd name="connsiteY0" fmla="*/ 0 h 1621879"/>
              <a:gd name="connsiteX1" fmla="*/ 123825 w 2066948"/>
              <a:gd name="connsiteY1" fmla="*/ 0 h 1621879"/>
              <a:gd name="connsiteX2" fmla="*/ 123825 w 2066948"/>
              <a:gd name="connsiteY2" fmla="*/ 1452620 h 1621879"/>
              <a:gd name="connsiteX3" fmla="*/ 1881378 w 2066948"/>
              <a:gd name="connsiteY3" fmla="*/ 436017 h 1621879"/>
              <a:gd name="connsiteX4" fmla="*/ 1127572 w 2066948"/>
              <a:gd name="connsiteY4" fmla="*/ 0 h 1621879"/>
              <a:gd name="connsiteX5" fmla="*/ 1374887 w 2066948"/>
              <a:gd name="connsiteY5" fmla="*/ 0 h 1621879"/>
              <a:gd name="connsiteX6" fmla="*/ 2035969 w 2066948"/>
              <a:gd name="connsiteY6" fmla="*/ 382391 h 1621879"/>
              <a:gd name="connsiteX7" fmla="*/ 2058648 w 2066948"/>
              <a:gd name="connsiteY7" fmla="*/ 466963 h 1621879"/>
              <a:gd name="connsiteX8" fmla="*/ 2035969 w 2066948"/>
              <a:gd name="connsiteY8" fmla="*/ 489642 h 1621879"/>
              <a:gd name="connsiteX9" fmla="*/ 92869 w 2066948"/>
              <a:gd name="connsiteY9" fmla="*/ 1613592 h 1621879"/>
              <a:gd name="connsiteX10" fmla="*/ 61913 w 2066948"/>
              <a:gd name="connsiteY10" fmla="*/ 1621879 h 1621879"/>
              <a:gd name="connsiteX11" fmla="*/ 0 w 2066948"/>
              <a:gd name="connsiteY11" fmla="*/ 1559967 h 16218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066948" h="1621879">
                <a:moveTo>
                  <a:pt x="0" y="0"/>
                </a:moveTo>
                <a:lnTo>
                  <a:pt x="123825" y="0"/>
                </a:lnTo>
                <a:lnTo>
                  <a:pt x="123825" y="1452620"/>
                </a:lnTo>
                <a:lnTo>
                  <a:pt x="1881378" y="436017"/>
                </a:lnTo>
                <a:lnTo>
                  <a:pt x="1127572" y="0"/>
                </a:lnTo>
                <a:lnTo>
                  <a:pt x="1374887" y="0"/>
                </a:lnTo>
                <a:lnTo>
                  <a:pt x="2035969" y="382391"/>
                </a:lnTo>
                <a:cubicBezTo>
                  <a:pt x="2065582" y="399479"/>
                  <a:pt x="2075745" y="437340"/>
                  <a:pt x="2058648" y="466963"/>
                </a:cubicBezTo>
                <a:cubicBezTo>
                  <a:pt x="2053219" y="476384"/>
                  <a:pt x="2045389" y="484204"/>
                  <a:pt x="2035969" y="489642"/>
                </a:cubicBezTo>
                <a:lnTo>
                  <a:pt x="92869" y="1613592"/>
                </a:lnTo>
                <a:cubicBezTo>
                  <a:pt x="83458" y="1619031"/>
                  <a:pt x="72780" y="1621889"/>
                  <a:pt x="61913" y="1621879"/>
                </a:cubicBezTo>
                <a:cubicBezTo>
                  <a:pt x="27719" y="1621879"/>
                  <a:pt x="0" y="1594161"/>
                  <a:pt x="0" y="1559967"/>
                </a:cubicBezTo>
                <a:close/>
              </a:path>
            </a:pathLst>
          </a:custGeom>
          <a:solidFill>
            <a:schemeClr val="accent6"/>
          </a:solidFill>
          <a:ln w="9525" cap="flat">
            <a:noFill/>
            <a:prstDash val="solid"/>
            <a:miter/>
          </a:ln>
        </p:spPr>
        <p:txBody>
          <a:bodyPr rtlCol="0" anchor="ctr"/>
          <a:lstStyle/>
          <a:p>
            <a:endParaRPr lang="en-US"/>
          </a:p>
        </p:txBody>
      </p:sp>
      <p:cxnSp>
        <p:nvCxnSpPr>
          <p:cNvPr id="33" name="Straight Connector 32">
            <a:extLst>
              <a:ext uri="{FF2B5EF4-FFF2-40B4-BE49-F238E27FC236}">
                <a16:creationId xmlns:a16="http://schemas.microsoft.com/office/drawing/2014/main" id="{49CD1692-827B-4C8D-B4A1-134FD04CF45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2138745" y="1027906"/>
            <a:ext cx="0" cy="1597708"/>
          </a:xfrm>
          <a:prstGeom prst="line">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cxnSp>
      <p:sp>
        <p:nvSpPr>
          <p:cNvPr id="35" name="Freeform: Shape 34">
            <a:extLst>
              <a:ext uri="{FF2B5EF4-FFF2-40B4-BE49-F238E27FC236}">
                <a16:creationId xmlns:a16="http://schemas.microsoft.com/office/drawing/2014/main" id="{B91ECDA9-56DC-4270-8F33-01C5637B8CE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463438">
            <a:off x="7456580" y="5166682"/>
            <a:ext cx="1835725" cy="2024785"/>
          </a:xfrm>
          <a:custGeom>
            <a:avLst/>
            <a:gdLst>
              <a:gd name="connsiteX0" fmla="*/ 1801138 w 1835725"/>
              <a:gd name="connsiteY0" fmla="*/ 1622662 h 2024785"/>
              <a:gd name="connsiteX1" fmla="*/ 1835717 w 1835725"/>
              <a:gd name="connsiteY1" fmla="*/ 1680254 h 2024785"/>
              <a:gd name="connsiteX2" fmla="*/ 1812568 w 1835725"/>
              <a:gd name="connsiteY2" fmla="*/ 1877193 h 2024785"/>
              <a:gd name="connsiteX3" fmla="*/ 1776210 w 1835725"/>
              <a:gd name="connsiteY3" fmla="*/ 2024785 h 2024785"/>
              <a:gd name="connsiteX4" fmla="*/ 1655772 w 1835725"/>
              <a:gd name="connsiteY4" fmla="*/ 1983449 h 2024785"/>
              <a:gd name="connsiteX5" fmla="*/ 1687591 w 1835725"/>
              <a:gd name="connsiteY5" fmla="*/ 1854495 h 2024785"/>
              <a:gd name="connsiteX6" fmla="*/ 1708939 w 1835725"/>
              <a:gd name="connsiteY6" fmla="*/ 1673301 h 2024785"/>
              <a:gd name="connsiteX7" fmla="*/ 1778129 w 1835725"/>
              <a:gd name="connsiteY7" fmla="*/ 1615979 h 2024785"/>
              <a:gd name="connsiteX8" fmla="*/ 1801138 w 1835725"/>
              <a:gd name="connsiteY8" fmla="*/ 1622662 h 2024785"/>
              <a:gd name="connsiteX9" fmla="*/ 1585229 w 1835725"/>
              <a:gd name="connsiteY9" fmla="*/ 764759 h 2024785"/>
              <a:gd name="connsiteX10" fmla="*/ 1623024 w 1835725"/>
              <a:gd name="connsiteY10" fmla="*/ 792810 h 2024785"/>
              <a:gd name="connsiteX11" fmla="*/ 1777614 w 1835725"/>
              <a:gd name="connsiteY11" fmla="*/ 1157141 h 2024785"/>
              <a:gd name="connsiteX12" fmla="*/ 1733799 w 1835725"/>
              <a:gd name="connsiteY12" fmla="*/ 1235532 h 2024785"/>
              <a:gd name="connsiteX13" fmla="*/ 1716464 w 1835725"/>
              <a:gd name="connsiteY13" fmla="*/ 1237722 h 2024785"/>
              <a:gd name="connsiteX14" fmla="*/ 1716464 w 1835725"/>
              <a:gd name="connsiteY14" fmla="*/ 1237913 h 2024785"/>
              <a:gd name="connsiteX15" fmla="*/ 1655409 w 1835725"/>
              <a:gd name="connsiteY15" fmla="*/ 1191717 h 2024785"/>
              <a:gd name="connsiteX16" fmla="*/ 1513200 w 1835725"/>
              <a:gd name="connsiteY16" fmla="*/ 856627 h 2024785"/>
              <a:gd name="connsiteX17" fmla="*/ 1538499 w 1835725"/>
              <a:gd name="connsiteY17" fmla="*/ 770415 h 2024785"/>
              <a:gd name="connsiteX18" fmla="*/ 1585229 w 1835725"/>
              <a:gd name="connsiteY18" fmla="*/ 764759 h 2024785"/>
              <a:gd name="connsiteX19" fmla="*/ 477919 w 1835725"/>
              <a:gd name="connsiteY19" fmla="*/ 21437 h 2024785"/>
              <a:gd name="connsiteX20" fmla="*/ 509236 w 1835725"/>
              <a:gd name="connsiteY20" fmla="*/ 84182 h 2024785"/>
              <a:gd name="connsiteX21" fmla="*/ 445829 w 1835725"/>
              <a:gd name="connsiteY21" fmla="*/ 139871 h 2024785"/>
              <a:gd name="connsiteX22" fmla="*/ 437447 w 1835725"/>
              <a:gd name="connsiteY22" fmla="*/ 139395 h 2024785"/>
              <a:gd name="connsiteX23" fmla="*/ 73211 w 1835725"/>
              <a:gd name="connsiteY23" fmla="*/ 137204 h 2024785"/>
              <a:gd name="connsiteX24" fmla="*/ 749 w 1835725"/>
              <a:gd name="connsiteY24" fmla="*/ 84082 h 2024785"/>
              <a:gd name="connsiteX25" fmla="*/ 53871 w 1835725"/>
              <a:gd name="connsiteY25" fmla="*/ 11621 h 2024785"/>
              <a:gd name="connsiteX26" fmla="*/ 58352 w 1835725"/>
              <a:gd name="connsiteY26" fmla="*/ 11093 h 2024785"/>
              <a:gd name="connsiteX27" fmla="*/ 454020 w 1835725"/>
              <a:gd name="connsiteY27" fmla="*/ 13474 h 2024785"/>
              <a:gd name="connsiteX28" fmla="*/ 477919 w 1835725"/>
              <a:gd name="connsiteY28" fmla="*/ 21437 h 2024785"/>
              <a:gd name="connsiteX29" fmla="*/ 957797 w 1835725"/>
              <a:gd name="connsiteY29" fmla="*/ 167970 h 2024785"/>
              <a:gd name="connsiteX30" fmla="*/ 1286982 w 1835725"/>
              <a:gd name="connsiteY30" fmla="*/ 387616 h 2024785"/>
              <a:gd name="connsiteX31" fmla="*/ 1293725 w 1835725"/>
              <a:gd name="connsiteY31" fmla="*/ 477075 h 2024785"/>
              <a:gd name="connsiteX32" fmla="*/ 1245453 w 1835725"/>
              <a:gd name="connsiteY32" fmla="*/ 499154 h 2024785"/>
              <a:gd name="connsiteX33" fmla="*/ 1245167 w 1835725"/>
              <a:gd name="connsiteY33" fmla="*/ 499154 h 2024785"/>
              <a:gd name="connsiteX34" fmla="*/ 1203638 w 1835725"/>
              <a:gd name="connsiteY34" fmla="*/ 484104 h 2024785"/>
              <a:gd name="connsiteX35" fmla="*/ 900647 w 1835725"/>
              <a:gd name="connsiteY35" fmla="*/ 281508 h 2024785"/>
              <a:gd name="connsiteX36" fmla="*/ 872454 w 1835725"/>
              <a:gd name="connsiteY36" fmla="*/ 196164 h 2024785"/>
              <a:gd name="connsiteX37" fmla="*/ 957797 w 1835725"/>
              <a:gd name="connsiteY37" fmla="*/ 167970 h 20247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Lst>
            <a:rect l="l" t="t" r="r" b="b"/>
            <a:pathLst>
              <a:path w="1835725" h="2024785">
                <a:moveTo>
                  <a:pt x="1801138" y="1622662"/>
                </a:moveTo>
                <a:cubicBezTo>
                  <a:pt x="1822105" y="1633400"/>
                  <a:pt x="1836117" y="1655372"/>
                  <a:pt x="1835717" y="1680254"/>
                </a:cubicBezTo>
                <a:cubicBezTo>
                  <a:pt x="1832093" y="1746382"/>
                  <a:pt x="1824354" y="1812154"/>
                  <a:pt x="1812568" y="1877193"/>
                </a:cubicBezTo>
                <a:lnTo>
                  <a:pt x="1776210" y="2024785"/>
                </a:lnTo>
                <a:lnTo>
                  <a:pt x="1655772" y="1983449"/>
                </a:lnTo>
                <a:lnTo>
                  <a:pt x="1687591" y="1854495"/>
                </a:lnTo>
                <a:cubicBezTo>
                  <a:pt x="1698455" y="1794657"/>
                  <a:pt x="1705590" y="1734142"/>
                  <a:pt x="1708939" y="1673301"/>
                </a:cubicBezTo>
                <a:cubicBezTo>
                  <a:pt x="1712216" y="1638363"/>
                  <a:pt x="1743190" y="1612703"/>
                  <a:pt x="1778129" y="1615979"/>
                </a:cubicBezTo>
                <a:cubicBezTo>
                  <a:pt x="1786387" y="1616753"/>
                  <a:pt x="1794149" y="1619084"/>
                  <a:pt x="1801138" y="1622662"/>
                </a:cubicBezTo>
                <a:close/>
                <a:moveTo>
                  <a:pt x="1585229" y="764759"/>
                </a:moveTo>
                <a:cubicBezTo>
                  <a:pt x="1600438" y="768789"/>
                  <a:pt x="1614156" y="778436"/>
                  <a:pt x="1623024" y="792810"/>
                </a:cubicBezTo>
                <a:cubicBezTo>
                  <a:pt x="1689575" y="907319"/>
                  <a:pt x="1741505" y="1029715"/>
                  <a:pt x="1777614" y="1157141"/>
                </a:cubicBezTo>
                <a:cubicBezTo>
                  <a:pt x="1787149" y="1190888"/>
                  <a:pt x="1767537" y="1225969"/>
                  <a:pt x="1733799" y="1235532"/>
                </a:cubicBezTo>
                <a:cubicBezTo>
                  <a:pt x="1728151" y="1237046"/>
                  <a:pt x="1722312" y="1237780"/>
                  <a:pt x="1716464" y="1237722"/>
                </a:cubicBezTo>
                <a:lnTo>
                  <a:pt x="1716464" y="1237913"/>
                </a:lnTo>
                <a:cubicBezTo>
                  <a:pt x="1688070" y="1237913"/>
                  <a:pt x="1663124" y="1219044"/>
                  <a:pt x="1655409" y="1191717"/>
                </a:cubicBezTo>
                <a:cubicBezTo>
                  <a:pt x="1622214" y="1074512"/>
                  <a:pt x="1574437" y="961936"/>
                  <a:pt x="1513200" y="856627"/>
                </a:cubicBezTo>
                <a:cubicBezTo>
                  <a:pt x="1496379" y="825834"/>
                  <a:pt x="1507704" y="787236"/>
                  <a:pt x="1538499" y="770415"/>
                </a:cubicBezTo>
                <a:cubicBezTo>
                  <a:pt x="1553325" y="762319"/>
                  <a:pt x="1570022" y="760730"/>
                  <a:pt x="1585229" y="764759"/>
                </a:cubicBezTo>
                <a:close/>
                <a:moveTo>
                  <a:pt x="477919" y="21437"/>
                </a:moveTo>
                <a:cubicBezTo>
                  <a:pt x="499341" y="33775"/>
                  <a:pt x="512445" y="58102"/>
                  <a:pt x="509236" y="84182"/>
                </a:cubicBezTo>
                <a:cubicBezTo>
                  <a:pt x="505303" y="116151"/>
                  <a:pt x="478038" y="140098"/>
                  <a:pt x="445829" y="139871"/>
                </a:cubicBezTo>
                <a:cubicBezTo>
                  <a:pt x="443027" y="139899"/>
                  <a:pt x="440227" y="139740"/>
                  <a:pt x="437447" y="139395"/>
                </a:cubicBezTo>
                <a:cubicBezTo>
                  <a:pt x="316592" y="123615"/>
                  <a:pt x="194247" y="122878"/>
                  <a:pt x="73211" y="137204"/>
                </a:cubicBezTo>
                <a:cubicBezTo>
                  <a:pt x="38532" y="142545"/>
                  <a:pt x="6090" y="118762"/>
                  <a:pt x="749" y="84082"/>
                </a:cubicBezTo>
                <a:cubicBezTo>
                  <a:pt x="-4591" y="49403"/>
                  <a:pt x="19192" y="16961"/>
                  <a:pt x="53871" y="11621"/>
                </a:cubicBezTo>
                <a:cubicBezTo>
                  <a:pt x="55358" y="11392"/>
                  <a:pt x="56852" y="11216"/>
                  <a:pt x="58352" y="11093"/>
                </a:cubicBezTo>
                <a:cubicBezTo>
                  <a:pt x="189834" y="-4456"/>
                  <a:pt x="322735" y="-3656"/>
                  <a:pt x="454020" y="13474"/>
                </a:cubicBezTo>
                <a:cubicBezTo>
                  <a:pt x="462713" y="14543"/>
                  <a:pt x="470778" y="17324"/>
                  <a:pt x="477919" y="21437"/>
                </a:cubicBezTo>
                <a:close/>
                <a:moveTo>
                  <a:pt x="957797" y="167970"/>
                </a:moveTo>
                <a:cubicBezTo>
                  <a:pt x="1076184" y="227289"/>
                  <a:pt x="1186759" y="301068"/>
                  <a:pt x="1286982" y="387616"/>
                </a:cubicBezTo>
                <a:cubicBezTo>
                  <a:pt x="1313547" y="410457"/>
                  <a:pt x="1316566" y="450510"/>
                  <a:pt x="1293725" y="477075"/>
                </a:cubicBezTo>
                <a:cubicBezTo>
                  <a:pt x="1281638" y="491137"/>
                  <a:pt x="1263998" y="499204"/>
                  <a:pt x="1245453" y="499154"/>
                </a:cubicBezTo>
                <a:lnTo>
                  <a:pt x="1245167" y="499154"/>
                </a:lnTo>
                <a:cubicBezTo>
                  <a:pt x="1229965" y="499301"/>
                  <a:pt x="1215220" y="493956"/>
                  <a:pt x="1203638" y="484104"/>
                </a:cubicBezTo>
                <a:cubicBezTo>
                  <a:pt x="1111407" y="404300"/>
                  <a:pt x="1009633" y="336248"/>
                  <a:pt x="900647" y="281508"/>
                </a:cubicBezTo>
                <a:cubicBezTo>
                  <a:pt x="869295" y="265726"/>
                  <a:pt x="856672" y="227516"/>
                  <a:pt x="872454" y="196164"/>
                </a:cubicBezTo>
                <a:cubicBezTo>
                  <a:pt x="888235" y="164811"/>
                  <a:pt x="926445" y="152188"/>
                  <a:pt x="957797" y="167970"/>
                </a:cubicBezTo>
                <a:close/>
              </a:path>
            </a:pathLst>
          </a:custGeom>
          <a:solidFill>
            <a:schemeClr val="accent4"/>
          </a:solidFill>
          <a:ln w="9525" cap="flat">
            <a:noFill/>
            <a:prstDash val="solid"/>
            <a:miter/>
          </a:ln>
        </p:spPr>
        <p:txBody>
          <a:bodyPr rtlCol="0" anchor="ctr"/>
          <a:lstStyle/>
          <a:p>
            <a:endParaRPr lang="en-US"/>
          </a:p>
        </p:txBody>
      </p:sp>
      <p:sp>
        <p:nvSpPr>
          <p:cNvPr id="37" name="Freeform: Shape 36">
            <a:extLst>
              <a:ext uri="{FF2B5EF4-FFF2-40B4-BE49-F238E27FC236}">
                <a16:creationId xmlns:a16="http://schemas.microsoft.com/office/drawing/2014/main" id="{75F47824-961D-465D-84F9-EAE11BC617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09527" y="6033795"/>
            <a:ext cx="1991064" cy="824205"/>
          </a:xfrm>
          <a:custGeom>
            <a:avLst/>
            <a:gdLst>
              <a:gd name="connsiteX0" fmla="*/ 995532 w 1991064"/>
              <a:gd name="connsiteY0" fmla="*/ 0 h 824205"/>
              <a:gd name="connsiteX1" fmla="*/ 1984823 w 1991064"/>
              <a:gd name="connsiteY1" fmla="*/ 784423 h 824205"/>
              <a:gd name="connsiteX2" fmla="*/ 1991064 w 1991064"/>
              <a:gd name="connsiteY2" fmla="*/ 824205 h 824205"/>
              <a:gd name="connsiteX3" fmla="*/ 0 w 1991064"/>
              <a:gd name="connsiteY3" fmla="*/ 824205 h 824205"/>
              <a:gd name="connsiteX4" fmla="*/ 6241 w 1991064"/>
              <a:gd name="connsiteY4" fmla="*/ 784423 h 824205"/>
              <a:gd name="connsiteX5" fmla="*/ 995532 w 1991064"/>
              <a:gd name="connsiteY5" fmla="*/ 0 h 8242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991064" h="824205">
                <a:moveTo>
                  <a:pt x="995532" y="0"/>
                </a:moveTo>
                <a:cubicBezTo>
                  <a:pt x="1483521" y="0"/>
                  <a:pt x="1890663" y="336754"/>
                  <a:pt x="1984823" y="784423"/>
                </a:cubicBezTo>
                <a:lnTo>
                  <a:pt x="1991064" y="824205"/>
                </a:lnTo>
                <a:lnTo>
                  <a:pt x="0" y="824205"/>
                </a:lnTo>
                <a:lnTo>
                  <a:pt x="6241" y="784423"/>
                </a:lnTo>
                <a:cubicBezTo>
                  <a:pt x="100402" y="336754"/>
                  <a:pt x="507544" y="0"/>
                  <a:pt x="995532" y="0"/>
                </a:cubicBez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39" name="Freeform: Shape 38">
            <a:extLst>
              <a:ext uri="{FF2B5EF4-FFF2-40B4-BE49-F238E27FC236}">
                <a16:creationId xmlns:a16="http://schemas.microsoft.com/office/drawing/2014/main" id="{FEC9DA3E-C1D7-472D-B7C0-F71AE41FBA2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851696" y="5519196"/>
            <a:ext cx="1340305" cy="1338805"/>
          </a:xfrm>
          <a:custGeom>
            <a:avLst/>
            <a:gdLst>
              <a:gd name="connsiteX0" fmla="*/ 61913 w 1340305"/>
              <a:gd name="connsiteY0" fmla="*/ 0 h 1338805"/>
              <a:gd name="connsiteX1" fmla="*/ 1340305 w 1340305"/>
              <a:gd name="connsiteY1" fmla="*/ 0 h 1338805"/>
              <a:gd name="connsiteX2" fmla="*/ 1340305 w 1340305"/>
              <a:gd name="connsiteY2" fmla="*/ 123825 h 1338805"/>
              <a:gd name="connsiteX3" fmla="*/ 123825 w 1340305"/>
              <a:gd name="connsiteY3" fmla="*/ 123825 h 1338805"/>
              <a:gd name="connsiteX4" fmla="*/ 123825 w 1340305"/>
              <a:gd name="connsiteY4" fmla="*/ 1338805 h 1338805"/>
              <a:gd name="connsiteX5" fmla="*/ 0 w 1340305"/>
              <a:gd name="connsiteY5" fmla="*/ 1338805 h 1338805"/>
              <a:gd name="connsiteX6" fmla="*/ 0 w 1340305"/>
              <a:gd name="connsiteY6" fmla="*/ 61913 h 1338805"/>
              <a:gd name="connsiteX7" fmla="*/ 61913 w 1340305"/>
              <a:gd name="connsiteY7" fmla="*/ 0 h 13388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340305" h="1338805">
                <a:moveTo>
                  <a:pt x="61913" y="0"/>
                </a:moveTo>
                <a:lnTo>
                  <a:pt x="1340305" y="0"/>
                </a:lnTo>
                <a:lnTo>
                  <a:pt x="1340305" y="123825"/>
                </a:lnTo>
                <a:lnTo>
                  <a:pt x="123825" y="123825"/>
                </a:lnTo>
                <a:lnTo>
                  <a:pt x="123825" y="1338805"/>
                </a:lnTo>
                <a:lnTo>
                  <a:pt x="0" y="1338805"/>
                </a:lnTo>
                <a:lnTo>
                  <a:pt x="0" y="61913"/>
                </a:lnTo>
                <a:cubicBezTo>
                  <a:pt x="0" y="27719"/>
                  <a:pt x="27719" y="0"/>
                  <a:pt x="61913" y="0"/>
                </a:cubicBezTo>
                <a:close/>
              </a:path>
            </a:pathLst>
          </a:custGeom>
          <a:solidFill>
            <a:schemeClr val="accent6"/>
          </a:solidFill>
          <a:ln w="9525" cap="flat">
            <a:noFill/>
            <a:prstDash val="solid"/>
            <a:miter/>
          </a:ln>
        </p:spPr>
        <p:txBody>
          <a:bodyPr rtlCol="0" anchor="ctr"/>
          <a:lstStyle/>
          <a:p>
            <a:endParaRPr lang="en-US"/>
          </a:p>
        </p:txBody>
      </p:sp>
    </p:spTree>
    <p:extLst>
      <p:ext uri="{BB962C8B-B14F-4D97-AF65-F5344CB8AC3E}">
        <p14:creationId xmlns:p14="http://schemas.microsoft.com/office/powerpoint/2010/main" val="127848322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320E69-8285-4C1A-9364-C8B1393BF315}"/>
              </a:ext>
            </a:extLst>
          </p:cNvPr>
          <p:cNvSpPr>
            <a:spLocks noGrp="1"/>
          </p:cNvSpPr>
          <p:nvPr>
            <p:ph type="title"/>
          </p:nvPr>
        </p:nvSpPr>
        <p:spPr/>
        <p:txBody>
          <a:bodyPr/>
          <a:lstStyle/>
          <a:p>
            <a:r>
              <a:rPr lang="en-US" dirty="0"/>
              <a:t>5. </a:t>
            </a:r>
            <a:r>
              <a:rPr lang="en-US" dirty="0" err="1"/>
              <a:t>Kết</a:t>
            </a:r>
            <a:r>
              <a:rPr lang="en-US" dirty="0"/>
              <a:t> </a:t>
            </a:r>
            <a:r>
              <a:rPr lang="en-US" dirty="0" err="1"/>
              <a:t>quả</a:t>
            </a:r>
            <a:r>
              <a:rPr lang="en-US" dirty="0"/>
              <a:t> </a:t>
            </a:r>
            <a:r>
              <a:rPr lang="en-US" dirty="0" err="1"/>
              <a:t>đạt</a:t>
            </a:r>
            <a:r>
              <a:rPr lang="en-US" dirty="0"/>
              <a:t> </a:t>
            </a:r>
            <a:r>
              <a:rPr lang="en-US" dirty="0" err="1"/>
              <a:t>được</a:t>
            </a:r>
            <a:endParaRPr lang="en-US" dirty="0"/>
          </a:p>
        </p:txBody>
      </p:sp>
      <p:sp>
        <p:nvSpPr>
          <p:cNvPr id="3" name="Content Placeholder 2">
            <a:extLst>
              <a:ext uri="{FF2B5EF4-FFF2-40B4-BE49-F238E27FC236}">
                <a16:creationId xmlns:a16="http://schemas.microsoft.com/office/drawing/2014/main" id="{F8840FEC-403B-4ADC-BFB0-A745F572FCE4}"/>
              </a:ext>
            </a:extLst>
          </p:cNvPr>
          <p:cNvSpPr>
            <a:spLocks noGrp="1"/>
          </p:cNvSpPr>
          <p:nvPr>
            <p:ph idx="1"/>
          </p:nvPr>
        </p:nvSpPr>
        <p:spPr/>
        <p:txBody>
          <a:bodyPr/>
          <a:lstStyle/>
          <a:p>
            <a:pPr marL="0" indent="0">
              <a:buNone/>
            </a:pPr>
            <a:r>
              <a:rPr lang="en-US" dirty="0" err="1"/>
              <a:t>Sử</a:t>
            </a:r>
            <a:r>
              <a:rPr lang="en-US" dirty="0"/>
              <a:t> </a:t>
            </a:r>
            <a:r>
              <a:rPr lang="en-US" dirty="0" err="1"/>
              <a:t>dụng</a:t>
            </a:r>
            <a:r>
              <a:rPr lang="en-US" dirty="0"/>
              <a:t> private key:</a:t>
            </a:r>
          </a:p>
        </p:txBody>
      </p:sp>
    </p:spTree>
    <p:extLst>
      <p:ext uri="{BB962C8B-B14F-4D97-AF65-F5344CB8AC3E}">
        <p14:creationId xmlns:p14="http://schemas.microsoft.com/office/powerpoint/2010/main" val="389008898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CA5D51-3A34-479D-8A3C-C4E48B447A96}"/>
              </a:ext>
            </a:extLst>
          </p:cNvPr>
          <p:cNvSpPr>
            <a:spLocks noGrp="1"/>
          </p:cNvSpPr>
          <p:nvPr>
            <p:ph type="title"/>
          </p:nvPr>
        </p:nvSpPr>
        <p:spPr/>
        <p:txBody>
          <a:bodyPr/>
          <a:lstStyle/>
          <a:p>
            <a:r>
              <a:rPr lang="en-US" dirty="0"/>
              <a:t>5 </a:t>
            </a:r>
            <a:r>
              <a:rPr lang="en-US" dirty="0" err="1"/>
              <a:t>Kết</a:t>
            </a:r>
            <a:r>
              <a:rPr lang="en-US" dirty="0"/>
              <a:t> </a:t>
            </a:r>
            <a:r>
              <a:rPr lang="en-US" dirty="0" err="1"/>
              <a:t>quả</a:t>
            </a:r>
            <a:r>
              <a:rPr lang="en-US" dirty="0"/>
              <a:t> </a:t>
            </a:r>
            <a:r>
              <a:rPr lang="en-US" dirty="0" err="1"/>
              <a:t>đạt</a:t>
            </a:r>
            <a:r>
              <a:rPr lang="en-US" dirty="0"/>
              <a:t> </a:t>
            </a:r>
            <a:r>
              <a:rPr lang="en-US" dirty="0" err="1"/>
              <a:t>được</a:t>
            </a:r>
            <a:endParaRPr lang="en-US" dirty="0"/>
          </a:p>
        </p:txBody>
      </p:sp>
      <p:sp>
        <p:nvSpPr>
          <p:cNvPr id="3" name="Content Placeholder 2">
            <a:extLst>
              <a:ext uri="{FF2B5EF4-FFF2-40B4-BE49-F238E27FC236}">
                <a16:creationId xmlns:a16="http://schemas.microsoft.com/office/drawing/2014/main" id="{CB9D9654-92F2-4D24-94F2-3E93C7492E14}"/>
              </a:ext>
            </a:extLst>
          </p:cNvPr>
          <p:cNvSpPr>
            <a:spLocks noGrp="1"/>
          </p:cNvSpPr>
          <p:nvPr>
            <p:ph idx="1"/>
          </p:nvPr>
        </p:nvSpPr>
        <p:spPr/>
        <p:txBody>
          <a:bodyPr/>
          <a:lstStyle/>
          <a:p>
            <a:r>
              <a:rPr lang="en-US" dirty="0" err="1"/>
              <a:t>Sử</a:t>
            </a:r>
            <a:r>
              <a:rPr lang="en-US" dirty="0"/>
              <a:t> </a:t>
            </a:r>
            <a:r>
              <a:rPr lang="en-US" dirty="0" err="1"/>
              <a:t>dụng</a:t>
            </a:r>
            <a:r>
              <a:rPr lang="en-US" dirty="0"/>
              <a:t> </a:t>
            </a:r>
            <a:r>
              <a:rPr lang="en-US" dirty="0" err="1"/>
              <a:t>xác</a:t>
            </a:r>
            <a:r>
              <a:rPr lang="en-US" dirty="0"/>
              <a:t> </a:t>
            </a:r>
            <a:r>
              <a:rPr lang="en-US" dirty="0" err="1"/>
              <a:t>thực</a:t>
            </a:r>
            <a:r>
              <a:rPr lang="en-US" dirty="0"/>
              <a:t> broker-client</a:t>
            </a:r>
          </a:p>
        </p:txBody>
      </p:sp>
    </p:spTree>
    <p:extLst>
      <p:ext uri="{BB962C8B-B14F-4D97-AF65-F5344CB8AC3E}">
        <p14:creationId xmlns:p14="http://schemas.microsoft.com/office/powerpoint/2010/main" val="57746444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399156-1CAD-481A-859F-828C95C78901}"/>
              </a:ext>
            </a:extLst>
          </p:cNvPr>
          <p:cNvSpPr>
            <a:spLocks noGrp="1"/>
          </p:cNvSpPr>
          <p:nvPr>
            <p:ph type="title"/>
          </p:nvPr>
        </p:nvSpPr>
        <p:spPr/>
        <p:txBody>
          <a:bodyPr/>
          <a:lstStyle/>
          <a:p>
            <a:r>
              <a:rPr lang="en-US" dirty="0"/>
              <a:t>5.Kết </a:t>
            </a:r>
            <a:r>
              <a:rPr lang="en-US" dirty="0" err="1"/>
              <a:t>quả</a:t>
            </a:r>
            <a:r>
              <a:rPr lang="en-US" dirty="0"/>
              <a:t> </a:t>
            </a:r>
            <a:r>
              <a:rPr lang="en-US" dirty="0" err="1"/>
              <a:t>đạt</a:t>
            </a:r>
            <a:r>
              <a:rPr lang="en-US" dirty="0"/>
              <a:t> </a:t>
            </a:r>
            <a:r>
              <a:rPr lang="en-US" dirty="0" err="1"/>
              <a:t>được</a:t>
            </a:r>
            <a:endParaRPr lang="en-US" dirty="0"/>
          </a:p>
        </p:txBody>
      </p:sp>
      <p:sp>
        <p:nvSpPr>
          <p:cNvPr id="3" name="Content Placeholder 2">
            <a:extLst>
              <a:ext uri="{FF2B5EF4-FFF2-40B4-BE49-F238E27FC236}">
                <a16:creationId xmlns:a16="http://schemas.microsoft.com/office/drawing/2014/main" id="{30A8DE22-A3BB-4B11-A751-B3D03D630865}"/>
              </a:ext>
            </a:extLst>
          </p:cNvPr>
          <p:cNvSpPr>
            <a:spLocks noGrp="1"/>
          </p:cNvSpPr>
          <p:nvPr>
            <p:ph idx="1"/>
          </p:nvPr>
        </p:nvSpPr>
        <p:spPr/>
        <p:txBody>
          <a:bodyPr/>
          <a:lstStyle/>
          <a:p>
            <a:r>
              <a:rPr lang="en-US" dirty="0" err="1"/>
              <a:t>Xác</a:t>
            </a:r>
            <a:r>
              <a:rPr lang="en-US" dirty="0"/>
              <a:t> </a:t>
            </a:r>
            <a:r>
              <a:rPr lang="en-US" dirty="0" err="1"/>
              <a:t>thực</a:t>
            </a:r>
            <a:r>
              <a:rPr lang="en-US" dirty="0"/>
              <a:t> </a:t>
            </a:r>
            <a:r>
              <a:rPr lang="en-US" dirty="0" err="1"/>
              <a:t>từ</a:t>
            </a:r>
            <a:r>
              <a:rPr lang="en-US" dirty="0"/>
              <a:t> </a:t>
            </a:r>
            <a:r>
              <a:rPr lang="en-US" dirty="0" err="1"/>
              <a:t>phía</a:t>
            </a:r>
            <a:r>
              <a:rPr lang="en-US" dirty="0"/>
              <a:t> Web server – </a:t>
            </a:r>
            <a:r>
              <a:rPr lang="en-US" dirty="0" err="1"/>
              <a:t>người</a:t>
            </a:r>
            <a:r>
              <a:rPr lang="en-US" dirty="0"/>
              <a:t> </a:t>
            </a:r>
            <a:r>
              <a:rPr lang="en-US" dirty="0" err="1"/>
              <a:t>dùng</a:t>
            </a:r>
            <a:endParaRPr lang="en-US" dirty="0"/>
          </a:p>
        </p:txBody>
      </p:sp>
    </p:spTree>
    <p:extLst>
      <p:ext uri="{BB962C8B-B14F-4D97-AF65-F5344CB8AC3E}">
        <p14:creationId xmlns:p14="http://schemas.microsoft.com/office/powerpoint/2010/main" val="378213612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41CA29-0E77-4DB4-8A03-D834A4C89D67}"/>
              </a:ext>
            </a:extLst>
          </p:cNvPr>
          <p:cNvSpPr>
            <a:spLocks noGrp="1"/>
          </p:cNvSpPr>
          <p:nvPr>
            <p:ph type="title"/>
          </p:nvPr>
        </p:nvSpPr>
        <p:spPr/>
        <p:txBody>
          <a:bodyPr/>
          <a:lstStyle/>
          <a:p>
            <a:r>
              <a:rPr lang="en-US" dirty="0"/>
              <a:t>5. </a:t>
            </a:r>
            <a:r>
              <a:rPr lang="en-US" dirty="0" err="1"/>
              <a:t>Kết</a:t>
            </a:r>
            <a:r>
              <a:rPr lang="en-US" dirty="0"/>
              <a:t> </a:t>
            </a:r>
            <a:r>
              <a:rPr lang="en-US" dirty="0" err="1"/>
              <a:t>quả</a:t>
            </a:r>
            <a:r>
              <a:rPr lang="en-US" dirty="0"/>
              <a:t> </a:t>
            </a:r>
            <a:r>
              <a:rPr lang="en-US" dirty="0" err="1"/>
              <a:t>đạt</a:t>
            </a:r>
            <a:r>
              <a:rPr lang="en-US" dirty="0"/>
              <a:t> </a:t>
            </a:r>
            <a:r>
              <a:rPr lang="en-US" dirty="0" err="1"/>
              <a:t>được</a:t>
            </a:r>
            <a:endParaRPr lang="en-US" dirty="0"/>
          </a:p>
        </p:txBody>
      </p:sp>
      <p:sp>
        <p:nvSpPr>
          <p:cNvPr id="3" name="Content Placeholder 2">
            <a:extLst>
              <a:ext uri="{FF2B5EF4-FFF2-40B4-BE49-F238E27FC236}">
                <a16:creationId xmlns:a16="http://schemas.microsoft.com/office/drawing/2014/main" id="{FDD32745-F682-47A9-BB7A-E5A5384BD0C1}"/>
              </a:ext>
            </a:extLst>
          </p:cNvPr>
          <p:cNvSpPr>
            <a:spLocks noGrp="1"/>
          </p:cNvSpPr>
          <p:nvPr>
            <p:ph idx="1"/>
          </p:nvPr>
        </p:nvSpPr>
        <p:spPr/>
        <p:txBody>
          <a:bodyPr/>
          <a:lstStyle/>
          <a:p>
            <a:r>
              <a:rPr lang="en-US" dirty="0" err="1"/>
              <a:t>Sử</a:t>
            </a:r>
            <a:r>
              <a:rPr lang="en-US" dirty="0"/>
              <a:t> </a:t>
            </a:r>
            <a:r>
              <a:rPr lang="en-US" dirty="0" err="1"/>
              <a:t>dụng</a:t>
            </a:r>
            <a:r>
              <a:rPr lang="en-US" dirty="0"/>
              <a:t> </a:t>
            </a:r>
            <a:r>
              <a:rPr lang="en-US"/>
              <a:t>Public Key</a:t>
            </a:r>
          </a:p>
        </p:txBody>
      </p:sp>
    </p:spTree>
    <p:extLst>
      <p:ext uri="{BB962C8B-B14F-4D97-AF65-F5344CB8AC3E}">
        <p14:creationId xmlns:p14="http://schemas.microsoft.com/office/powerpoint/2010/main" val="140203918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24</TotalTime>
  <Words>1001</Words>
  <Application>Microsoft Office PowerPoint</Application>
  <PresentationFormat>Widescreen</PresentationFormat>
  <Paragraphs>87</Paragraphs>
  <Slides>27</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27</vt:i4>
      </vt:variant>
    </vt:vector>
  </HeadingPairs>
  <TitlesOfParts>
    <vt:vector size="34" baseType="lpstr">
      <vt:lpstr>Arial</vt:lpstr>
      <vt:lpstr>Calibri</vt:lpstr>
      <vt:lpstr>Calibri Light</vt:lpstr>
      <vt:lpstr>Helvetica</vt:lpstr>
      <vt:lpstr>Open Sans</vt:lpstr>
      <vt:lpstr>Wingdings</vt:lpstr>
      <vt:lpstr>Office Theme</vt:lpstr>
      <vt:lpstr>Đề Tài: Bảo mật hệ thống IoT</vt:lpstr>
      <vt:lpstr>Nội dung trình bày</vt:lpstr>
      <vt:lpstr>1. Giới Thiệu</vt:lpstr>
      <vt:lpstr>1.1 IoT</vt:lpstr>
      <vt:lpstr>1.2 MQTT</vt:lpstr>
      <vt:lpstr>1.2 MQTT</vt:lpstr>
      <vt:lpstr>1. Giới Thiệu</vt:lpstr>
      <vt:lpstr>2. Mô hình hóa hệ thống</vt:lpstr>
      <vt:lpstr>2.1 NodeMCU ESP8266</vt:lpstr>
      <vt:lpstr>2.1 NodeMCU ESP8266</vt:lpstr>
      <vt:lpstr>2.2 DHT11</vt:lpstr>
      <vt:lpstr>2.2 DHT11</vt:lpstr>
      <vt:lpstr>2.3 Thiết kế trang web với Vuejs</vt:lpstr>
      <vt:lpstr>2.3 Thiết kế trang web với Vuejs</vt:lpstr>
      <vt:lpstr>3. Thiết kế hệ thống</vt:lpstr>
      <vt:lpstr>3.1 Sơ đồ hệ thống</vt:lpstr>
      <vt:lpstr>3.1 Sơ đồ hệ thống</vt:lpstr>
      <vt:lpstr>4. Bảo mật hệ thống</vt:lpstr>
      <vt:lpstr>4.1 Mã hóa dữ liệu đường truyền </vt:lpstr>
      <vt:lpstr>AES</vt:lpstr>
      <vt:lpstr>ECB (Electronic CodeBook)</vt:lpstr>
      <vt:lpstr>4.2 Xác thực thiết bị thông minh với server</vt:lpstr>
      <vt:lpstr>4.3 Một số cách khác</vt:lpstr>
      <vt:lpstr>5. Kết quả đạt được</vt:lpstr>
      <vt:lpstr>5 Kết quả đạt được</vt:lpstr>
      <vt:lpstr>5.Kết quả đạt được</vt:lpstr>
      <vt:lpstr>5. Kết quả đạt được</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Đề Tài: Bảo mật hệ thống IoT</dc:title>
  <dc:creator>Thao</dc:creator>
  <cp:lastModifiedBy>Vu Duc Thao 20163668</cp:lastModifiedBy>
  <cp:revision>8</cp:revision>
  <dcterms:created xsi:type="dcterms:W3CDTF">2020-10-15T03:23:17Z</dcterms:created>
  <dcterms:modified xsi:type="dcterms:W3CDTF">2020-10-16T19:56:44Z</dcterms:modified>
</cp:coreProperties>
</file>