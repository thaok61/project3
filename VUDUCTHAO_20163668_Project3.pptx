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0" r:id="rId4"/>
    <p:sldId id="258" r:id="rId5"/>
    <p:sldId id="271" r:id="rId6"/>
    <p:sldId id="280" r:id="rId7"/>
    <p:sldId id="259" r:id="rId8"/>
    <p:sldId id="260" r:id="rId9"/>
    <p:sldId id="264" r:id="rId10"/>
    <p:sldId id="274" r:id="rId11"/>
    <p:sldId id="265" r:id="rId12"/>
    <p:sldId id="275" r:id="rId13"/>
    <p:sldId id="288" r:id="rId14"/>
    <p:sldId id="289" r:id="rId15"/>
    <p:sldId id="290" r:id="rId16"/>
    <p:sldId id="291" r:id="rId17"/>
    <p:sldId id="266" r:id="rId18"/>
    <p:sldId id="262" r:id="rId19"/>
    <p:sldId id="286" r:id="rId20"/>
    <p:sldId id="267" r:id="rId21"/>
    <p:sldId id="269" r:id="rId22"/>
    <p:sldId id="263" r:id="rId23"/>
    <p:sldId id="268" r:id="rId24"/>
    <p:sldId id="279" r:id="rId25"/>
    <p:sldId id="278" r:id="rId26"/>
    <p:sldId id="272" r:id="rId27"/>
    <p:sldId id="273" r:id="rId28"/>
    <p:sldId id="281" r:id="rId29"/>
    <p:sldId id="285" r:id="rId30"/>
    <p:sldId id="282" r:id="rId31"/>
    <p:sldId id="283" r:id="rId32"/>
    <p:sldId id="284" r:id="rId33"/>
    <p:sldId id="28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u Duc Thao 20163668" initials="VDT2" lastIdx="1" clrIdx="0">
    <p:extLst>
      <p:ext uri="{19B8F6BF-5375-455C-9EA6-DF929625EA0E}">
        <p15:presenceInfo xmlns:p15="http://schemas.microsoft.com/office/powerpoint/2012/main" userId="Vu Duc Thao 20163668"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14F38-ACE2-4FD2-8778-FF5C696918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D5F0D5-087A-4569-A432-9A86FD3B52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D7BAD3-07BE-4DDF-AC92-0A680B0335BF}"/>
              </a:ext>
            </a:extLst>
          </p:cNvPr>
          <p:cNvSpPr>
            <a:spLocks noGrp="1"/>
          </p:cNvSpPr>
          <p:nvPr>
            <p:ph type="dt" sz="half" idx="10"/>
          </p:nvPr>
        </p:nvSpPr>
        <p:spPr/>
        <p:txBody>
          <a:bodyPr/>
          <a:lstStyle/>
          <a:p>
            <a:fld id="{4EF89BDC-DFB9-40EB-8449-EFB3B71D28D8}" type="datetimeFigureOut">
              <a:rPr lang="en-US" smtClean="0"/>
              <a:t>12/30/2020</a:t>
            </a:fld>
            <a:endParaRPr lang="en-US"/>
          </a:p>
        </p:txBody>
      </p:sp>
      <p:sp>
        <p:nvSpPr>
          <p:cNvPr id="5" name="Footer Placeholder 4">
            <a:extLst>
              <a:ext uri="{FF2B5EF4-FFF2-40B4-BE49-F238E27FC236}">
                <a16:creationId xmlns:a16="http://schemas.microsoft.com/office/drawing/2014/main" id="{D73663A3-39DE-4AF3-A636-8F46B9A138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44A575-E7CB-48E4-AFB1-46D5DB0E76BA}"/>
              </a:ext>
            </a:extLst>
          </p:cNvPr>
          <p:cNvSpPr>
            <a:spLocks noGrp="1"/>
          </p:cNvSpPr>
          <p:nvPr>
            <p:ph type="sldNum" sz="quarter" idx="12"/>
          </p:nvPr>
        </p:nvSpPr>
        <p:spPr/>
        <p:txBody>
          <a:bodyPr/>
          <a:lstStyle/>
          <a:p>
            <a:fld id="{76B3026C-0626-4557-8D88-E2178A401A82}" type="slidenum">
              <a:rPr lang="en-US" smtClean="0"/>
              <a:t>‹#›</a:t>
            </a:fld>
            <a:endParaRPr lang="en-US"/>
          </a:p>
        </p:txBody>
      </p:sp>
    </p:spTree>
    <p:extLst>
      <p:ext uri="{BB962C8B-B14F-4D97-AF65-F5344CB8AC3E}">
        <p14:creationId xmlns:p14="http://schemas.microsoft.com/office/powerpoint/2010/main" val="916043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C295F-DF99-47D8-B931-5DCEACCCB3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8D1F15-B393-4276-B3B3-A8BEE4C39C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5F8AF7-5730-40DC-BBFD-F311F3A6446D}"/>
              </a:ext>
            </a:extLst>
          </p:cNvPr>
          <p:cNvSpPr>
            <a:spLocks noGrp="1"/>
          </p:cNvSpPr>
          <p:nvPr>
            <p:ph type="dt" sz="half" idx="10"/>
          </p:nvPr>
        </p:nvSpPr>
        <p:spPr/>
        <p:txBody>
          <a:bodyPr/>
          <a:lstStyle/>
          <a:p>
            <a:fld id="{4EF89BDC-DFB9-40EB-8449-EFB3B71D28D8}" type="datetimeFigureOut">
              <a:rPr lang="en-US" smtClean="0"/>
              <a:t>12/30/2020</a:t>
            </a:fld>
            <a:endParaRPr lang="en-US"/>
          </a:p>
        </p:txBody>
      </p:sp>
      <p:sp>
        <p:nvSpPr>
          <p:cNvPr id="5" name="Footer Placeholder 4">
            <a:extLst>
              <a:ext uri="{FF2B5EF4-FFF2-40B4-BE49-F238E27FC236}">
                <a16:creationId xmlns:a16="http://schemas.microsoft.com/office/drawing/2014/main" id="{1B6A1CB7-CAFF-4A45-9BE9-A9A63A3018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E6CBA0-4B46-4CFA-9A61-2CBDC01F7701}"/>
              </a:ext>
            </a:extLst>
          </p:cNvPr>
          <p:cNvSpPr>
            <a:spLocks noGrp="1"/>
          </p:cNvSpPr>
          <p:nvPr>
            <p:ph type="sldNum" sz="quarter" idx="12"/>
          </p:nvPr>
        </p:nvSpPr>
        <p:spPr/>
        <p:txBody>
          <a:bodyPr/>
          <a:lstStyle/>
          <a:p>
            <a:fld id="{76B3026C-0626-4557-8D88-E2178A401A82}" type="slidenum">
              <a:rPr lang="en-US" smtClean="0"/>
              <a:t>‹#›</a:t>
            </a:fld>
            <a:endParaRPr lang="en-US"/>
          </a:p>
        </p:txBody>
      </p:sp>
    </p:spTree>
    <p:extLst>
      <p:ext uri="{BB962C8B-B14F-4D97-AF65-F5344CB8AC3E}">
        <p14:creationId xmlns:p14="http://schemas.microsoft.com/office/powerpoint/2010/main" val="751328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F5EAE-FB1F-42EA-B38A-D1858D6B0E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7D1004-2E73-4FC6-BEE4-2CE327DA2E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B6D35C-34EE-4E11-BB7E-3528A33C1596}"/>
              </a:ext>
            </a:extLst>
          </p:cNvPr>
          <p:cNvSpPr>
            <a:spLocks noGrp="1"/>
          </p:cNvSpPr>
          <p:nvPr>
            <p:ph type="dt" sz="half" idx="10"/>
          </p:nvPr>
        </p:nvSpPr>
        <p:spPr/>
        <p:txBody>
          <a:bodyPr/>
          <a:lstStyle/>
          <a:p>
            <a:fld id="{4EF89BDC-DFB9-40EB-8449-EFB3B71D28D8}" type="datetimeFigureOut">
              <a:rPr lang="en-US" smtClean="0"/>
              <a:t>12/30/2020</a:t>
            </a:fld>
            <a:endParaRPr lang="en-US"/>
          </a:p>
        </p:txBody>
      </p:sp>
      <p:sp>
        <p:nvSpPr>
          <p:cNvPr id="5" name="Footer Placeholder 4">
            <a:extLst>
              <a:ext uri="{FF2B5EF4-FFF2-40B4-BE49-F238E27FC236}">
                <a16:creationId xmlns:a16="http://schemas.microsoft.com/office/drawing/2014/main" id="{33B5BD39-81EE-45AE-A571-9806719E04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4F28E9-2436-4D45-A429-1BE05F232907}"/>
              </a:ext>
            </a:extLst>
          </p:cNvPr>
          <p:cNvSpPr>
            <a:spLocks noGrp="1"/>
          </p:cNvSpPr>
          <p:nvPr>
            <p:ph type="sldNum" sz="quarter" idx="12"/>
          </p:nvPr>
        </p:nvSpPr>
        <p:spPr/>
        <p:txBody>
          <a:bodyPr/>
          <a:lstStyle/>
          <a:p>
            <a:fld id="{76B3026C-0626-4557-8D88-E2178A401A82}" type="slidenum">
              <a:rPr lang="en-US" smtClean="0"/>
              <a:t>‹#›</a:t>
            </a:fld>
            <a:endParaRPr lang="en-US"/>
          </a:p>
        </p:txBody>
      </p:sp>
    </p:spTree>
    <p:extLst>
      <p:ext uri="{BB962C8B-B14F-4D97-AF65-F5344CB8AC3E}">
        <p14:creationId xmlns:p14="http://schemas.microsoft.com/office/powerpoint/2010/main" val="2239362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6BE32-BF33-4A8E-88DC-2DFCA303EF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EC133-639E-4E5C-844B-8A75A118F9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46F065-F70A-4815-A849-FC0A6EC217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DDD4BC-ECD2-40F5-8F47-E8E74F8C086F}"/>
              </a:ext>
            </a:extLst>
          </p:cNvPr>
          <p:cNvSpPr>
            <a:spLocks noGrp="1"/>
          </p:cNvSpPr>
          <p:nvPr>
            <p:ph type="dt" sz="half" idx="10"/>
          </p:nvPr>
        </p:nvSpPr>
        <p:spPr/>
        <p:txBody>
          <a:bodyPr/>
          <a:lstStyle/>
          <a:p>
            <a:fld id="{4EF89BDC-DFB9-40EB-8449-EFB3B71D28D8}" type="datetimeFigureOut">
              <a:rPr lang="en-US" smtClean="0"/>
              <a:t>12/30/2020</a:t>
            </a:fld>
            <a:endParaRPr lang="en-US"/>
          </a:p>
        </p:txBody>
      </p:sp>
      <p:sp>
        <p:nvSpPr>
          <p:cNvPr id="6" name="Footer Placeholder 5">
            <a:extLst>
              <a:ext uri="{FF2B5EF4-FFF2-40B4-BE49-F238E27FC236}">
                <a16:creationId xmlns:a16="http://schemas.microsoft.com/office/drawing/2014/main" id="{60420EDF-51BB-44CE-84FA-9F5A2CC50F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ABD905-4D4A-4781-86CA-88EDCA3970DB}"/>
              </a:ext>
            </a:extLst>
          </p:cNvPr>
          <p:cNvSpPr>
            <a:spLocks noGrp="1"/>
          </p:cNvSpPr>
          <p:nvPr>
            <p:ph type="sldNum" sz="quarter" idx="12"/>
          </p:nvPr>
        </p:nvSpPr>
        <p:spPr/>
        <p:txBody>
          <a:bodyPr/>
          <a:lstStyle/>
          <a:p>
            <a:fld id="{76B3026C-0626-4557-8D88-E2178A401A82}" type="slidenum">
              <a:rPr lang="en-US" smtClean="0"/>
              <a:t>‹#›</a:t>
            </a:fld>
            <a:endParaRPr lang="en-US"/>
          </a:p>
        </p:txBody>
      </p:sp>
    </p:spTree>
    <p:extLst>
      <p:ext uri="{BB962C8B-B14F-4D97-AF65-F5344CB8AC3E}">
        <p14:creationId xmlns:p14="http://schemas.microsoft.com/office/powerpoint/2010/main" val="1709520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D4A0D-C870-4200-A6E5-C0D8013ACA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54D502-221E-4EEF-8323-1243D5A614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EECEE1-9C5C-41AC-9F44-4146E624A1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3585DE-5E46-4CAD-AF77-A9D935992E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9D9F6C-D21D-47B0-BC14-9F06C93CE0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19F49C-A8F9-443D-B355-7520921FC91E}"/>
              </a:ext>
            </a:extLst>
          </p:cNvPr>
          <p:cNvSpPr>
            <a:spLocks noGrp="1"/>
          </p:cNvSpPr>
          <p:nvPr>
            <p:ph type="dt" sz="half" idx="10"/>
          </p:nvPr>
        </p:nvSpPr>
        <p:spPr/>
        <p:txBody>
          <a:bodyPr/>
          <a:lstStyle/>
          <a:p>
            <a:fld id="{4EF89BDC-DFB9-40EB-8449-EFB3B71D28D8}" type="datetimeFigureOut">
              <a:rPr lang="en-US" smtClean="0"/>
              <a:t>12/30/2020</a:t>
            </a:fld>
            <a:endParaRPr lang="en-US"/>
          </a:p>
        </p:txBody>
      </p:sp>
      <p:sp>
        <p:nvSpPr>
          <p:cNvPr id="8" name="Footer Placeholder 7">
            <a:extLst>
              <a:ext uri="{FF2B5EF4-FFF2-40B4-BE49-F238E27FC236}">
                <a16:creationId xmlns:a16="http://schemas.microsoft.com/office/drawing/2014/main" id="{2851EA65-3A44-4ED9-AA8C-2C92B7A6817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F5826D-31D6-4D57-9944-ED4428F2CCFE}"/>
              </a:ext>
            </a:extLst>
          </p:cNvPr>
          <p:cNvSpPr>
            <a:spLocks noGrp="1"/>
          </p:cNvSpPr>
          <p:nvPr>
            <p:ph type="sldNum" sz="quarter" idx="12"/>
          </p:nvPr>
        </p:nvSpPr>
        <p:spPr/>
        <p:txBody>
          <a:bodyPr/>
          <a:lstStyle/>
          <a:p>
            <a:fld id="{76B3026C-0626-4557-8D88-E2178A401A82}" type="slidenum">
              <a:rPr lang="en-US" smtClean="0"/>
              <a:t>‹#›</a:t>
            </a:fld>
            <a:endParaRPr lang="en-US"/>
          </a:p>
        </p:txBody>
      </p:sp>
    </p:spTree>
    <p:extLst>
      <p:ext uri="{BB962C8B-B14F-4D97-AF65-F5344CB8AC3E}">
        <p14:creationId xmlns:p14="http://schemas.microsoft.com/office/powerpoint/2010/main" val="1935358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9AD79-D197-4250-BEB7-DEE0031434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74001A-F466-499E-96F9-7E5B833ED217}"/>
              </a:ext>
            </a:extLst>
          </p:cNvPr>
          <p:cNvSpPr>
            <a:spLocks noGrp="1"/>
          </p:cNvSpPr>
          <p:nvPr>
            <p:ph type="dt" sz="half" idx="10"/>
          </p:nvPr>
        </p:nvSpPr>
        <p:spPr/>
        <p:txBody>
          <a:bodyPr/>
          <a:lstStyle/>
          <a:p>
            <a:fld id="{4EF89BDC-DFB9-40EB-8449-EFB3B71D28D8}" type="datetimeFigureOut">
              <a:rPr lang="en-US" smtClean="0"/>
              <a:t>12/30/2020</a:t>
            </a:fld>
            <a:endParaRPr lang="en-US"/>
          </a:p>
        </p:txBody>
      </p:sp>
      <p:sp>
        <p:nvSpPr>
          <p:cNvPr id="4" name="Footer Placeholder 3">
            <a:extLst>
              <a:ext uri="{FF2B5EF4-FFF2-40B4-BE49-F238E27FC236}">
                <a16:creationId xmlns:a16="http://schemas.microsoft.com/office/drawing/2014/main" id="{2272C901-B6A9-472D-BE85-1D0C9DBCBE0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E59ADD-66C6-4E60-9584-60160AC410D9}"/>
              </a:ext>
            </a:extLst>
          </p:cNvPr>
          <p:cNvSpPr>
            <a:spLocks noGrp="1"/>
          </p:cNvSpPr>
          <p:nvPr>
            <p:ph type="sldNum" sz="quarter" idx="12"/>
          </p:nvPr>
        </p:nvSpPr>
        <p:spPr/>
        <p:txBody>
          <a:bodyPr/>
          <a:lstStyle/>
          <a:p>
            <a:fld id="{76B3026C-0626-4557-8D88-E2178A401A82}" type="slidenum">
              <a:rPr lang="en-US" smtClean="0"/>
              <a:t>‹#›</a:t>
            </a:fld>
            <a:endParaRPr lang="en-US"/>
          </a:p>
        </p:txBody>
      </p:sp>
    </p:spTree>
    <p:extLst>
      <p:ext uri="{BB962C8B-B14F-4D97-AF65-F5344CB8AC3E}">
        <p14:creationId xmlns:p14="http://schemas.microsoft.com/office/powerpoint/2010/main" val="1886073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577EA3-2DA7-4705-A9B2-2F518413201E}"/>
              </a:ext>
            </a:extLst>
          </p:cNvPr>
          <p:cNvSpPr>
            <a:spLocks noGrp="1"/>
          </p:cNvSpPr>
          <p:nvPr>
            <p:ph type="dt" sz="half" idx="10"/>
          </p:nvPr>
        </p:nvSpPr>
        <p:spPr/>
        <p:txBody>
          <a:bodyPr/>
          <a:lstStyle/>
          <a:p>
            <a:fld id="{4EF89BDC-DFB9-40EB-8449-EFB3B71D28D8}" type="datetimeFigureOut">
              <a:rPr lang="en-US" smtClean="0"/>
              <a:t>12/30/2020</a:t>
            </a:fld>
            <a:endParaRPr lang="en-US"/>
          </a:p>
        </p:txBody>
      </p:sp>
      <p:sp>
        <p:nvSpPr>
          <p:cNvPr id="3" name="Footer Placeholder 2">
            <a:extLst>
              <a:ext uri="{FF2B5EF4-FFF2-40B4-BE49-F238E27FC236}">
                <a16:creationId xmlns:a16="http://schemas.microsoft.com/office/drawing/2014/main" id="{9F48AB47-5EE1-4EBB-8E75-64B90B05EE9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8320D2A-4ACB-4FA9-9888-01F6739BAD3D}"/>
              </a:ext>
            </a:extLst>
          </p:cNvPr>
          <p:cNvSpPr>
            <a:spLocks noGrp="1"/>
          </p:cNvSpPr>
          <p:nvPr>
            <p:ph type="sldNum" sz="quarter" idx="12"/>
          </p:nvPr>
        </p:nvSpPr>
        <p:spPr/>
        <p:txBody>
          <a:bodyPr/>
          <a:lstStyle/>
          <a:p>
            <a:fld id="{76B3026C-0626-4557-8D88-E2178A401A82}" type="slidenum">
              <a:rPr lang="en-US" smtClean="0"/>
              <a:t>‹#›</a:t>
            </a:fld>
            <a:endParaRPr lang="en-US"/>
          </a:p>
        </p:txBody>
      </p:sp>
    </p:spTree>
    <p:extLst>
      <p:ext uri="{BB962C8B-B14F-4D97-AF65-F5344CB8AC3E}">
        <p14:creationId xmlns:p14="http://schemas.microsoft.com/office/powerpoint/2010/main" val="417280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E356F-6B99-431F-B955-FC2919FF9D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838261-30DF-47F3-87DF-CEF87A8015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2AC8EF-8F00-4154-8FC5-B798E2761F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2572AE-27DB-4007-B6DD-2D20C8B713F1}"/>
              </a:ext>
            </a:extLst>
          </p:cNvPr>
          <p:cNvSpPr>
            <a:spLocks noGrp="1"/>
          </p:cNvSpPr>
          <p:nvPr>
            <p:ph type="dt" sz="half" idx="10"/>
          </p:nvPr>
        </p:nvSpPr>
        <p:spPr/>
        <p:txBody>
          <a:bodyPr/>
          <a:lstStyle/>
          <a:p>
            <a:fld id="{4EF89BDC-DFB9-40EB-8449-EFB3B71D28D8}" type="datetimeFigureOut">
              <a:rPr lang="en-US" smtClean="0"/>
              <a:t>12/30/2020</a:t>
            </a:fld>
            <a:endParaRPr lang="en-US"/>
          </a:p>
        </p:txBody>
      </p:sp>
      <p:sp>
        <p:nvSpPr>
          <p:cNvPr id="6" name="Footer Placeholder 5">
            <a:extLst>
              <a:ext uri="{FF2B5EF4-FFF2-40B4-BE49-F238E27FC236}">
                <a16:creationId xmlns:a16="http://schemas.microsoft.com/office/drawing/2014/main" id="{C8F821F9-8C49-434B-8A06-2B185608A8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5C5EE6-40D8-4C2F-B69B-05DF8AA5E07F}"/>
              </a:ext>
            </a:extLst>
          </p:cNvPr>
          <p:cNvSpPr>
            <a:spLocks noGrp="1"/>
          </p:cNvSpPr>
          <p:nvPr>
            <p:ph type="sldNum" sz="quarter" idx="12"/>
          </p:nvPr>
        </p:nvSpPr>
        <p:spPr/>
        <p:txBody>
          <a:bodyPr/>
          <a:lstStyle/>
          <a:p>
            <a:fld id="{76B3026C-0626-4557-8D88-E2178A401A82}" type="slidenum">
              <a:rPr lang="en-US" smtClean="0"/>
              <a:t>‹#›</a:t>
            </a:fld>
            <a:endParaRPr lang="en-US"/>
          </a:p>
        </p:txBody>
      </p:sp>
    </p:spTree>
    <p:extLst>
      <p:ext uri="{BB962C8B-B14F-4D97-AF65-F5344CB8AC3E}">
        <p14:creationId xmlns:p14="http://schemas.microsoft.com/office/powerpoint/2010/main" val="2661563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2522E-3A39-437F-8576-4A39179A50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24253C-C7F1-4EAB-BCEE-BFC983B0DA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DD95CA-7572-4140-A847-1EB89C4DC4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083482-136F-422F-9EFC-6F4C27218778}"/>
              </a:ext>
            </a:extLst>
          </p:cNvPr>
          <p:cNvSpPr>
            <a:spLocks noGrp="1"/>
          </p:cNvSpPr>
          <p:nvPr>
            <p:ph type="dt" sz="half" idx="10"/>
          </p:nvPr>
        </p:nvSpPr>
        <p:spPr/>
        <p:txBody>
          <a:bodyPr/>
          <a:lstStyle/>
          <a:p>
            <a:fld id="{4EF89BDC-DFB9-40EB-8449-EFB3B71D28D8}" type="datetimeFigureOut">
              <a:rPr lang="en-US" smtClean="0"/>
              <a:t>12/30/2020</a:t>
            </a:fld>
            <a:endParaRPr lang="en-US"/>
          </a:p>
        </p:txBody>
      </p:sp>
      <p:sp>
        <p:nvSpPr>
          <p:cNvPr id="6" name="Footer Placeholder 5">
            <a:extLst>
              <a:ext uri="{FF2B5EF4-FFF2-40B4-BE49-F238E27FC236}">
                <a16:creationId xmlns:a16="http://schemas.microsoft.com/office/drawing/2014/main" id="{2D557FE2-721D-4DAB-8405-D93B82AA4B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514284-000D-413A-B852-0DB50FC5C677}"/>
              </a:ext>
            </a:extLst>
          </p:cNvPr>
          <p:cNvSpPr>
            <a:spLocks noGrp="1"/>
          </p:cNvSpPr>
          <p:nvPr>
            <p:ph type="sldNum" sz="quarter" idx="12"/>
          </p:nvPr>
        </p:nvSpPr>
        <p:spPr/>
        <p:txBody>
          <a:bodyPr/>
          <a:lstStyle/>
          <a:p>
            <a:fld id="{76B3026C-0626-4557-8D88-E2178A401A82}" type="slidenum">
              <a:rPr lang="en-US" smtClean="0"/>
              <a:t>‹#›</a:t>
            </a:fld>
            <a:endParaRPr lang="en-US"/>
          </a:p>
        </p:txBody>
      </p:sp>
    </p:spTree>
    <p:extLst>
      <p:ext uri="{BB962C8B-B14F-4D97-AF65-F5344CB8AC3E}">
        <p14:creationId xmlns:p14="http://schemas.microsoft.com/office/powerpoint/2010/main" val="2816087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D2D22-0D21-494A-AA44-E06521D5ED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9877C9-0CAF-4817-A0A9-C033C75698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8D097D-99D9-44F5-8D8E-01D0AD5F2A62}"/>
              </a:ext>
            </a:extLst>
          </p:cNvPr>
          <p:cNvSpPr>
            <a:spLocks noGrp="1"/>
          </p:cNvSpPr>
          <p:nvPr>
            <p:ph type="dt" sz="half" idx="10"/>
          </p:nvPr>
        </p:nvSpPr>
        <p:spPr/>
        <p:txBody>
          <a:bodyPr/>
          <a:lstStyle/>
          <a:p>
            <a:fld id="{4EF89BDC-DFB9-40EB-8449-EFB3B71D28D8}" type="datetimeFigureOut">
              <a:rPr lang="en-US" smtClean="0"/>
              <a:t>12/30/2020</a:t>
            </a:fld>
            <a:endParaRPr lang="en-US"/>
          </a:p>
        </p:txBody>
      </p:sp>
      <p:sp>
        <p:nvSpPr>
          <p:cNvPr id="5" name="Footer Placeholder 4">
            <a:extLst>
              <a:ext uri="{FF2B5EF4-FFF2-40B4-BE49-F238E27FC236}">
                <a16:creationId xmlns:a16="http://schemas.microsoft.com/office/drawing/2014/main" id="{10804E87-6DC8-4ECA-9053-4C8EDCB89C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84037D-43CF-4C34-BEE4-6AF8B206A9D9}"/>
              </a:ext>
            </a:extLst>
          </p:cNvPr>
          <p:cNvSpPr>
            <a:spLocks noGrp="1"/>
          </p:cNvSpPr>
          <p:nvPr>
            <p:ph type="sldNum" sz="quarter" idx="12"/>
          </p:nvPr>
        </p:nvSpPr>
        <p:spPr/>
        <p:txBody>
          <a:bodyPr/>
          <a:lstStyle/>
          <a:p>
            <a:fld id="{76B3026C-0626-4557-8D88-E2178A401A82}" type="slidenum">
              <a:rPr lang="en-US" smtClean="0"/>
              <a:t>‹#›</a:t>
            </a:fld>
            <a:endParaRPr lang="en-US"/>
          </a:p>
        </p:txBody>
      </p:sp>
    </p:spTree>
    <p:extLst>
      <p:ext uri="{BB962C8B-B14F-4D97-AF65-F5344CB8AC3E}">
        <p14:creationId xmlns:p14="http://schemas.microsoft.com/office/powerpoint/2010/main" val="1848075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8AADF4-8F22-4D12-80F1-55B0072795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383A4C6-590D-4106-AF08-9C7262142B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E289EB-8057-4A2D-861E-60B6B7BACB32}"/>
              </a:ext>
            </a:extLst>
          </p:cNvPr>
          <p:cNvSpPr>
            <a:spLocks noGrp="1"/>
          </p:cNvSpPr>
          <p:nvPr>
            <p:ph type="dt" sz="half" idx="10"/>
          </p:nvPr>
        </p:nvSpPr>
        <p:spPr/>
        <p:txBody>
          <a:bodyPr/>
          <a:lstStyle/>
          <a:p>
            <a:fld id="{4EF89BDC-DFB9-40EB-8449-EFB3B71D28D8}" type="datetimeFigureOut">
              <a:rPr lang="en-US" smtClean="0"/>
              <a:t>12/30/2020</a:t>
            </a:fld>
            <a:endParaRPr lang="en-US"/>
          </a:p>
        </p:txBody>
      </p:sp>
      <p:sp>
        <p:nvSpPr>
          <p:cNvPr id="5" name="Footer Placeholder 4">
            <a:extLst>
              <a:ext uri="{FF2B5EF4-FFF2-40B4-BE49-F238E27FC236}">
                <a16:creationId xmlns:a16="http://schemas.microsoft.com/office/drawing/2014/main" id="{C029D4F1-7599-49C1-815C-3101BFCD8C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09F454-3852-4770-A030-D9E0C956DB6F}"/>
              </a:ext>
            </a:extLst>
          </p:cNvPr>
          <p:cNvSpPr>
            <a:spLocks noGrp="1"/>
          </p:cNvSpPr>
          <p:nvPr>
            <p:ph type="sldNum" sz="quarter" idx="12"/>
          </p:nvPr>
        </p:nvSpPr>
        <p:spPr/>
        <p:txBody>
          <a:bodyPr/>
          <a:lstStyle/>
          <a:p>
            <a:fld id="{76B3026C-0626-4557-8D88-E2178A401A82}" type="slidenum">
              <a:rPr lang="en-US" smtClean="0"/>
              <a:t>‹#›</a:t>
            </a:fld>
            <a:endParaRPr lang="en-US"/>
          </a:p>
        </p:txBody>
      </p:sp>
    </p:spTree>
    <p:extLst>
      <p:ext uri="{BB962C8B-B14F-4D97-AF65-F5344CB8AC3E}">
        <p14:creationId xmlns:p14="http://schemas.microsoft.com/office/powerpoint/2010/main" val="2820955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76CFB1-5F2C-4EAD-9ECF-AB42BE6AA9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94448C-EDBA-44E6-A3F8-C3A08A8DE0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71AA15-81CB-4391-B2B4-EE8191962A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F89BDC-DFB9-40EB-8449-EFB3B71D28D8}" type="datetimeFigureOut">
              <a:rPr lang="en-US" smtClean="0"/>
              <a:t>12/30/2020</a:t>
            </a:fld>
            <a:endParaRPr lang="en-US"/>
          </a:p>
        </p:txBody>
      </p:sp>
      <p:sp>
        <p:nvSpPr>
          <p:cNvPr id="5" name="Footer Placeholder 4">
            <a:extLst>
              <a:ext uri="{FF2B5EF4-FFF2-40B4-BE49-F238E27FC236}">
                <a16:creationId xmlns:a16="http://schemas.microsoft.com/office/drawing/2014/main" id="{9B5C89B4-AC18-4594-A1D5-E2A4EACDF8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495873C-7AC2-4B62-907E-3901F31911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B3026C-0626-4557-8D88-E2178A401A82}" type="slidenum">
              <a:rPr lang="en-US" smtClean="0"/>
              <a:t>‹#›</a:t>
            </a:fld>
            <a:endParaRPr lang="en-US"/>
          </a:p>
        </p:txBody>
      </p:sp>
    </p:spTree>
    <p:extLst>
      <p:ext uri="{BB962C8B-B14F-4D97-AF65-F5344CB8AC3E}">
        <p14:creationId xmlns:p14="http://schemas.microsoft.com/office/powerpoint/2010/main" val="413805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5" name="Rectangle 54">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FC6684DC-0DA1-4E82-B7CB-521C69C0A2FB}"/>
              </a:ext>
            </a:extLst>
          </p:cNvPr>
          <p:cNvSpPr>
            <a:spLocks noGrp="1"/>
          </p:cNvSpPr>
          <p:nvPr>
            <p:ph type="ctrTitle"/>
          </p:nvPr>
        </p:nvSpPr>
        <p:spPr>
          <a:xfrm>
            <a:off x="3315031" y="1380754"/>
            <a:ext cx="5561938" cy="2513516"/>
          </a:xfrm>
        </p:spPr>
        <p:txBody>
          <a:bodyPr>
            <a:normAutofit/>
          </a:bodyPr>
          <a:lstStyle/>
          <a:p>
            <a:r>
              <a:rPr lang="en-US"/>
              <a:t>Đề Tài: Bảo mật hệ thống IoT</a:t>
            </a:r>
          </a:p>
        </p:txBody>
      </p:sp>
      <p:sp>
        <p:nvSpPr>
          <p:cNvPr id="3" name="Subtitle 2">
            <a:extLst>
              <a:ext uri="{FF2B5EF4-FFF2-40B4-BE49-F238E27FC236}">
                <a16:creationId xmlns:a16="http://schemas.microsoft.com/office/drawing/2014/main" id="{AE902636-BC23-41EB-A939-1B016A27F531}"/>
              </a:ext>
            </a:extLst>
          </p:cNvPr>
          <p:cNvSpPr>
            <a:spLocks noGrp="1"/>
          </p:cNvSpPr>
          <p:nvPr>
            <p:ph type="subTitle" idx="1"/>
          </p:nvPr>
        </p:nvSpPr>
        <p:spPr>
          <a:xfrm>
            <a:off x="3315031" y="4076802"/>
            <a:ext cx="5561938" cy="1534587"/>
          </a:xfrm>
        </p:spPr>
        <p:txBody>
          <a:bodyPr>
            <a:normAutofit/>
          </a:bodyPr>
          <a:lstStyle/>
          <a:p>
            <a:r>
              <a:rPr lang="en-US"/>
              <a:t>Sinh viên thực hiện:</a:t>
            </a:r>
          </a:p>
          <a:p>
            <a:r>
              <a:rPr lang="en-US"/>
              <a:t>Vũ Đức Thao - 20163668</a:t>
            </a:r>
          </a:p>
        </p:txBody>
      </p:sp>
      <p:sp>
        <p:nvSpPr>
          <p:cNvPr id="59" name="Arc 58">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1" name="Oval 60">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1479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0F5977-0EC8-4A14-B399-6D4AF7758688}"/>
              </a:ext>
            </a:extLst>
          </p:cNvPr>
          <p:cNvSpPr>
            <a:spLocks noGrp="1"/>
          </p:cNvSpPr>
          <p:nvPr>
            <p:ph type="title"/>
          </p:nvPr>
        </p:nvSpPr>
        <p:spPr>
          <a:xfrm>
            <a:off x="686834" y="1153572"/>
            <a:ext cx="3200400" cy="4461163"/>
          </a:xfrm>
        </p:spPr>
        <p:txBody>
          <a:bodyPr>
            <a:normAutofit/>
          </a:bodyPr>
          <a:lstStyle/>
          <a:p>
            <a:r>
              <a:rPr lang="en-US">
                <a:solidFill>
                  <a:srgbClr val="FFFFFF"/>
                </a:solidFill>
              </a:rPr>
              <a:t>Nội dung trình bày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2C3103E-7483-49DF-BE90-85D33069BA00}"/>
              </a:ext>
            </a:extLst>
          </p:cNvPr>
          <p:cNvSpPr>
            <a:spLocks noGrp="1"/>
          </p:cNvSpPr>
          <p:nvPr>
            <p:ph idx="1"/>
          </p:nvPr>
        </p:nvSpPr>
        <p:spPr>
          <a:xfrm>
            <a:off x="4447308" y="591344"/>
            <a:ext cx="6906491" cy="5585619"/>
          </a:xfrm>
        </p:spPr>
        <p:txBody>
          <a:bodyPr anchor="ctr">
            <a:normAutofit/>
          </a:bodyPr>
          <a:lstStyle/>
          <a:p>
            <a:pPr marL="514350" indent="-514350">
              <a:buFont typeface="+mj-lt"/>
              <a:buAutoNum type="arabicPeriod"/>
            </a:pPr>
            <a:r>
              <a:rPr lang="en-US" dirty="0" err="1"/>
              <a:t>Giới</a:t>
            </a:r>
            <a:r>
              <a:rPr lang="en-US" dirty="0"/>
              <a:t> </a:t>
            </a:r>
            <a:r>
              <a:rPr lang="en-US" dirty="0" err="1"/>
              <a:t>thiệu</a:t>
            </a:r>
            <a:endParaRPr lang="en-US" dirty="0"/>
          </a:p>
          <a:p>
            <a:pPr marL="514350" indent="-514350">
              <a:buFont typeface="+mj-lt"/>
              <a:buAutoNum type="arabicPeriod"/>
            </a:pPr>
            <a:r>
              <a:rPr lang="en-US" dirty="0" err="1"/>
              <a:t>Mô</a:t>
            </a:r>
            <a:r>
              <a:rPr lang="en-US" dirty="0"/>
              <a:t> </a:t>
            </a:r>
            <a:r>
              <a:rPr lang="en-US" dirty="0" err="1"/>
              <a:t>hình</a:t>
            </a:r>
            <a:r>
              <a:rPr lang="en-US" dirty="0"/>
              <a:t> </a:t>
            </a:r>
            <a:r>
              <a:rPr lang="en-US" dirty="0" err="1"/>
              <a:t>hóa</a:t>
            </a:r>
            <a:r>
              <a:rPr lang="en-US" dirty="0"/>
              <a:t> </a:t>
            </a:r>
            <a:r>
              <a:rPr lang="en-US" dirty="0" err="1"/>
              <a:t>hệ</a:t>
            </a:r>
            <a:r>
              <a:rPr lang="en-US" dirty="0"/>
              <a:t> </a:t>
            </a:r>
            <a:r>
              <a:rPr lang="en-US" dirty="0" err="1"/>
              <a:t>thống</a:t>
            </a:r>
            <a:endParaRPr lang="en-US" dirty="0"/>
          </a:p>
          <a:p>
            <a:pPr marL="514350" indent="-514350">
              <a:buFont typeface="+mj-lt"/>
              <a:buAutoNum type="arabicPeriod"/>
            </a:pPr>
            <a:r>
              <a:rPr lang="en-US" dirty="0" err="1"/>
              <a:t>Thiết</a:t>
            </a:r>
            <a:r>
              <a:rPr lang="en-US" dirty="0"/>
              <a:t> </a:t>
            </a:r>
            <a:r>
              <a:rPr lang="en-US" dirty="0" err="1"/>
              <a:t>kế</a:t>
            </a:r>
            <a:r>
              <a:rPr lang="en-US" dirty="0"/>
              <a:t> </a:t>
            </a:r>
            <a:r>
              <a:rPr lang="en-US" dirty="0" err="1"/>
              <a:t>hệ</a:t>
            </a:r>
            <a:r>
              <a:rPr lang="en-US" dirty="0"/>
              <a:t> </a:t>
            </a:r>
            <a:r>
              <a:rPr lang="en-US" dirty="0" err="1"/>
              <a:t>thống</a:t>
            </a:r>
            <a:r>
              <a:rPr lang="en-US" dirty="0"/>
              <a:t> </a:t>
            </a:r>
          </a:p>
          <a:p>
            <a:pPr marL="514350" indent="-514350">
              <a:buFont typeface="+mj-lt"/>
              <a:buAutoNum type="arabicPeriod"/>
            </a:pPr>
            <a:r>
              <a:rPr lang="en-US" dirty="0" err="1"/>
              <a:t>Bảo</a:t>
            </a:r>
            <a:r>
              <a:rPr lang="en-US" dirty="0"/>
              <a:t> </a:t>
            </a:r>
            <a:r>
              <a:rPr lang="en-US" dirty="0" err="1"/>
              <a:t>mật</a:t>
            </a:r>
            <a:r>
              <a:rPr lang="en-US" dirty="0"/>
              <a:t> </a:t>
            </a:r>
            <a:r>
              <a:rPr lang="en-US" dirty="0" err="1"/>
              <a:t>hệ</a:t>
            </a:r>
            <a:r>
              <a:rPr lang="en-US" dirty="0"/>
              <a:t> </a:t>
            </a:r>
            <a:r>
              <a:rPr lang="en-US" dirty="0" err="1"/>
              <a:t>thống</a:t>
            </a:r>
            <a:endParaRPr lang="en-US" dirty="0"/>
          </a:p>
          <a:p>
            <a:pPr marL="514350" indent="-514350">
              <a:buFont typeface="+mj-lt"/>
              <a:buAutoNum type="arabicPeriod"/>
            </a:pPr>
            <a:r>
              <a:rPr lang="en-US" dirty="0" err="1"/>
              <a:t>Kết</a:t>
            </a:r>
            <a:r>
              <a:rPr lang="en-US" dirty="0"/>
              <a:t> </a:t>
            </a:r>
            <a:r>
              <a:rPr lang="en-US" dirty="0" err="1"/>
              <a:t>quả</a:t>
            </a:r>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val="3996351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73E019-3D5F-4E1D-8481-621B3E247E44}"/>
              </a:ext>
            </a:extLst>
          </p:cNvPr>
          <p:cNvSpPr>
            <a:spLocks noGrp="1"/>
          </p:cNvSpPr>
          <p:nvPr>
            <p:ph type="title"/>
          </p:nvPr>
        </p:nvSpPr>
        <p:spPr>
          <a:xfrm>
            <a:off x="686834" y="1153572"/>
            <a:ext cx="3200400" cy="4461163"/>
          </a:xfrm>
        </p:spPr>
        <p:txBody>
          <a:bodyPr>
            <a:normAutofit/>
          </a:bodyPr>
          <a:lstStyle/>
          <a:p>
            <a:r>
              <a:rPr lang="en-US">
                <a:solidFill>
                  <a:srgbClr val="FFFFFF"/>
                </a:solidFill>
              </a:rPr>
              <a:t>1. Giới Thiệu</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FF3AFE9-8E4E-4547-AD0C-D14A5793AD8F}"/>
              </a:ext>
            </a:extLst>
          </p:cNvPr>
          <p:cNvSpPr>
            <a:spLocks noGrp="1"/>
          </p:cNvSpPr>
          <p:nvPr>
            <p:ph idx="1"/>
          </p:nvPr>
        </p:nvSpPr>
        <p:spPr>
          <a:xfrm>
            <a:off x="4447308" y="591344"/>
            <a:ext cx="6906491" cy="5585619"/>
          </a:xfrm>
        </p:spPr>
        <p:txBody>
          <a:bodyPr anchor="ctr">
            <a:normAutofit/>
          </a:bodyPr>
          <a:lstStyle/>
          <a:p>
            <a:r>
              <a:rPr lang="en-US" dirty="0"/>
              <a:t>IoT</a:t>
            </a:r>
          </a:p>
          <a:p>
            <a:r>
              <a:rPr lang="en-US" dirty="0"/>
              <a:t>MQTT</a:t>
            </a:r>
          </a:p>
        </p:txBody>
      </p:sp>
    </p:spTree>
    <p:extLst>
      <p:ext uri="{BB962C8B-B14F-4D97-AF65-F5344CB8AC3E}">
        <p14:creationId xmlns:p14="http://schemas.microsoft.com/office/powerpoint/2010/main" val="1931812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568D89A-E11D-4081-94A2-714A7B90CB00}"/>
              </a:ext>
            </a:extLst>
          </p:cNvPr>
          <p:cNvSpPr>
            <a:spLocks noGrp="1"/>
          </p:cNvSpPr>
          <p:nvPr>
            <p:ph type="title"/>
          </p:nvPr>
        </p:nvSpPr>
        <p:spPr>
          <a:xfrm>
            <a:off x="838200" y="365125"/>
            <a:ext cx="10515600" cy="1325563"/>
          </a:xfrm>
        </p:spPr>
        <p:txBody>
          <a:bodyPr>
            <a:normAutofit/>
          </a:bodyPr>
          <a:lstStyle/>
          <a:p>
            <a:r>
              <a:rPr lang="en-US" b="1" dirty="0"/>
              <a:t>1.1 IoT</a:t>
            </a:r>
          </a:p>
        </p:txBody>
      </p:sp>
      <p:sp>
        <p:nvSpPr>
          <p:cNvPr id="33" name="Arc 3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Content Placeholder 2">
            <a:extLst>
              <a:ext uri="{FF2B5EF4-FFF2-40B4-BE49-F238E27FC236}">
                <a16:creationId xmlns:a16="http://schemas.microsoft.com/office/drawing/2014/main" id="{29CBC9A2-7C1D-4FED-9F5D-94FCDB387313}"/>
              </a:ext>
            </a:extLst>
          </p:cNvPr>
          <p:cNvSpPr>
            <a:spLocks noGrp="1"/>
          </p:cNvSpPr>
          <p:nvPr>
            <p:ph idx="1"/>
          </p:nvPr>
        </p:nvSpPr>
        <p:spPr>
          <a:xfrm>
            <a:off x="838200" y="1825625"/>
            <a:ext cx="10515600" cy="4351338"/>
          </a:xfrm>
        </p:spPr>
        <p:txBody>
          <a:bodyPr>
            <a:normAutofit/>
          </a:bodyPr>
          <a:lstStyle/>
          <a:p>
            <a:r>
              <a:rPr lang="en-US" dirty="0"/>
              <a:t>IoT (Internet Of Things) </a:t>
            </a:r>
            <a:r>
              <a:rPr lang="en-US" dirty="0" err="1"/>
              <a:t>là</a:t>
            </a:r>
            <a:r>
              <a:rPr lang="en-US" dirty="0"/>
              <a:t> </a:t>
            </a:r>
            <a:r>
              <a:rPr lang="en-US" dirty="0" err="1"/>
              <a:t>một</a:t>
            </a:r>
            <a:r>
              <a:rPr lang="en-US" dirty="0"/>
              <a:t> </a:t>
            </a:r>
            <a:r>
              <a:rPr lang="en-US" dirty="0" err="1"/>
              <a:t>hệ</a:t>
            </a:r>
            <a:r>
              <a:rPr lang="en-US" dirty="0"/>
              <a:t> </a:t>
            </a:r>
            <a:r>
              <a:rPr lang="en-US" dirty="0" err="1"/>
              <a:t>thống</a:t>
            </a:r>
            <a:r>
              <a:rPr lang="en-US" dirty="0"/>
              <a:t> </a:t>
            </a:r>
            <a:r>
              <a:rPr lang="en-US" dirty="0" err="1"/>
              <a:t>mà</a:t>
            </a:r>
            <a:r>
              <a:rPr lang="en-US" dirty="0"/>
              <a:t> </a:t>
            </a:r>
            <a:r>
              <a:rPr lang="en-US" dirty="0" err="1"/>
              <a:t>các</a:t>
            </a:r>
            <a:r>
              <a:rPr lang="en-US" dirty="0"/>
              <a:t> </a:t>
            </a:r>
            <a:r>
              <a:rPr lang="en-US" dirty="0" err="1"/>
              <a:t>thiết</a:t>
            </a:r>
            <a:r>
              <a:rPr lang="en-US" dirty="0"/>
              <a:t> </a:t>
            </a:r>
            <a:r>
              <a:rPr lang="en-US" dirty="0" err="1"/>
              <a:t>bị</a:t>
            </a:r>
            <a:r>
              <a:rPr lang="en-US" dirty="0"/>
              <a:t> </a:t>
            </a:r>
            <a:r>
              <a:rPr lang="en-US" dirty="0" err="1"/>
              <a:t>vật</a:t>
            </a:r>
            <a:r>
              <a:rPr lang="en-US" dirty="0"/>
              <a:t> </a:t>
            </a:r>
            <a:r>
              <a:rPr lang="en-US" dirty="0" err="1"/>
              <a:t>lý</a:t>
            </a:r>
            <a:r>
              <a:rPr lang="en-US" dirty="0"/>
              <a:t> </a:t>
            </a:r>
            <a:r>
              <a:rPr lang="en-US" dirty="0" err="1"/>
              <a:t>trên</a:t>
            </a:r>
            <a:r>
              <a:rPr lang="en-US" dirty="0"/>
              <a:t> </a:t>
            </a:r>
            <a:r>
              <a:rPr lang="en-US" dirty="0" err="1"/>
              <a:t>khắp</a:t>
            </a:r>
            <a:r>
              <a:rPr lang="en-US" dirty="0"/>
              <a:t> </a:t>
            </a:r>
            <a:r>
              <a:rPr lang="en-US" dirty="0" err="1"/>
              <a:t>thế</a:t>
            </a:r>
            <a:r>
              <a:rPr lang="en-US" dirty="0"/>
              <a:t> </a:t>
            </a:r>
            <a:r>
              <a:rPr lang="en-US" dirty="0" err="1"/>
              <a:t>giới</a:t>
            </a:r>
            <a:r>
              <a:rPr lang="en-US" dirty="0"/>
              <a:t> </a:t>
            </a:r>
            <a:r>
              <a:rPr lang="en-US" dirty="0" err="1"/>
              <a:t>được</a:t>
            </a:r>
            <a:r>
              <a:rPr lang="en-US" dirty="0"/>
              <a:t> </a:t>
            </a:r>
            <a:r>
              <a:rPr lang="en-US" dirty="0" err="1"/>
              <a:t>kết</a:t>
            </a:r>
            <a:r>
              <a:rPr lang="en-US" dirty="0"/>
              <a:t> </a:t>
            </a:r>
            <a:r>
              <a:rPr lang="en-US" dirty="0" err="1"/>
              <a:t>nối</a:t>
            </a:r>
            <a:r>
              <a:rPr lang="en-US" dirty="0"/>
              <a:t> </a:t>
            </a:r>
            <a:r>
              <a:rPr lang="en-US" dirty="0" err="1"/>
              <a:t>với</a:t>
            </a:r>
            <a:r>
              <a:rPr lang="en-US" dirty="0"/>
              <a:t> internet, </a:t>
            </a:r>
            <a:r>
              <a:rPr lang="en-US" dirty="0" err="1"/>
              <a:t>thu</a:t>
            </a:r>
            <a:r>
              <a:rPr lang="en-US" dirty="0"/>
              <a:t> </a:t>
            </a:r>
            <a:r>
              <a:rPr lang="en-US" dirty="0" err="1"/>
              <a:t>thập</a:t>
            </a:r>
            <a:r>
              <a:rPr lang="en-US" dirty="0"/>
              <a:t> </a:t>
            </a:r>
            <a:r>
              <a:rPr lang="en-US" dirty="0" err="1"/>
              <a:t>và</a:t>
            </a:r>
            <a:r>
              <a:rPr lang="en-US" dirty="0"/>
              <a:t> chia </a:t>
            </a:r>
            <a:r>
              <a:rPr lang="en-US" dirty="0" err="1"/>
              <a:t>sẻ</a:t>
            </a:r>
            <a:r>
              <a:rPr lang="en-US" dirty="0"/>
              <a:t> </a:t>
            </a:r>
            <a:r>
              <a:rPr lang="en-US" dirty="0" err="1"/>
              <a:t>dữ</a:t>
            </a:r>
            <a:r>
              <a:rPr lang="en-US" dirty="0"/>
              <a:t> </a:t>
            </a:r>
            <a:r>
              <a:rPr lang="en-US" dirty="0" err="1"/>
              <a:t>liệu</a:t>
            </a:r>
            <a:r>
              <a:rPr lang="en-US" dirty="0"/>
              <a:t>.</a:t>
            </a:r>
          </a:p>
          <a:p>
            <a:r>
              <a:rPr lang="en-US" dirty="0" err="1"/>
              <a:t>Đề</a:t>
            </a:r>
            <a:r>
              <a:rPr lang="en-US" dirty="0"/>
              <a:t> </a:t>
            </a:r>
            <a:r>
              <a:rPr lang="en-US" dirty="0" err="1"/>
              <a:t>tài</a:t>
            </a:r>
            <a:r>
              <a:rPr lang="en-US" dirty="0"/>
              <a:t> </a:t>
            </a:r>
            <a:r>
              <a:rPr lang="en-US" dirty="0" err="1"/>
              <a:t>này</a:t>
            </a:r>
            <a:r>
              <a:rPr lang="en-US" dirty="0"/>
              <a:t> </a:t>
            </a:r>
            <a:r>
              <a:rPr lang="en-US" dirty="0" err="1"/>
              <a:t>sẽ</a:t>
            </a:r>
            <a:r>
              <a:rPr lang="en-US" dirty="0"/>
              <a:t> </a:t>
            </a:r>
            <a:r>
              <a:rPr lang="en-US" dirty="0" err="1"/>
              <a:t>xây</a:t>
            </a:r>
            <a:r>
              <a:rPr lang="en-US" dirty="0"/>
              <a:t> </a:t>
            </a:r>
            <a:r>
              <a:rPr lang="en-US" dirty="0" err="1"/>
              <a:t>dựng</a:t>
            </a:r>
            <a:r>
              <a:rPr lang="en-US" dirty="0"/>
              <a:t> </a:t>
            </a:r>
            <a:r>
              <a:rPr lang="en-US" dirty="0" err="1"/>
              <a:t>một</a:t>
            </a:r>
            <a:r>
              <a:rPr lang="en-US" dirty="0"/>
              <a:t> </a:t>
            </a:r>
            <a:r>
              <a:rPr lang="en-US" dirty="0" err="1"/>
              <a:t>ứng</a:t>
            </a:r>
            <a:r>
              <a:rPr lang="en-US" dirty="0"/>
              <a:t> </a:t>
            </a:r>
            <a:r>
              <a:rPr lang="en-US" dirty="0" err="1"/>
              <a:t>dụng</a:t>
            </a:r>
            <a:r>
              <a:rPr lang="en-US" dirty="0"/>
              <a:t> </a:t>
            </a:r>
            <a:r>
              <a:rPr lang="en-US" dirty="0" err="1"/>
              <a:t>thu</a:t>
            </a:r>
            <a:r>
              <a:rPr lang="en-US" dirty="0"/>
              <a:t> </a:t>
            </a:r>
            <a:r>
              <a:rPr lang="en-US" dirty="0" err="1"/>
              <a:t>thập</a:t>
            </a:r>
            <a:r>
              <a:rPr lang="en-US" dirty="0"/>
              <a:t> </a:t>
            </a:r>
            <a:r>
              <a:rPr lang="en-US" dirty="0" err="1"/>
              <a:t>các</a:t>
            </a:r>
            <a:r>
              <a:rPr lang="en-US" dirty="0"/>
              <a:t> </a:t>
            </a:r>
            <a:r>
              <a:rPr lang="en-US" dirty="0" err="1"/>
              <a:t>giá</a:t>
            </a:r>
            <a:r>
              <a:rPr lang="en-US" dirty="0"/>
              <a:t> </a:t>
            </a:r>
            <a:r>
              <a:rPr lang="en-US" dirty="0" err="1"/>
              <a:t>trị</a:t>
            </a:r>
            <a:r>
              <a:rPr lang="en-US" dirty="0"/>
              <a:t> </a:t>
            </a:r>
            <a:r>
              <a:rPr lang="en-US" dirty="0" err="1"/>
              <a:t>nhiệt</a:t>
            </a:r>
            <a:r>
              <a:rPr lang="en-US" dirty="0"/>
              <a:t> </a:t>
            </a:r>
            <a:r>
              <a:rPr lang="en-US" dirty="0" err="1"/>
              <a:t>độ</a:t>
            </a:r>
            <a:r>
              <a:rPr lang="en-US" dirty="0"/>
              <a:t>, </a:t>
            </a:r>
            <a:r>
              <a:rPr lang="en-US" dirty="0" err="1"/>
              <a:t>độ</a:t>
            </a:r>
            <a:r>
              <a:rPr lang="en-US" dirty="0"/>
              <a:t> </a:t>
            </a:r>
            <a:r>
              <a:rPr lang="en-US" dirty="0" err="1"/>
              <a:t>ẩm</a:t>
            </a:r>
            <a:r>
              <a:rPr lang="en-US" dirty="0"/>
              <a:t> </a:t>
            </a:r>
            <a:r>
              <a:rPr lang="en-US" dirty="0" err="1"/>
              <a:t>được</a:t>
            </a:r>
            <a:r>
              <a:rPr lang="en-US" dirty="0"/>
              <a:t> </a:t>
            </a:r>
            <a:r>
              <a:rPr lang="en-US" dirty="0" err="1"/>
              <a:t>tạo</a:t>
            </a:r>
            <a:r>
              <a:rPr lang="en-US" dirty="0"/>
              <a:t> ra </a:t>
            </a:r>
            <a:r>
              <a:rPr lang="en-US" dirty="0" err="1"/>
              <a:t>từ</a:t>
            </a:r>
            <a:r>
              <a:rPr lang="en-US" dirty="0"/>
              <a:t> DHT11 </a:t>
            </a:r>
            <a:r>
              <a:rPr lang="en-US" dirty="0" err="1"/>
              <a:t>và</a:t>
            </a:r>
            <a:r>
              <a:rPr lang="en-US" dirty="0"/>
              <a:t> </a:t>
            </a:r>
            <a:r>
              <a:rPr lang="en-US" dirty="0" err="1"/>
              <a:t>hiển</a:t>
            </a:r>
            <a:r>
              <a:rPr lang="en-US" dirty="0"/>
              <a:t> </a:t>
            </a:r>
            <a:r>
              <a:rPr lang="en-US" dirty="0" err="1"/>
              <a:t>thị</a:t>
            </a:r>
            <a:r>
              <a:rPr lang="en-US" dirty="0"/>
              <a:t> </a:t>
            </a:r>
            <a:r>
              <a:rPr lang="en-US" dirty="0" err="1"/>
              <a:t>lên</a:t>
            </a:r>
            <a:r>
              <a:rPr lang="en-US" dirty="0"/>
              <a:t> </a:t>
            </a:r>
            <a:r>
              <a:rPr lang="en-US" dirty="0" err="1"/>
              <a:t>trên</a:t>
            </a:r>
            <a:r>
              <a:rPr lang="en-US" dirty="0"/>
              <a:t> web. </a:t>
            </a:r>
            <a:r>
              <a:rPr lang="en-US" dirty="0" err="1"/>
              <a:t>Từ</a:t>
            </a:r>
            <a:r>
              <a:rPr lang="en-US" dirty="0"/>
              <a:t> </a:t>
            </a:r>
            <a:r>
              <a:rPr lang="en-US" dirty="0" err="1"/>
              <a:t>đó</a:t>
            </a:r>
            <a:r>
              <a:rPr lang="en-US" dirty="0"/>
              <a:t> </a:t>
            </a:r>
            <a:r>
              <a:rPr lang="en-US" dirty="0" err="1"/>
              <a:t>sử</a:t>
            </a:r>
            <a:r>
              <a:rPr lang="en-US" dirty="0"/>
              <a:t> </a:t>
            </a:r>
            <a:r>
              <a:rPr lang="en-US" dirty="0" err="1"/>
              <a:t>dụng</a:t>
            </a:r>
            <a:r>
              <a:rPr lang="en-US" dirty="0"/>
              <a:t> </a:t>
            </a:r>
            <a:r>
              <a:rPr lang="en-US" dirty="0" err="1"/>
              <a:t>một</a:t>
            </a:r>
            <a:r>
              <a:rPr lang="en-US" dirty="0"/>
              <a:t> </a:t>
            </a:r>
            <a:r>
              <a:rPr lang="en-US" dirty="0" err="1"/>
              <a:t>số</a:t>
            </a:r>
            <a:r>
              <a:rPr lang="en-US" dirty="0"/>
              <a:t> </a:t>
            </a:r>
            <a:r>
              <a:rPr lang="en-US" dirty="0" err="1"/>
              <a:t>giải</a:t>
            </a:r>
            <a:r>
              <a:rPr lang="en-US" dirty="0"/>
              <a:t> </a:t>
            </a:r>
            <a:r>
              <a:rPr lang="en-US" dirty="0" err="1"/>
              <a:t>pháp</a:t>
            </a:r>
            <a:r>
              <a:rPr lang="en-US" dirty="0"/>
              <a:t> </a:t>
            </a:r>
            <a:r>
              <a:rPr lang="en-US" dirty="0" err="1"/>
              <a:t>để</a:t>
            </a:r>
            <a:r>
              <a:rPr lang="en-US" dirty="0"/>
              <a:t> </a:t>
            </a:r>
            <a:r>
              <a:rPr lang="en-US" dirty="0" err="1"/>
              <a:t>bảo</a:t>
            </a:r>
            <a:r>
              <a:rPr lang="en-US" dirty="0"/>
              <a:t> </a:t>
            </a:r>
            <a:r>
              <a:rPr lang="en-US" dirty="0" err="1"/>
              <a:t>mật</a:t>
            </a:r>
            <a:r>
              <a:rPr lang="en-US" dirty="0"/>
              <a:t> </a:t>
            </a:r>
            <a:r>
              <a:rPr lang="en-US" dirty="0" err="1"/>
              <a:t>hệ</a:t>
            </a:r>
            <a:r>
              <a:rPr lang="en-US" dirty="0"/>
              <a:t> </a:t>
            </a:r>
            <a:r>
              <a:rPr lang="en-US" dirty="0" err="1"/>
              <a:t>thống</a:t>
            </a:r>
            <a:r>
              <a:rPr lang="en-US" dirty="0"/>
              <a:t> </a:t>
            </a:r>
            <a:r>
              <a:rPr lang="en-US" dirty="0" err="1"/>
              <a:t>này</a:t>
            </a:r>
            <a:r>
              <a:rPr lang="en-US" dirty="0"/>
              <a:t>.</a:t>
            </a:r>
          </a:p>
        </p:txBody>
      </p:sp>
    </p:spTree>
    <p:extLst>
      <p:ext uri="{BB962C8B-B14F-4D97-AF65-F5344CB8AC3E}">
        <p14:creationId xmlns:p14="http://schemas.microsoft.com/office/powerpoint/2010/main" val="1667461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B70FA-047D-494A-89D3-1F2EA67FC660}"/>
              </a:ext>
            </a:extLst>
          </p:cNvPr>
          <p:cNvSpPr>
            <a:spLocks noGrp="1"/>
          </p:cNvSpPr>
          <p:nvPr>
            <p:ph type="title"/>
          </p:nvPr>
        </p:nvSpPr>
        <p:spPr/>
        <p:txBody>
          <a:bodyPr/>
          <a:lstStyle/>
          <a:p>
            <a:r>
              <a:rPr lang="en-US" dirty="0"/>
              <a:t>1.2 MQTT</a:t>
            </a:r>
          </a:p>
        </p:txBody>
      </p:sp>
      <p:pic>
        <p:nvPicPr>
          <p:cNvPr id="5" name="Picture 4">
            <a:extLst>
              <a:ext uri="{FF2B5EF4-FFF2-40B4-BE49-F238E27FC236}">
                <a16:creationId xmlns:a16="http://schemas.microsoft.com/office/drawing/2014/main" id="{915F58E6-5B3C-4BE8-80AD-5AFB9113837F}"/>
              </a:ext>
            </a:extLst>
          </p:cNvPr>
          <p:cNvPicPr>
            <a:picLocks noChangeAspect="1"/>
          </p:cNvPicPr>
          <p:nvPr/>
        </p:nvPicPr>
        <p:blipFill>
          <a:blip r:embed="rId2"/>
          <a:stretch>
            <a:fillRect/>
          </a:stretch>
        </p:blipFill>
        <p:spPr>
          <a:xfrm>
            <a:off x="1045074" y="1363186"/>
            <a:ext cx="8152265" cy="5028922"/>
          </a:xfrm>
          <a:prstGeom prst="rect">
            <a:avLst/>
          </a:prstGeom>
        </p:spPr>
      </p:pic>
    </p:spTree>
    <p:extLst>
      <p:ext uri="{BB962C8B-B14F-4D97-AF65-F5344CB8AC3E}">
        <p14:creationId xmlns:p14="http://schemas.microsoft.com/office/powerpoint/2010/main" val="1307486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7606A-B5CA-4DA6-8286-B31CD888FBAA}"/>
              </a:ext>
            </a:extLst>
          </p:cNvPr>
          <p:cNvSpPr>
            <a:spLocks noGrp="1"/>
          </p:cNvSpPr>
          <p:nvPr>
            <p:ph type="title"/>
          </p:nvPr>
        </p:nvSpPr>
        <p:spPr/>
        <p:txBody>
          <a:bodyPr/>
          <a:lstStyle/>
          <a:p>
            <a:r>
              <a:rPr lang="en-US" dirty="0"/>
              <a:t>1.2 MQTT</a:t>
            </a:r>
          </a:p>
        </p:txBody>
      </p:sp>
      <p:sp>
        <p:nvSpPr>
          <p:cNvPr id="3" name="Content Placeholder 2">
            <a:extLst>
              <a:ext uri="{FF2B5EF4-FFF2-40B4-BE49-F238E27FC236}">
                <a16:creationId xmlns:a16="http://schemas.microsoft.com/office/drawing/2014/main" id="{1B202B57-1878-4470-B51A-A8A9832E268C}"/>
              </a:ext>
            </a:extLst>
          </p:cNvPr>
          <p:cNvSpPr>
            <a:spLocks noGrp="1"/>
          </p:cNvSpPr>
          <p:nvPr>
            <p:ph idx="1"/>
          </p:nvPr>
        </p:nvSpPr>
        <p:spPr/>
        <p:txBody>
          <a:bodyPr/>
          <a:lstStyle/>
          <a:p>
            <a:r>
              <a:rPr lang="vi-VN" b="0" i="0" dirty="0">
                <a:solidFill>
                  <a:srgbClr val="1B1B1B"/>
                </a:solidFill>
                <a:effectLst/>
                <a:latin typeface="Open Sans"/>
              </a:rPr>
              <a:t>MQTT (Message Queuing Telemetry Transport) là giao thức truyền thông điệp (message) theo mô hình publish/subscribe (cung cấp / thuê bao), được sử dụng cho các thiết bị IoT với băng thông thấp, độ tin cậy cao và khả năng được sử dụng trong mạng lưới không ổn định. Nó dựa trên một Broker (tạm dịch là “Máy chủ môi giới”) “nhẹ” (khá ít xử lý) và được thiết kế có tính mở (tức là không đặc trưng cho ứng dụng cụ thể nào), đơn giản và dễ cài đặt.</a:t>
            </a:r>
            <a:endParaRPr lang="en-US" b="0" i="0" dirty="0">
              <a:solidFill>
                <a:srgbClr val="1B1B1B"/>
              </a:solidFill>
              <a:effectLst/>
              <a:latin typeface="Open Sans"/>
            </a:endParaRPr>
          </a:p>
          <a:p>
            <a:r>
              <a:rPr lang="en-US" dirty="0" err="1"/>
              <a:t>Hình</a:t>
            </a:r>
            <a:r>
              <a:rPr lang="en-US" dirty="0"/>
              <a:t> </a:t>
            </a:r>
            <a:r>
              <a:rPr lang="en-US" dirty="0" err="1"/>
              <a:t>trên</a:t>
            </a:r>
            <a:r>
              <a:rPr lang="en-US" dirty="0"/>
              <a:t> </a:t>
            </a:r>
            <a:r>
              <a:rPr lang="en-US" dirty="0" err="1"/>
              <a:t>mô</a:t>
            </a:r>
            <a:r>
              <a:rPr lang="en-US" dirty="0"/>
              <a:t> </a:t>
            </a:r>
            <a:r>
              <a:rPr lang="en-US" dirty="0" err="1"/>
              <a:t>tả</a:t>
            </a:r>
            <a:r>
              <a:rPr lang="en-US" dirty="0"/>
              <a:t> </a:t>
            </a:r>
            <a:r>
              <a:rPr lang="en-US" dirty="0" err="1"/>
              <a:t>quá</a:t>
            </a:r>
            <a:r>
              <a:rPr lang="en-US" dirty="0"/>
              <a:t> </a:t>
            </a:r>
            <a:r>
              <a:rPr lang="en-US" dirty="0" err="1"/>
              <a:t>trình</a:t>
            </a:r>
            <a:r>
              <a:rPr lang="en-US" dirty="0"/>
              <a:t> subscribe, publish </a:t>
            </a:r>
            <a:r>
              <a:rPr lang="en-US" dirty="0" err="1"/>
              <a:t>giữa</a:t>
            </a:r>
            <a:r>
              <a:rPr lang="en-US" dirty="0"/>
              <a:t> </a:t>
            </a:r>
            <a:r>
              <a:rPr lang="en-US" dirty="0" err="1"/>
              <a:t>các</a:t>
            </a:r>
            <a:r>
              <a:rPr lang="en-US" dirty="0"/>
              <a:t> sensor </a:t>
            </a:r>
            <a:r>
              <a:rPr lang="en-US" dirty="0" err="1"/>
              <a:t>và</a:t>
            </a:r>
            <a:r>
              <a:rPr lang="en-US" dirty="0"/>
              <a:t> </a:t>
            </a:r>
            <a:r>
              <a:rPr lang="en-US" dirty="0" err="1"/>
              <a:t>máy</a:t>
            </a:r>
            <a:r>
              <a:rPr lang="en-US" dirty="0"/>
              <a:t> </a:t>
            </a:r>
            <a:r>
              <a:rPr lang="en-US" dirty="0" err="1"/>
              <a:t>tính</a:t>
            </a:r>
            <a:endParaRPr lang="en-US" dirty="0"/>
          </a:p>
          <a:p>
            <a:endParaRPr lang="en-US" dirty="0"/>
          </a:p>
        </p:txBody>
      </p:sp>
    </p:spTree>
    <p:extLst>
      <p:ext uri="{BB962C8B-B14F-4D97-AF65-F5344CB8AC3E}">
        <p14:creationId xmlns:p14="http://schemas.microsoft.com/office/powerpoint/2010/main" val="2208608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0EC5318-3941-4350-999A-2F339A1F5EED}"/>
              </a:ext>
            </a:extLst>
          </p:cNvPr>
          <p:cNvSpPr>
            <a:spLocks noGrp="1"/>
          </p:cNvSpPr>
          <p:nvPr>
            <p:ph type="title"/>
          </p:nvPr>
        </p:nvSpPr>
        <p:spPr>
          <a:xfrm>
            <a:off x="838200" y="365125"/>
            <a:ext cx="10515600" cy="1325563"/>
          </a:xfrm>
        </p:spPr>
        <p:txBody>
          <a:bodyPr>
            <a:normAutofit/>
          </a:bodyPr>
          <a:lstStyle/>
          <a:p>
            <a:r>
              <a:rPr lang="en-US"/>
              <a:t>1. Giới Thiệu</a:t>
            </a:r>
          </a:p>
        </p:txBody>
      </p:sp>
      <p:sp>
        <p:nvSpPr>
          <p:cNvPr id="39" name="Arc 3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445758E-7C0B-4875-B3C2-CF3CBB106CAE}"/>
              </a:ext>
            </a:extLst>
          </p:cNvPr>
          <p:cNvSpPr>
            <a:spLocks noGrp="1"/>
          </p:cNvSpPr>
          <p:nvPr>
            <p:ph idx="1"/>
          </p:nvPr>
        </p:nvSpPr>
        <p:spPr>
          <a:xfrm>
            <a:off x="838200" y="1825625"/>
            <a:ext cx="10515600" cy="4351338"/>
          </a:xfrm>
        </p:spPr>
        <p:txBody>
          <a:bodyPr>
            <a:normAutofit/>
          </a:bodyPr>
          <a:lstStyle/>
          <a:p>
            <a:pPr marL="0" indent="0">
              <a:buNone/>
            </a:pPr>
            <a:r>
              <a:rPr lang="en-US" b="1" dirty="0" err="1"/>
              <a:t>Ứng</a:t>
            </a:r>
            <a:r>
              <a:rPr lang="en-US" b="1" dirty="0"/>
              <a:t> </a:t>
            </a:r>
            <a:r>
              <a:rPr lang="en-US" b="1" dirty="0" err="1"/>
              <a:t>dụng</a:t>
            </a:r>
            <a:r>
              <a:rPr lang="en-US" b="1" dirty="0"/>
              <a:t> </a:t>
            </a:r>
            <a:r>
              <a:rPr lang="en-US" b="1" dirty="0" err="1"/>
              <a:t>mở</a:t>
            </a:r>
            <a:r>
              <a:rPr lang="en-US" b="1" dirty="0"/>
              <a:t> </a:t>
            </a:r>
            <a:r>
              <a:rPr lang="en-US" b="1" dirty="0" err="1"/>
              <a:t>rộng</a:t>
            </a:r>
            <a:r>
              <a:rPr lang="en-US" b="1" dirty="0"/>
              <a:t> </a:t>
            </a:r>
            <a:r>
              <a:rPr lang="en-US" b="1" dirty="0" err="1"/>
              <a:t>của</a:t>
            </a:r>
            <a:r>
              <a:rPr lang="en-US" b="1" dirty="0"/>
              <a:t> </a:t>
            </a:r>
            <a:r>
              <a:rPr lang="en-US" b="1" dirty="0" err="1"/>
              <a:t>hệ</a:t>
            </a:r>
            <a:r>
              <a:rPr lang="en-US" b="1" dirty="0"/>
              <a:t> </a:t>
            </a:r>
            <a:r>
              <a:rPr lang="en-US" b="1" dirty="0" err="1"/>
              <a:t>thống</a:t>
            </a:r>
            <a:endParaRPr lang="en-US" b="1" dirty="0"/>
          </a:p>
          <a:p>
            <a:r>
              <a:rPr lang="en-US" dirty="0"/>
              <a:t>Theo </a:t>
            </a:r>
            <a:r>
              <a:rPr lang="en-US" dirty="0" err="1"/>
              <a:t>dõi</a:t>
            </a:r>
            <a:r>
              <a:rPr lang="en-US" dirty="0"/>
              <a:t> </a:t>
            </a:r>
            <a:r>
              <a:rPr lang="en-US" dirty="0" err="1"/>
              <a:t>tình</a:t>
            </a:r>
            <a:r>
              <a:rPr lang="en-US" dirty="0"/>
              <a:t> </a:t>
            </a:r>
            <a:r>
              <a:rPr lang="en-US" dirty="0" err="1"/>
              <a:t>hình</a:t>
            </a:r>
            <a:r>
              <a:rPr lang="en-US" dirty="0"/>
              <a:t> </a:t>
            </a:r>
            <a:r>
              <a:rPr lang="en-US" dirty="0" err="1"/>
              <a:t>thời</a:t>
            </a:r>
            <a:r>
              <a:rPr lang="en-US" dirty="0"/>
              <a:t> </a:t>
            </a:r>
            <a:r>
              <a:rPr lang="en-US" dirty="0" err="1"/>
              <a:t>tiết</a:t>
            </a:r>
            <a:r>
              <a:rPr lang="en-US" dirty="0"/>
              <a:t> (</a:t>
            </a:r>
            <a:r>
              <a:rPr lang="en-US" dirty="0" err="1"/>
              <a:t>nhiệt</a:t>
            </a:r>
            <a:r>
              <a:rPr lang="en-US" dirty="0"/>
              <a:t> </a:t>
            </a:r>
            <a:r>
              <a:rPr lang="en-US" dirty="0" err="1"/>
              <a:t>độ</a:t>
            </a:r>
            <a:r>
              <a:rPr lang="en-US" dirty="0"/>
              <a:t>, </a:t>
            </a:r>
            <a:r>
              <a:rPr lang="en-US" dirty="0" err="1"/>
              <a:t>độ</a:t>
            </a:r>
            <a:r>
              <a:rPr lang="en-US" dirty="0"/>
              <a:t> </a:t>
            </a:r>
            <a:r>
              <a:rPr lang="en-US" dirty="0" err="1"/>
              <a:t>ẩm</a:t>
            </a:r>
            <a:r>
              <a:rPr lang="en-US" dirty="0"/>
              <a:t>)</a:t>
            </a:r>
          </a:p>
          <a:p>
            <a:r>
              <a:rPr lang="en-US" dirty="0" err="1"/>
              <a:t>Ứng</a:t>
            </a:r>
            <a:r>
              <a:rPr lang="en-US" dirty="0"/>
              <a:t> </a:t>
            </a:r>
            <a:r>
              <a:rPr lang="en-US" dirty="0" err="1"/>
              <a:t>dụng</a:t>
            </a:r>
            <a:r>
              <a:rPr lang="en-US" dirty="0"/>
              <a:t> </a:t>
            </a:r>
            <a:r>
              <a:rPr lang="en-US" dirty="0" err="1"/>
              <a:t>trong</a:t>
            </a:r>
            <a:r>
              <a:rPr lang="en-US" dirty="0"/>
              <a:t> </a:t>
            </a:r>
            <a:r>
              <a:rPr lang="en-US" dirty="0" err="1"/>
              <a:t>nông</a:t>
            </a:r>
            <a:r>
              <a:rPr lang="en-US" dirty="0"/>
              <a:t> </a:t>
            </a:r>
            <a:r>
              <a:rPr lang="en-US" dirty="0" err="1"/>
              <a:t>nghiệp</a:t>
            </a:r>
            <a:r>
              <a:rPr lang="en-US" dirty="0"/>
              <a:t> </a:t>
            </a:r>
            <a:r>
              <a:rPr lang="en-US" dirty="0" err="1"/>
              <a:t>thông</a:t>
            </a:r>
            <a:r>
              <a:rPr lang="en-US" dirty="0"/>
              <a:t> </a:t>
            </a:r>
            <a:r>
              <a:rPr lang="en-US" dirty="0" err="1"/>
              <a:t>minh</a:t>
            </a:r>
            <a:r>
              <a:rPr lang="en-US" dirty="0"/>
              <a:t> </a:t>
            </a:r>
            <a:r>
              <a:rPr lang="en-US" dirty="0" err="1"/>
              <a:t>như</a:t>
            </a:r>
            <a:r>
              <a:rPr lang="en-US" dirty="0"/>
              <a:t> </a:t>
            </a:r>
            <a:r>
              <a:rPr lang="en-US" dirty="0" err="1"/>
              <a:t>tưới</a:t>
            </a:r>
            <a:r>
              <a:rPr lang="en-US" dirty="0"/>
              <a:t> </a:t>
            </a:r>
            <a:r>
              <a:rPr lang="en-US" dirty="0" err="1"/>
              <a:t>tiêu</a:t>
            </a:r>
            <a:r>
              <a:rPr lang="en-US" dirty="0"/>
              <a:t> </a:t>
            </a:r>
            <a:r>
              <a:rPr lang="en-US" dirty="0" err="1"/>
              <a:t>tự</a:t>
            </a:r>
            <a:r>
              <a:rPr lang="en-US" dirty="0"/>
              <a:t> </a:t>
            </a:r>
            <a:r>
              <a:rPr lang="en-US" dirty="0" err="1"/>
              <a:t>động</a:t>
            </a:r>
            <a:r>
              <a:rPr lang="en-US" dirty="0"/>
              <a:t> </a:t>
            </a:r>
            <a:r>
              <a:rPr lang="en-US" dirty="0" err="1"/>
              <a:t>theo</a:t>
            </a:r>
            <a:r>
              <a:rPr lang="en-US" dirty="0"/>
              <a:t> </a:t>
            </a:r>
            <a:r>
              <a:rPr lang="en-US" dirty="0" err="1"/>
              <a:t>dõi</a:t>
            </a:r>
            <a:r>
              <a:rPr lang="en-US" dirty="0"/>
              <a:t> </a:t>
            </a:r>
            <a:r>
              <a:rPr lang="en-US" dirty="0" err="1"/>
              <a:t>điều</a:t>
            </a:r>
            <a:r>
              <a:rPr lang="en-US" dirty="0"/>
              <a:t> </a:t>
            </a:r>
            <a:r>
              <a:rPr lang="en-US" dirty="0" err="1"/>
              <a:t>khiển</a:t>
            </a:r>
            <a:r>
              <a:rPr lang="en-US" dirty="0"/>
              <a:t> </a:t>
            </a:r>
            <a:r>
              <a:rPr lang="en-US" dirty="0" err="1"/>
              <a:t>các</a:t>
            </a:r>
            <a:r>
              <a:rPr lang="en-US" dirty="0"/>
              <a:t> </a:t>
            </a:r>
            <a:r>
              <a:rPr lang="en-US" dirty="0" err="1"/>
              <a:t>thiết</a:t>
            </a:r>
            <a:r>
              <a:rPr lang="en-US" dirty="0"/>
              <a:t> </a:t>
            </a:r>
            <a:r>
              <a:rPr lang="en-US" dirty="0" err="1"/>
              <a:t>bị</a:t>
            </a:r>
            <a:r>
              <a:rPr lang="en-US" dirty="0"/>
              <a:t>.</a:t>
            </a:r>
          </a:p>
        </p:txBody>
      </p:sp>
    </p:spTree>
    <p:extLst>
      <p:ext uri="{BB962C8B-B14F-4D97-AF65-F5344CB8AC3E}">
        <p14:creationId xmlns:p14="http://schemas.microsoft.com/office/powerpoint/2010/main" val="2132882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9C0AD7-7A8F-462B-88B2-7353006BF92E}"/>
              </a:ext>
            </a:extLst>
          </p:cNvPr>
          <p:cNvSpPr>
            <a:spLocks noGrp="1"/>
          </p:cNvSpPr>
          <p:nvPr>
            <p:ph type="title"/>
          </p:nvPr>
        </p:nvSpPr>
        <p:spPr>
          <a:xfrm>
            <a:off x="686834" y="1153572"/>
            <a:ext cx="3200400" cy="4461163"/>
          </a:xfrm>
        </p:spPr>
        <p:txBody>
          <a:bodyPr>
            <a:normAutofit/>
          </a:bodyPr>
          <a:lstStyle/>
          <a:p>
            <a:r>
              <a:rPr lang="en-US">
                <a:solidFill>
                  <a:srgbClr val="FFFFFF"/>
                </a:solidFill>
              </a:rPr>
              <a:t>2. Mô hình hóa hệ thống</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1C4F518-C47D-4B45-810A-826A9AD89A5E}"/>
              </a:ext>
            </a:extLst>
          </p:cNvPr>
          <p:cNvSpPr>
            <a:spLocks noGrp="1"/>
          </p:cNvSpPr>
          <p:nvPr>
            <p:ph idx="1"/>
          </p:nvPr>
        </p:nvSpPr>
        <p:spPr>
          <a:xfrm>
            <a:off x="4447308" y="591344"/>
            <a:ext cx="6906491" cy="5585619"/>
          </a:xfrm>
        </p:spPr>
        <p:txBody>
          <a:bodyPr anchor="ctr">
            <a:normAutofit/>
          </a:bodyPr>
          <a:lstStyle/>
          <a:p>
            <a:r>
              <a:rPr lang="en-US" dirty="0" err="1"/>
              <a:t>NodeMCU</a:t>
            </a:r>
            <a:r>
              <a:rPr lang="en-US" dirty="0"/>
              <a:t> ESP8266</a:t>
            </a:r>
          </a:p>
          <a:p>
            <a:r>
              <a:rPr lang="en-US" dirty="0" err="1"/>
              <a:t>Cảm</a:t>
            </a:r>
            <a:r>
              <a:rPr lang="en-US" dirty="0"/>
              <a:t> </a:t>
            </a:r>
            <a:r>
              <a:rPr lang="en-US" dirty="0" err="1"/>
              <a:t>biến</a:t>
            </a:r>
            <a:r>
              <a:rPr lang="en-US" dirty="0"/>
              <a:t> </a:t>
            </a:r>
            <a:r>
              <a:rPr lang="en-US" dirty="0" err="1"/>
              <a:t>nhiệt</a:t>
            </a:r>
            <a:r>
              <a:rPr lang="en-US" dirty="0"/>
              <a:t> </a:t>
            </a:r>
            <a:r>
              <a:rPr lang="en-US" dirty="0" err="1"/>
              <a:t>độ</a:t>
            </a:r>
            <a:r>
              <a:rPr lang="en-US" dirty="0"/>
              <a:t>, </a:t>
            </a:r>
            <a:r>
              <a:rPr lang="en-US" dirty="0" err="1"/>
              <a:t>độ</a:t>
            </a:r>
            <a:r>
              <a:rPr lang="en-US" dirty="0"/>
              <a:t> </a:t>
            </a:r>
            <a:r>
              <a:rPr lang="en-US" dirty="0" err="1"/>
              <a:t>ẩm</a:t>
            </a:r>
            <a:r>
              <a:rPr lang="en-US" dirty="0"/>
              <a:t> DHT11</a:t>
            </a:r>
          </a:p>
          <a:p>
            <a:r>
              <a:rPr lang="en-US" dirty="0"/>
              <a:t>MongoDB</a:t>
            </a:r>
          </a:p>
          <a:p>
            <a:r>
              <a:rPr lang="en-US" dirty="0" err="1"/>
              <a:t>ExpressJS</a:t>
            </a:r>
            <a:r>
              <a:rPr lang="en-US" dirty="0"/>
              <a:t> </a:t>
            </a:r>
          </a:p>
          <a:p>
            <a:r>
              <a:rPr lang="en-US" dirty="0"/>
              <a:t>Trang web </a:t>
            </a:r>
            <a:r>
              <a:rPr lang="en-US" dirty="0" err="1"/>
              <a:t>hiển</a:t>
            </a:r>
            <a:r>
              <a:rPr lang="en-US" dirty="0"/>
              <a:t> </a:t>
            </a:r>
            <a:r>
              <a:rPr lang="en-US" dirty="0" err="1"/>
              <a:t>thị</a:t>
            </a:r>
            <a:r>
              <a:rPr lang="en-US" dirty="0"/>
              <a:t> </a:t>
            </a:r>
            <a:r>
              <a:rPr lang="en-US" dirty="0" err="1"/>
              <a:t>dữ</a:t>
            </a:r>
            <a:r>
              <a:rPr lang="en-US" dirty="0"/>
              <a:t> </a:t>
            </a:r>
            <a:r>
              <a:rPr lang="en-US" dirty="0" err="1"/>
              <a:t>liệu</a:t>
            </a:r>
            <a:endParaRPr lang="en-US" dirty="0"/>
          </a:p>
        </p:txBody>
      </p:sp>
    </p:spTree>
    <p:extLst>
      <p:ext uri="{BB962C8B-B14F-4D97-AF65-F5344CB8AC3E}">
        <p14:creationId xmlns:p14="http://schemas.microsoft.com/office/powerpoint/2010/main" val="2292779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25">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EE2DA7F9-069A-4834-9F61-10738FF9CF57}"/>
              </a:ext>
            </a:extLst>
          </p:cNvPr>
          <p:cNvSpPr>
            <a:spLocks noGrp="1"/>
          </p:cNvSpPr>
          <p:nvPr>
            <p:ph type="title"/>
          </p:nvPr>
        </p:nvSpPr>
        <p:spPr>
          <a:xfrm>
            <a:off x="838200" y="365125"/>
            <a:ext cx="5393361" cy="1325563"/>
          </a:xfrm>
        </p:spPr>
        <p:txBody>
          <a:bodyPr>
            <a:normAutofit/>
          </a:bodyPr>
          <a:lstStyle/>
          <a:p>
            <a:r>
              <a:rPr lang="en-US"/>
              <a:t>2.1 NodeMCU ESP8266</a:t>
            </a:r>
          </a:p>
        </p:txBody>
      </p:sp>
      <p:sp>
        <p:nvSpPr>
          <p:cNvPr id="3" name="Content Placeholder 2">
            <a:extLst>
              <a:ext uri="{FF2B5EF4-FFF2-40B4-BE49-F238E27FC236}">
                <a16:creationId xmlns:a16="http://schemas.microsoft.com/office/drawing/2014/main" id="{963F8967-D110-4681-877C-B465CFAE5CBD}"/>
              </a:ext>
            </a:extLst>
          </p:cNvPr>
          <p:cNvSpPr>
            <a:spLocks noGrp="1"/>
          </p:cNvSpPr>
          <p:nvPr>
            <p:ph idx="1"/>
          </p:nvPr>
        </p:nvSpPr>
        <p:spPr>
          <a:xfrm>
            <a:off x="838200" y="1825625"/>
            <a:ext cx="5393361" cy="4351338"/>
          </a:xfrm>
        </p:spPr>
        <p:txBody>
          <a:bodyPr>
            <a:normAutofit/>
          </a:bodyPr>
          <a:lstStyle/>
          <a:p>
            <a:r>
              <a:rPr lang="en-US" dirty="0" err="1"/>
              <a:t>NodeMCU</a:t>
            </a:r>
            <a:r>
              <a:rPr lang="en-US" dirty="0"/>
              <a:t> Esp8266 </a:t>
            </a:r>
            <a:r>
              <a:rPr lang="en-US" dirty="0" err="1"/>
              <a:t>là</a:t>
            </a:r>
            <a:r>
              <a:rPr lang="en-US" dirty="0"/>
              <a:t> </a:t>
            </a:r>
            <a:r>
              <a:rPr lang="en-US" dirty="0" err="1"/>
              <a:t>một</a:t>
            </a:r>
            <a:r>
              <a:rPr lang="en-US" dirty="0"/>
              <a:t> kit </a:t>
            </a:r>
            <a:r>
              <a:rPr lang="en-US" dirty="0" err="1"/>
              <a:t>phát</a:t>
            </a:r>
            <a:r>
              <a:rPr lang="en-US" dirty="0"/>
              <a:t> </a:t>
            </a:r>
            <a:r>
              <a:rPr lang="en-US" dirty="0" err="1"/>
              <a:t>triển</a:t>
            </a:r>
            <a:r>
              <a:rPr lang="en-US" dirty="0"/>
              <a:t> </a:t>
            </a:r>
            <a:r>
              <a:rPr lang="en-US" dirty="0" err="1"/>
              <a:t>dựa</a:t>
            </a:r>
            <a:r>
              <a:rPr lang="en-US" dirty="0"/>
              <a:t> </a:t>
            </a:r>
            <a:r>
              <a:rPr lang="en-US" dirty="0" err="1"/>
              <a:t>trên</a:t>
            </a:r>
            <a:r>
              <a:rPr lang="en-US" dirty="0"/>
              <a:t> </a:t>
            </a:r>
            <a:r>
              <a:rPr lang="en-US" dirty="0" err="1"/>
              <a:t>nền</a:t>
            </a:r>
            <a:r>
              <a:rPr lang="en-US" dirty="0"/>
              <a:t> </a:t>
            </a:r>
            <a:r>
              <a:rPr lang="en-US" dirty="0" err="1"/>
              <a:t>tảng</a:t>
            </a:r>
            <a:r>
              <a:rPr lang="en-US" dirty="0"/>
              <a:t> chip </a:t>
            </a:r>
            <a:r>
              <a:rPr lang="en-US" dirty="0" err="1"/>
              <a:t>Wifi</a:t>
            </a:r>
            <a:r>
              <a:rPr lang="en-US" dirty="0"/>
              <a:t> ESP8266 </a:t>
            </a:r>
            <a:r>
              <a:rPr lang="en-US" dirty="0" err="1"/>
              <a:t>với</a:t>
            </a:r>
            <a:r>
              <a:rPr lang="en-US" dirty="0"/>
              <a:t> </a:t>
            </a:r>
            <a:r>
              <a:rPr lang="en-US" dirty="0" err="1"/>
              <a:t>thiết</a:t>
            </a:r>
            <a:r>
              <a:rPr lang="en-US" dirty="0"/>
              <a:t> </a:t>
            </a:r>
            <a:r>
              <a:rPr lang="en-US" dirty="0" err="1"/>
              <a:t>kế</a:t>
            </a:r>
            <a:r>
              <a:rPr lang="en-US" dirty="0"/>
              <a:t> </a:t>
            </a:r>
            <a:r>
              <a:rPr lang="en-US" dirty="0" err="1"/>
              <a:t>dễ</a:t>
            </a:r>
            <a:r>
              <a:rPr lang="en-US" dirty="0"/>
              <a:t> </a:t>
            </a:r>
            <a:r>
              <a:rPr lang="en-US" dirty="0" err="1"/>
              <a:t>sử</a:t>
            </a:r>
            <a:r>
              <a:rPr lang="en-US" dirty="0"/>
              <a:t> </a:t>
            </a:r>
            <a:r>
              <a:rPr lang="en-US" dirty="0" err="1"/>
              <a:t>dụng</a:t>
            </a:r>
            <a:r>
              <a:rPr lang="en-US" dirty="0"/>
              <a:t> </a:t>
            </a:r>
            <a:r>
              <a:rPr lang="en-US" dirty="0" err="1"/>
              <a:t>và</a:t>
            </a:r>
            <a:r>
              <a:rPr lang="en-US" dirty="0"/>
              <a:t> </a:t>
            </a:r>
            <a:r>
              <a:rPr lang="en-US" dirty="0" err="1"/>
              <a:t>lập</a:t>
            </a:r>
            <a:r>
              <a:rPr lang="en-US" dirty="0"/>
              <a:t> </a:t>
            </a:r>
            <a:r>
              <a:rPr lang="en-US" dirty="0" err="1"/>
              <a:t>trình</a:t>
            </a:r>
            <a:endParaRPr lang="en-US" dirty="0"/>
          </a:p>
        </p:txBody>
      </p:sp>
      <p:pic>
        <p:nvPicPr>
          <p:cNvPr id="7" name="Picture 6" descr="A circuit board&#10;&#10;Description automatically generated">
            <a:extLst>
              <a:ext uri="{FF2B5EF4-FFF2-40B4-BE49-F238E27FC236}">
                <a16:creationId xmlns:a16="http://schemas.microsoft.com/office/drawing/2014/main" id="{C417CC1A-DD54-4C96-AD8F-9110022F6D73}"/>
              </a:ext>
            </a:extLst>
          </p:cNvPr>
          <p:cNvPicPr>
            <a:picLocks noChangeAspect="1"/>
          </p:cNvPicPr>
          <p:nvPr/>
        </p:nvPicPr>
        <p:blipFill rotWithShape="1">
          <a:blip r:embed="rId2">
            <a:extLst>
              <a:ext uri="{28A0092B-C50C-407E-A947-70E740481C1C}">
                <a14:useLocalDpi xmlns:a14="http://schemas.microsoft.com/office/drawing/2010/main" val="0"/>
              </a:ext>
            </a:extLst>
          </a:blip>
          <a:srcRect r="3" b="3"/>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33" name="Arc 27">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4" name="Oval 29">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328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427AF5F-9A0E-42B7-A252-FD64C9885F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1BCFCE-075C-48C0-ABCE-BE9B3CCED3EC}"/>
              </a:ext>
            </a:extLst>
          </p:cNvPr>
          <p:cNvSpPr>
            <a:spLocks noGrp="1"/>
          </p:cNvSpPr>
          <p:nvPr>
            <p:ph type="title"/>
          </p:nvPr>
        </p:nvSpPr>
        <p:spPr>
          <a:xfrm>
            <a:off x="838200" y="365125"/>
            <a:ext cx="10515600" cy="1306443"/>
          </a:xfrm>
        </p:spPr>
        <p:txBody>
          <a:bodyPr>
            <a:normAutofit/>
          </a:bodyPr>
          <a:lstStyle/>
          <a:p>
            <a:r>
              <a:rPr lang="en-US" sz="4000"/>
              <a:t>2.1 NodeMCU ESP8266</a:t>
            </a:r>
          </a:p>
        </p:txBody>
      </p:sp>
      <p:sp>
        <p:nvSpPr>
          <p:cNvPr id="3" name="Content Placeholder 2">
            <a:extLst>
              <a:ext uri="{FF2B5EF4-FFF2-40B4-BE49-F238E27FC236}">
                <a16:creationId xmlns:a16="http://schemas.microsoft.com/office/drawing/2014/main" id="{56CFECF2-0E53-4E18-856D-13F496442488}"/>
              </a:ext>
            </a:extLst>
          </p:cNvPr>
          <p:cNvSpPr>
            <a:spLocks noGrp="1"/>
          </p:cNvSpPr>
          <p:nvPr>
            <p:ph idx="1"/>
          </p:nvPr>
        </p:nvSpPr>
        <p:spPr>
          <a:xfrm>
            <a:off x="838200" y="1825625"/>
            <a:ext cx="4152774" cy="4303464"/>
          </a:xfrm>
        </p:spPr>
        <p:txBody>
          <a:bodyPr>
            <a:normAutofit/>
          </a:bodyPr>
          <a:lstStyle/>
          <a:p>
            <a:pPr marL="0" indent="0">
              <a:buNone/>
            </a:pPr>
            <a:r>
              <a:rPr lang="en-US" sz="2000" dirty="0" err="1"/>
              <a:t>Sơ</a:t>
            </a:r>
            <a:r>
              <a:rPr lang="en-US" sz="2000" dirty="0"/>
              <a:t> </a:t>
            </a:r>
            <a:r>
              <a:rPr lang="en-US" sz="2000" dirty="0" err="1"/>
              <a:t>đồ</a:t>
            </a:r>
            <a:r>
              <a:rPr lang="en-US" sz="2000" dirty="0"/>
              <a:t> </a:t>
            </a:r>
            <a:r>
              <a:rPr lang="en-US" sz="2000" dirty="0" err="1"/>
              <a:t>chân</a:t>
            </a:r>
            <a:endParaRPr lang="en-US" sz="2000" dirty="0"/>
          </a:p>
          <a:p>
            <a:pPr marL="0" indent="0">
              <a:buNone/>
            </a:pPr>
            <a:endParaRPr lang="en-US" sz="2000" dirty="0"/>
          </a:p>
        </p:txBody>
      </p:sp>
      <p:pic>
        <p:nvPicPr>
          <p:cNvPr id="5" name="Picture 4">
            <a:extLst>
              <a:ext uri="{FF2B5EF4-FFF2-40B4-BE49-F238E27FC236}">
                <a16:creationId xmlns:a16="http://schemas.microsoft.com/office/drawing/2014/main" id="{89A5F8AD-F5EE-4245-AA55-60701C0893B7}"/>
              </a:ext>
            </a:extLst>
          </p:cNvPr>
          <p:cNvPicPr>
            <a:picLocks noChangeAspect="1"/>
          </p:cNvPicPr>
          <p:nvPr/>
        </p:nvPicPr>
        <p:blipFill rotWithShape="1">
          <a:blip r:embed="rId2">
            <a:extLst>
              <a:ext uri="{28A0092B-C50C-407E-A947-70E740481C1C}">
                <a14:useLocalDpi xmlns:a14="http://schemas.microsoft.com/office/drawing/2010/main" val="0"/>
              </a:ext>
            </a:extLst>
          </a:blip>
          <a:srcRect t="3286" r="2" b="14469"/>
          <a:stretch/>
        </p:blipFill>
        <p:spPr>
          <a:xfrm>
            <a:off x="5183500" y="1904282"/>
            <a:ext cx="6170299" cy="4224808"/>
          </a:xfrm>
          <a:prstGeom prst="rect">
            <a:avLst/>
          </a:prstGeom>
        </p:spPr>
      </p:pic>
    </p:spTree>
    <p:extLst>
      <p:ext uri="{BB962C8B-B14F-4D97-AF65-F5344CB8AC3E}">
        <p14:creationId xmlns:p14="http://schemas.microsoft.com/office/powerpoint/2010/main" val="1529635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84B152-3496-4C52-AF08-97AFFC09D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B0B1C7D1-922C-4678-9E06-E20E66AC4593}"/>
              </a:ext>
            </a:extLst>
          </p:cNvPr>
          <p:cNvSpPr>
            <a:spLocks noGrp="1"/>
          </p:cNvSpPr>
          <p:nvPr>
            <p:ph type="title"/>
          </p:nvPr>
        </p:nvSpPr>
        <p:spPr>
          <a:xfrm>
            <a:off x="838201" y="365125"/>
            <a:ext cx="5393360" cy="1325563"/>
          </a:xfrm>
        </p:spPr>
        <p:txBody>
          <a:bodyPr>
            <a:normAutofit/>
          </a:bodyPr>
          <a:lstStyle/>
          <a:p>
            <a:r>
              <a:rPr lang="en-US" dirty="0"/>
              <a:t>2.2 DHT11</a:t>
            </a:r>
          </a:p>
        </p:txBody>
      </p:sp>
      <p:sp>
        <p:nvSpPr>
          <p:cNvPr id="12" name="Freeform: Shape 11">
            <a:extLst>
              <a:ext uri="{FF2B5EF4-FFF2-40B4-BE49-F238E27FC236}">
                <a16:creationId xmlns:a16="http://schemas.microsoft.com/office/drawing/2014/main" id="{6B2ADB95-0FA3-4BD7-A8AC-89D014A8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D530889A-563C-4A1F-BA14-DAD9FC646261}"/>
              </a:ext>
            </a:extLst>
          </p:cNvPr>
          <p:cNvSpPr>
            <a:spLocks noGrp="1"/>
          </p:cNvSpPr>
          <p:nvPr>
            <p:ph idx="1"/>
          </p:nvPr>
        </p:nvSpPr>
        <p:spPr>
          <a:xfrm>
            <a:off x="838200" y="1825625"/>
            <a:ext cx="5393361" cy="4351338"/>
          </a:xfrm>
        </p:spPr>
        <p:txBody>
          <a:bodyPr>
            <a:normAutofit/>
          </a:bodyPr>
          <a:lstStyle/>
          <a:p>
            <a:r>
              <a:rPr lang="en-US" dirty="0" err="1"/>
              <a:t>Cảm</a:t>
            </a:r>
            <a:r>
              <a:rPr lang="en-US" dirty="0"/>
              <a:t> </a:t>
            </a:r>
            <a:r>
              <a:rPr lang="en-US" dirty="0" err="1"/>
              <a:t>biến</a:t>
            </a:r>
            <a:r>
              <a:rPr lang="en-US" dirty="0"/>
              <a:t> </a:t>
            </a:r>
            <a:r>
              <a:rPr lang="en-US" dirty="0" err="1"/>
              <a:t>độ</a:t>
            </a:r>
            <a:r>
              <a:rPr lang="en-US" dirty="0"/>
              <a:t> </a:t>
            </a:r>
            <a:r>
              <a:rPr lang="en-US" dirty="0" err="1"/>
              <a:t>ẩm</a:t>
            </a:r>
            <a:r>
              <a:rPr lang="en-US" dirty="0"/>
              <a:t> </a:t>
            </a:r>
            <a:r>
              <a:rPr lang="en-US" dirty="0" err="1"/>
              <a:t>nhiệt</a:t>
            </a:r>
            <a:r>
              <a:rPr lang="en-US" dirty="0"/>
              <a:t> </a:t>
            </a:r>
            <a:r>
              <a:rPr lang="en-US" dirty="0" err="1"/>
              <a:t>độ</a:t>
            </a:r>
            <a:r>
              <a:rPr lang="en-US" dirty="0"/>
              <a:t> DHT11 </a:t>
            </a:r>
            <a:r>
              <a:rPr lang="en-US" dirty="0" err="1"/>
              <a:t>là</a:t>
            </a:r>
            <a:r>
              <a:rPr lang="en-US" dirty="0"/>
              <a:t> </a:t>
            </a:r>
            <a:r>
              <a:rPr lang="en-US" dirty="0" err="1"/>
              <a:t>cảm</a:t>
            </a:r>
            <a:r>
              <a:rPr lang="en-US" dirty="0"/>
              <a:t> </a:t>
            </a:r>
            <a:r>
              <a:rPr lang="en-US" dirty="0" err="1"/>
              <a:t>biến</a:t>
            </a:r>
            <a:r>
              <a:rPr lang="en-US" dirty="0"/>
              <a:t> </a:t>
            </a:r>
            <a:r>
              <a:rPr lang="en-US" dirty="0" err="1"/>
              <a:t>rất</a:t>
            </a:r>
            <a:r>
              <a:rPr lang="en-US" dirty="0"/>
              <a:t> </a:t>
            </a:r>
            <a:r>
              <a:rPr lang="en-US" dirty="0" err="1"/>
              <a:t>thông</a:t>
            </a:r>
            <a:r>
              <a:rPr lang="en-US" dirty="0"/>
              <a:t> </a:t>
            </a:r>
            <a:r>
              <a:rPr lang="en-US" dirty="0" err="1"/>
              <a:t>dụng</a:t>
            </a:r>
            <a:r>
              <a:rPr lang="en-US" dirty="0"/>
              <a:t> </a:t>
            </a:r>
            <a:r>
              <a:rPr lang="en-US" dirty="0" err="1"/>
              <a:t>hiện</a:t>
            </a:r>
            <a:r>
              <a:rPr lang="en-US" dirty="0"/>
              <a:t> nay </a:t>
            </a:r>
            <a:r>
              <a:rPr lang="en-US" dirty="0" err="1"/>
              <a:t>với</a:t>
            </a:r>
            <a:r>
              <a:rPr lang="en-US" dirty="0"/>
              <a:t> chi </a:t>
            </a:r>
            <a:r>
              <a:rPr lang="en-US" dirty="0" err="1"/>
              <a:t>phí</a:t>
            </a:r>
            <a:r>
              <a:rPr lang="en-US" dirty="0"/>
              <a:t> </a:t>
            </a:r>
            <a:r>
              <a:rPr lang="en-US" dirty="0" err="1"/>
              <a:t>rẻ</a:t>
            </a:r>
            <a:r>
              <a:rPr lang="en-US" dirty="0"/>
              <a:t>  </a:t>
            </a:r>
            <a:r>
              <a:rPr lang="en-US" dirty="0" err="1"/>
              <a:t>đáp</a:t>
            </a:r>
            <a:r>
              <a:rPr lang="en-US" dirty="0"/>
              <a:t> </a:t>
            </a:r>
            <a:r>
              <a:rPr lang="en-US" dirty="0" err="1"/>
              <a:t>ứng</a:t>
            </a:r>
            <a:r>
              <a:rPr lang="en-US" dirty="0"/>
              <a:t> </a:t>
            </a:r>
            <a:r>
              <a:rPr lang="en-US" dirty="0" err="1"/>
              <a:t>được</a:t>
            </a:r>
            <a:r>
              <a:rPr lang="en-US" dirty="0"/>
              <a:t> </a:t>
            </a:r>
            <a:r>
              <a:rPr lang="en-US" dirty="0" err="1"/>
              <a:t>nhu</a:t>
            </a:r>
            <a:r>
              <a:rPr lang="en-US" dirty="0"/>
              <a:t> </a:t>
            </a:r>
            <a:r>
              <a:rPr lang="en-US" dirty="0" err="1"/>
              <a:t>cầu</a:t>
            </a:r>
            <a:r>
              <a:rPr lang="en-US" dirty="0"/>
              <a:t> </a:t>
            </a:r>
            <a:r>
              <a:rPr lang="en-US" dirty="0" err="1"/>
              <a:t>bình</a:t>
            </a:r>
            <a:r>
              <a:rPr lang="en-US" dirty="0"/>
              <a:t> </a:t>
            </a:r>
            <a:r>
              <a:rPr lang="en-US" dirty="0" err="1"/>
              <a:t>thường</a:t>
            </a:r>
            <a:endParaRPr lang="en-US" dirty="0"/>
          </a:p>
        </p:txBody>
      </p:sp>
      <p:sp>
        <p:nvSpPr>
          <p:cNvPr id="14" name="Oval 13">
            <a:extLst>
              <a:ext uri="{FF2B5EF4-FFF2-40B4-BE49-F238E27FC236}">
                <a16:creationId xmlns:a16="http://schemas.microsoft.com/office/drawing/2014/main" id="{C924DBCE-E731-4B22-8181-A39C1D862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630884" cy="630884"/>
          </a:xfrm>
          <a:prstGeom prst="ellipse">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4CBF9756-6AC8-4C65-84DF-56FBFFA1D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0227"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pic>
        <p:nvPicPr>
          <p:cNvPr id="5" name="Picture 4" descr="A circuit board&#10;&#10;Description automatically generated">
            <a:extLst>
              <a:ext uri="{FF2B5EF4-FFF2-40B4-BE49-F238E27FC236}">
                <a16:creationId xmlns:a16="http://schemas.microsoft.com/office/drawing/2014/main" id="{AACC11B2-EB20-4B66-9136-3C03B6D2BEDE}"/>
              </a:ext>
            </a:extLst>
          </p:cNvPr>
          <p:cNvPicPr>
            <a:picLocks noChangeAspect="1"/>
          </p:cNvPicPr>
          <p:nvPr/>
        </p:nvPicPr>
        <p:blipFill rotWithShape="1">
          <a:blip r:embed="rId2">
            <a:extLst>
              <a:ext uri="{28A0092B-C50C-407E-A947-70E740481C1C}">
                <a14:useLocalDpi xmlns:a14="http://schemas.microsoft.com/office/drawing/2010/main" val="0"/>
              </a:ext>
            </a:extLst>
          </a:blip>
          <a:srcRect r="5" b="5"/>
          <a:stretch/>
        </p:blipFill>
        <p:spPr>
          <a:xfrm>
            <a:off x="7751975" y="1075239"/>
            <a:ext cx="4128603" cy="4128603"/>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8" name="Freeform: Shape 17">
            <a:extLst>
              <a:ext uri="{FF2B5EF4-FFF2-40B4-BE49-F238E27FC236}">
                <a16:creationId xmlns:a16="http://schemas.microsoft.com/office/drawing/2014/main" id="{2D385988-EAAF-4C27-AF8A-2BFBECAF3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20" name="Straight Connector 19">
            <a:extLst>
              <a:ext uri="{FF2B5EF4-FFF2-40B4-BE49-F238E27FC236}">
                <a16:creationId xmlns:a16="http://schemas.microsoft.com/office/drawing/2014/main" id="{43621FD4-D14D-45D5-9A57-9A2DE5EA59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2" name="Freeform: Shape 21">
            <a:extLst>
              <a:ext uri="{FF2B5EF4-FFF2-40B4-BE49-F238E27FC236}">
                <a16:creationId xmlns:a16="http://schemas.microsoft.com/office/drawing/2014/main" id="{B621D332-7329-4994-8836-C429A51B7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2D20F754-35A9-4508-BE3C-C59996D143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3426455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0DF40B2-80F7-4E71-B46C-284163F3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EE2986-B713-4A05-86FC-C0311AD98510}"/>
              </a:ext>
            </a:extLst>
          </p:cNvPr>
          <p:cNvSpPr>
            <a:spLocks noGrp="1"/>
          </p:cNvSpPr>
          <p:nvPr>
            <p:ph type="title"/>
          </p:nvPr>
        </p:nvSpPr>
        <p:spPr>
          <a:xfrm>
            <a:off x="838199" y="548464"/>
            <a:ext cx="3807187" cy="2228074"/>
          </a:xfrm>
        </p:spPr>
        <p:txBody>
          <a:bodyPr>
            <a:normAutofit/>
          </a:bodyPr>
          <a:lstStyle/>
          <a:p>
            <a:r>
              <a:rPr lang="en-US" sz="4000"/>
              <a:t>2.2 DHT11</a:t>
            </a:r>
          </a:p>
        </p:txBody>
      </p:sp>
      <p:sp>
        <p:nvSpPr>
          <p:cNvPr id="3" name="Content Placeholder 2">
            <a:extLst>
              <a:ext uri="{FF2B5EF4-FFF2-40B4-BE49-F238E27FC236}">
                <a16:creationId xmlns:a16="http://schemas.microsoft.com/office/drawing/2014/main" id="{108D947F-2504-4DA0-8ABF-A70E2649C027}"/>
              </a:ext>
            </a:extLst>
          </p:cNvPr>
          <p:cNvSpPr>
            <a:spLocks noGrp="1"/>
          </p:cNvSpPr>
          <p:nvPr>
            <p:ph idx="1"/>
          </p:nvPr>
        </p:nvSpPr>
        <p:spPr>
          <a:xfrm>
            <a:off x="838201" y="2962279"/>
            <a:ext cx="3799425" cy="3143241"/>
          </a:xfrm>
        </p:spPr>
        <p:txBody>
          <a:bodyPr>
            <a:normAutofit/>
          </a:bodyPr>
          <a:lstStyle/>
          <a:p>
            <a:r>
              <a:rPr lang="vi-VN" sz="1400"/>
              <a:t>Thông tin kỹ thuật:</a:t>
            </a:r>
          </a:p>
          <a:p>
            <a:r>
              <a:rPr lang="vi-VN" sz="1400"/>
              <a:t>Nguồn: 3 -&gt; 5 VDC.</a:t>
            </a:r>
          </a:p>
          <a:p>
            <a:r>
              <a:rPr lang="vi-VN" sz="1400"/>
              <a:t>Dòng sử dụng: 2.5mA max (khi truyền dữ liệu).</a:t>
            </a:r>
          </a:p>
          <a:p>
            <a:r>
              <a:rPr lang="vi-VN" sz="1400"/>
              <a:t>Đo tốt ở độ ẩm 20 to 70%RH với sai số 5%.</a:t>
            </a:r>
          </a:p>
          <a:p>
            <a:r>
              <a:rPr lang="vi-VN" sz="1400"/>
              <a:t>Đo tốt ở nhiệt độ 0 to 50°C sai số ±2°C.</a:t>
            </a:r>
          </a:p>
          <a:p>
            <a:r>
              <a:rPr lang="vi-VN" sz="1400"/>
              <a:t>Tần số lấy mẫu tối đa 1Hz (1 giây 1 lần)</a:t>
            </a:r>
          </a:p>
          <a:p>
            <a:r>
              <a:rPr lang="vi-VN" sz="1400"/>
              <a:t>Kích thước 15mm x 12mm x 5.5mm.</a:t>
            </a:r>
          </a:p>
          <a:p>
            <a:r>
              <a:rPr lang="vi-VN" sz="1400"/>
              <a:t>4 chân, khoảng cách chân 0.1''.</a:t>
            </a:r>
            <a:endParaRPr lang="en-US" sz="1400"/>
          </a:p>
        </p:txBody>
      </p:sp>
      <p:pic>
        <p:nvPicPr>
          <p:cNvPr id="5" name="Picture 4">
            <a:extLst>
              <a:ext uri="{FF2B5EF4-FFF2-40B4-BE49-F238E27FC236}">
                <a16:creationId xmlns:a16="http://schemas.microsoft.com/office/drawing/2014/main" id="{8B33A3CC-9E13-4FE2-802F-667777FD6BB3}"/>
              </a:ext>
            </a:extLst>
          </p:cNvPr>
          <p:cNvPicPr>
            <a:picLocks noChangeAspect="1"/>
          </p:cNvPicPr>
          <p:nvPr/>
        </p:nvPicPr>
        <p:blipFill rotWithShape="1">
          <a:blip r:embed="rId2">
            <a:extLst>
              <a:ext uri="{28A0092B-C50C-407E-A947-70E740481C1C}">
                <a14:useLocalDpi xmlns:a14="http://schemas.microsoft.com/office/drawing/2010/main" val="0"/>
              </a:ext>
            </a:extLst>
          </a:blip>
          <a:srcRect b="4506"/>
          <a:stretch/>
        </p:blipFill>
        <p:spPr>
          <a:xfrm>
            <a:off x="5010386" y="10"/>
            <a:ext cx="7181613" cy="6857990"/>
          </a:xfrm>
          <a:prstGeom prst="rect">
            <a:avLst/>
          </a:prstGeom>
          <a:effectLst/>
        </p:spPr>
      </p:pic>
    </p:spTree>
    <p:extLst>
      <p:ext uri="{BB962C8B-B14F-4D97-AF65-F5344CB8AC3E}">
        <p14:creationId xmlns:p14="http://schemas.microsoft.com/office/powerpoint/2010/main" val="2411667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B9304-A7E5-4493-8988-3E8E189CC240}"/>
              </a:ext>
            </a:extLst>
          </p:cNvPr>
          <p:cNvSpPr>
            <a:spLocks noGrp="1"/>
          </p:cNvSpPr>
          <p:nvPr>
            <p:ph type="title"/>
          </p:nvPr>
        </p:nvSpPr>
        <p:spPr/>
        <p:txBody>
          <a:bodyPr/>
          <a:lstStyle/>
          <a:p>
            <a:r>
              <a:rPr lang="en-US" dirty="0"/>
              <a:t>2.3 MongoDB</a:t>
            </a:r>
          </a:p>
        </p:txBody>
      </p:sp>
      <p:sp>
        <p:nvSpPr>
          <p:cNvPr id="3" name="Content Placeholder 2">
            <a:extLst>
              <a:ext uri="{FF2B5EF4-FFF2-40B4-BE49-F238E27FC236}">
                <a16:creationId xmlns:a16="http://schemas.microsoft.com/office/drawing/2014/main" id="{1413B2BA-CE3A-4D3D-BA18-76AB91844709}"/>
              </a:ext>
            </a:extLst>
          </p:cNvPr>
          <p:cNvSpPr>
            <a:spLocks noGrp="1"/>
          </p:cNvSpPr>
          <p:nvPr>
            <p:ph idx="1"/>
          </p:nvPr>
        </p:nvSpPr>
        <p:spPr/>
        <p:txBody>
          <a:bodyPr/>
          <a:lstStyle/>
          <a:p>
            <a:r>
              <a:rPr lang="en-US" sz="1800" kern="100" dirty="0">
                <a:effectLst/>
                <a:latin typeface="Open Sans"/>
                <a:ea typeface="Calibri" panose="020F0502020204030204" pitchFamily="34" charset="0"/>
                <a:cs typeface="Angsana New" panose="02020603050405020304" pitchFamily="18" charset="-34"/>
              </a:rPr>
              <a:t>MongoDB </a:t>
            </a:r>
            <a:r>
              <a:rPr lang="en-US" sz="1800" kern="100" dirty="0" err="1">
                <a:effectLst/>
                <a:latin typeface="Open Sans"/>
                <a:ea typeface="Calibri" panose="020F0502020204030204" pitchFamily="34" charset="0"/>
                <a:cs typeface="Angsana New" panose="02020603050405020304" pitchFamily="18" charset="-34"/>
              </a:rPr>
              <a:t>là</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một</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hệ</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quản</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trị</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cơ</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sở</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dữ</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liệu</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mã</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nguồn</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mở</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là</a:t>
            </a:r>
            <a:r>
              <a:rPr lang="en-US" sz="1800" kern="100" dirty="0">
                <a:effectLst/>
                <a:latin typeface="Open Sans"/>
                <a:ea typeface="Calibri" panose="020F0502020204030204" pitchFamily="34" charset="0"/>
                <a:cs typeface="Angsana New" panose="02020603050405020304" pitchFamily="18" charset="-34"/>
              </a:rPr>
              <a:t> CSDL </a:t>
            </a:r>
            <a:r>
              <a:rPr lang="en-US" sz="1800" kern="100" dirty="0" err="1">
                <a:effectLst/>
                <a:latin typeface="Open Sans"/>
                <a:ea typeface="Calibri" panose="020F0502020204030204" pitchFamily="34" charset="0"/>
                <a:cs typeface="Angsana New" panose="02020603050405020304" pitchFamily="18" charset="-34"/>
              </a:rPr>
              <a:t>thuộc</a:t>
            </a:r>
            <a:r>
              <a:rPr lang="en-US" sz="1800" kern="100" dirty="0">
                <a:effectLst/>
                <a:latin typeface="Open Sans"/>
                <a:ea typeface="Calibri" panose="020F0502020204030204" pitchFamily="34" charset="0"/>
                <a:cs typeface="Angsana New" panose="02020603050405020304" pitchFamily="18" charset="-34"/>
              </a:rPr>
              <a:t> NoSQL </a:t>
            </a:r>
            <a:r>
              <a:rPr lang="en-US" sz="1800" kern="100" dirty="0" err="1">
                <a:effectLst/>
                <a:latin typeface="Open Sans"/>
                <a:ea typeface="Calibri" panose="020F0502020204030204" pitchFamily="34" charset="0"/>
                <a:cs typeface="Angsana New" panose="02020603050405020304" pitchFamily="18" charset="-34"/>
              </a:rPr>
              <a:t>và</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được</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hàng</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triệu</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người</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sử</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dụng</a:t>
            </a:r>
            <a:r>
              <a:rPr lang="en-US" sz="1800" kern="100" dirty="0">
                <a:effectLst/>
                <a:latin typeface="Open Sans"/>
                <a:ea typeface="Calibri" panose="020F0502020204030204" pitchFamily="34" charset="0"/>
                <a:cs typeface="Angsana New" panose="02020603050405020304" pitchFamily="18" charset="-34"/>
              </a:rPr>
              <a:t>.</a:t>
            </a:r>
          </a:p>
          <a:p>
            <a:r>
              <a:rPr lang="en-US" sz="1800" kern="100" dirty="0">
                <a:effectLst/>
                <a:latin typeface="Open Sans"/>
                <a:ea typeface="Calibri" panose="020F0502020204030204" pitchFamily="34" charset="0"/>
                <a:cs typeface="Angsana New" panose="02020603050405020304" pitchFamily="18" charset="-34"/>
              </a:rPr>
              <a:t>MongoDB </a:t>
            </a:r>
            <a:r>
              <a:rPr lang="en-US" sz="1800" kern="100" dirty="0" err="1">
                <a:effectLst/>
                <a:latin typeface="Open Sans"/>
                <a:ea typeface="Calibri" panose="020F0502020204030204" pitchFamily="34" charset="0"/>
                <a:cs typeface="Angsana New" panose="02020603050405020304" pitchFamily="18" charset="-34"/>
              </a:rPr>
              <a:t>rất</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dễ</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mở</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rộng</a:t>
            </a:r>
            <a:r>
              <a:rPr lang="en-US" sz="1800" kern="100" dirty="0">
                <a:effectLst/>
                <a:latin typeface="Open Sans"/>
                <a:ea typeface="Calibri" panose="020F0502020204030204" pitchFamily="34" charset="0"/>
                <a:cs typeface="Angsana New" panose="02020603050405020304" pitchFamily="18" charset="-34"/>
              </a:rPr>
              <a:t> (Horizontal Scalability). Trong MongoDB </a:t>
            </a:r>
            <a:r>
              <a:rPr lang="en-US" sz="1800" kern="100" dirty="0" err="1">
                <a:effectLst/>
                <a:latin typeface="Open Sans"/>
                <a:ea typeface="Calibri" panose="020F0502020204030204" pitchFamily="34" charset="0"/>
                <a:cs typeface="Angsana New" panose="02020603050405020304" pitchFamily="18" charset="-34"/>
              </a:rPr>
              <a:t>có</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một</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khái</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niệm</a:t>
            </a:r>
            <a:r>
              <a:rPr lang="en-US" sz="1800" kern="100" dirty="0">
                <a:effectLst/>
                <a:latin typeface="Open Sans"/>
                <a:ea typeface="Calibri" panose="020F0502020204030204" pitchFamily="34" charset="0"/>
                <a:cs typeface="Angsana New" panose="02020603050405020304" pitchFamily="18" charset="-34"/>
              </a:rPr>
              <a:t> cluster </a:t>
            </a:r>
            <a:r>
              <a:rPr lang="en-US" sz="1800" kern="100" dirty="0" err="1">
                <a:effectLst/>
                <a:latin typeface="Open Sans"/>
                <a:ea typeface="Calibri" panose="020F0502020204030204" pitchFamily="34" charset="0"/>
                <a:cs typeface="Angsana New" panose="02020603050405020304" pitchFamily="18" charset="-34"/>
              </a:rPr>
              <a:t>là</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cụm</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các</a:t>
            </a:r>
            <a:r>
              <a:rPr lang="en-US" sz="1800" kern="100" dirty="0">
                <a:effectLst/>
                <a:latin typeface="Open Sans"/>
                <a:ea typeface="Calibri" panose="020F0502020204030204" pitchFamily="34" charset="0"/>
                <a:cs typeface="Angsana New" panose="02020603050405020304" pitchFamily="18" charset="-34"/>
              </a:rPr>
              <a:t> node </a:t>
            </a:r>
            <a:r>
              <a:rPr lang="en-US" sz="1800" kern="100" dirty="0" err="1">
                <a:effectLst/>
                <a:latin typeface="Open Sans"/>
                <a:ea typeface="Calibri" panose="020F0502020204030204" pitchFamily="34" charset="0"/>
                <a:cs typeface="Angsana New" panose="02020603050405020304" pitchFamily="18" charset="-34"/>
              </a:rPr>
              <a:t>chứa</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dữ</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liệu</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giao</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tiếp</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với</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nhau</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khi</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muốn</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mở</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rộng</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hệ</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thống</a:t>
            </a:r>
            <a:r>
              <a:rPr lang="en-US" sz="1800" kern="100" dirty="0">
                <a:effectLst/>
                <a:latin typeface="Open Sans"/>
                <a:ea typeface="Calibri" panose="020F0502020204030204" pitchFamily="34" charset="0"/>
                <a:cs typeface="Angsana New" panose="02020603050405020304" pitchFamily="18" charset="-34"/>
              </a:rPr>
              <a:t> ta </a:t>
            </a:r>
            <a:r>
              <a:rPr lang="en-US" sz="1800" kern="100" dirty="0" err="1">
                <a:effectLst/>
                <a:latin typeface="Open Sans"/>
                <a:ea typeface="Calibri" panose="020F0502020204030204" pitchFamily="34" charset="0"/>
                <a:cs typeface="Angsana New" panose="02020603050405020304" pitchFamily="18" charset="-34"/>
              </a:rPr>
              <a:t>chỉ</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cần</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thêm</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một</a:t>
            </a:r>
            <a:r>
              <a:rPr lang="en-US" sz="1800" kern="100" dirty="0">
                <a:effectLst/>
                <a:latin typeface="Open Sans"/>
                <a:ea typeface="Calibri" panose="020F0502020204030204" pitchFamily="34" charset="0"/>
                <a:cs typeface="Angsana New" panose="02020603050405020304" pitchFamily="18" charset="-34"/>
              </a:rPr>
              <a:t> node </a:t>
            </a:r>
            <a:r>
              <a:rPr lang="en-US" sz="1800" kern="100" dirty="0" err="1">
                <a:effectLst/>
                <a:latin typeface="Open Sans"/>
                <a:ea typeface="Calibri" panose="020F0502020204030204" pitchFamily="34" charset="0"/>
                <a:cs typeface="Angsana New" panose="02020603050405020304" pitchFamily="18" charset="-34"/>
              </a:rPr>
              <a:t>với</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vào</a:t>
            </a:r>
            <a:r>
              <a:rPr lang="en-US" sz="1800" kern="100" dirty="0">
                <a:effectLst/>
                <a:latin typeface="Open Sans"/>
                <a:ea typeface="Calibri" panose="020F0502020204030204" pitchFamily="34" charset="0"/>
                <a:cs typeface="Angsana New" panose="02020603050405020304" pitchFamily="18" charset="-34"/>
              </a:rPr>
              <a:t> cluster.</a:t>
            </a:r>
          </a:p>
          <a:p>
            <a:r>
              <a:rPr lang="en-US" sz="1800" kern="100" dirty="0" err="1">
                <a:latin typeface="Open Sans"/>
                <a:ea typeface="Calibri" panose="020F0502020204030204" pitchFamily="34" charset="0"/>
                <a:cs typeface="Angsana New" panose="02020603050405020304" pitchFamily="18" charset="-34"/>
              </a:rPr>
              <a:t>Hiệu</a:t>
            </a:r>
            <a:r>
              <a:rPr lang="en-US" sz="1800" kern="100" dirty="0">
                <a:latin typeface="Open Sans"/>
                <a:ea typeface="Calibri" panose="020F0502020204030204" pitchFamily="34" charset="0"/>
                <a:cs typeface="Angsana New" panose="02020603050405020304" pitchFamily="18" charset="-34"/>
              </a:rPr>
              <a:t> </a:t>
            </a:r>
            <a:r>
              <a:rPr lang="en-US" sz="1800" kern="100" dirty="0" err="1">
                <a:latin typeface="Open Sans"/>
                <a:ea typeface="Calibri" panose="020F0502020204030204" pitchFamily="34" charset="0"/>
                <a:cs typeface="Angsana New" panose="02020603050405020304" pitchFamily="18" charset="-34"/>
              </a:rPr>
              <a:t>năng</a:t>
            </a:r>
            <a:r>
              <a:rPr lang="en-US" sz="1800" kern="100" dirty="0">
                <a:latin typeface="Open Sans"/>
                <a:ea typeface="Calibri" panose="020F0502020204030204" pitchFamily="34" charset="0"/>
                <a:cs typeface="Angsana New" panose="02020603050405020304" pitchFamily="18" charset="-34"/>
              </a:rPr>
              <a:t> </a:t>
            </a:r>
            <a:r>
              <a:rPr lang="en-US" sz="1800" kern="100" dirty="0" err="1">
                <a:latin typeface="Open Sans"/>
                <a:ea typeface="Calibri" panose="020F0502020204030204" pitchFamily="34" charset="0"/>
                <a:cs typeface="Angsana New" panose="02020603050405020304" pitchFamily="18" charset="-34"/>
              </a:rPr>
              <a:t>cao</a:t>
            </a:r>
            <a:r>
              <a:rPr lang="en-US" sz="1800" kern="100" dirty="0">
                <a:latin typeface="Open Sans"/>
                <a:ea typeface="Calibri" panose="020F0502020204030204" pitchFamily="34" charset="0"/>
                <a:cs typeface="Angsana New" panose="02020603050405020304" pitchFamily="18" charset="-34"/>
              </a:rPr>
              <a:t> </a:t>
            </a:r>
            <a:r>
              <a:rPr lang="en-US" sz="1800" kern="100" dirty="0" err="1">
                <a:latin typeface="Open Sans"/>
                <a:ea typeface="Calibri" panose="020F0502020204030204" pitchFamily="34" charset="0"/>
                <a:cs typeface="Angsana New" panose="02020603050405020304" pitchFamily="18" charset="-34"/>
              </a:rPr>
              <a:t>tốc</a:t>
            </a:r>
            <a:r>
              <a:rPr lang="en-US" sz="1800" kern="100" dirty="0">
                <a:latin typeface="Open Sans"/>
                <a:ea typeface="Calibri" panose="020F0502020204030204" pitchFamily="34" charset="0"/>
                <a:cs typeface="Angsana New" panose="02020603050405020304" pitchFamily="18" charset="-34"/>
              </a:rPr>
              <a:t> </a:t>
            </a:r>
            <a:r>
              <a:rPr lang="en-US" sz="1800" kern="100" dirty="0" err="1">
                <a:latin typeface="Open Sans"/>
                <a:ea typeface="Calibri" panose="020F0502020204030204" pitchFamily="34" charset="0"/>
                <a:cs typeface="Angsana New" panose="02020603050405020304" pitchFamily="18" charset="-34"/>
              </a:rPr>
              <a:t>độ</a:t>
            </a:r>
            <a:r>
              <a:rPr lang="en-US" sz="1800" kern="100" dirty="0">
                <a:latin typeface="Open Sans"/>
                <a:ea typeface="Calibri" panose="020F0502020204030204" pitchFamily="34" charset="0"/>
                <a:cs typeface="Angsana New" panose="02020603050405020304" pitchFamily="18" charset="-34"/>
              </a:rPr>
              <a:t> </a:t>
            </a:r>
            <a:r>
              <a:rPr lang="en-US" sz="1800" kern="100" dirty="0" err="1">
                <a:latin typeface="Open Sans"/>
                <a:ea typeface="Calibri" panose="020F0502020204030204" pitchFamily="34" charset="0"/>
                <a:cs typeface="Angsana New" panose="02020603050405020304" pitchFamily="18" charset="-34"/>
              </a:rPr>
              <a:t>truy</a:t>
            </a:r>
            <a:r>
              <a:rPr lang="en-US" sz="1800" kern="100" dirty="0">
                <a:latin typeface="Open Sans"/>
                <a:ea typeface="Calibri" panose="020F0502020204030204" pitchFamily="34" charset="0"/>
                <a:cs typeface="Angsana New" panose="02020603050405020304" pitchFamily="18" charset="-34"/>
              </a:rPr>
              <a:t> </a:t>
            </a:r>
            <a:r>
              <a:rPr lang="en-US" sz="1800" kern="100" dirty="0" err="1">
                <a:latin typeface="Open Sans"/>
                <a:ea typeface="Calibri" panose="020F0502020204030204" pitchFamily="34" charset="0"/>
                <a:cs typeface="Angsana New" panose="02020603050405020304" pitchFamily="18" charset="-34"/>
              </a:rPr>
              <a:t>vấn</a:t>
            </a:r>
            <a:r>
              <a:rPr lang="en-US" sz="1800" kern="100" dirty="0">
                <a:latin typeface="Open Sans"/>
                <a:ea typeface="Calibri" panose="020F0502020204030204" pitchFamily="34" charset="0"/>
                <a:cs typeface="Angsana New" panose="02020603050405020304" pitchFamily="18" charset="-34"/>
              </a:rPr>
              <a:t> </a:t>
            </a:r>
            <a:r>
              <a:rPr lang="en-US" sz="1800" kern="100" dirty="0" err="1">
                <a:latin typeface="Open Sans"/>
                <a:ea typeface="Calibri" panose="020F0502020204030204" pitchFamily="34" charset="0"/>
                <a:cs typeface="Angsana New" panose="02020603050405020304" pitchFamily="18" charset="-34"/>
              </a:rPr>
              <a:t>tốt</a:t>
            </a:r>
            <a:r>
              <a:rPr lang="en-US" sz="1800" kern="100" dirty="0">
                <a:latin typeface="Open Sans"/>
                <a:ea typeface="Calibri" panose="020F0502020204030204" pitchFamily="34" charset="0"/>
                <a:cs typeface="Angsana New" panose="02020603050405020304" pitchFamily="18" charset="-34"/>
              </a:rPr>
              <a:t> </a:t>
            </a:r>
            <a:r>
              <a:rPr lang="en-US" sz="1800" kern="100" dirty="0" err="1">
                <a:latin typeface="Open Sans"/>
                <a:ea typeface="Calibri" panose="020F0502020204030204" pitchFamily="34" charset="0"/>
                <a:cs typeface="Angsana New" panose="02020603050405020304" pitchFamily="18" charset="-34"/>
              </a:rPr>
              <a:t>hơn</a:t>
            </a:r>
            <a:r>
              <a:rPr lang="en-US" sz="1800" kern="100" dirty="0">
                <a:latin typeface="Open Sans"/>
                <a:ea typeface="Calibri" panose="020F0502020204030204" pitchFamily="34" charset="0"/>
                <a:cs typeface="Angsana New" panose="02020603050405020304" pitchFamily="18" charset="-34"/>
              </a:rPr>
              <a:t> </a:t>
            </a:r>
            <a:r>
              <a:rPr lang="en-US" sz="1800" kern="100" dirty="0" err="1">
                <a:latin typeface="Open Sans"/>
                <a:ea typeface="Calibri" panose="020F0502020204030204" pitchFamily="34" charset="0"/>
                <a:cs typeface="Angsana New" panose="02020603050405020304" pitchFamily="18" charset="-34"/>
              </a:rPr>
              <a:t>hăn</a:t>
            </a:r>
            <a:r>
              <a:rPr lang="en-US" sz="1800" kern="100" dirty="0">
                <a:latin typeface="Open Sans"/>
                <a:ea typeface="Calibri" panose="020F0502020204030204" pitchFamily="34" charset="0"/>
                <a:cs typeface="Angsana New" panose="02020603050405020304" pitchFamily="18" charset="-34"/>
              </a:rPr>
              <a:t> CSDL </a:t>
            </a:r>
            <a:r>
              <a:rPr lang="en-US" sz="1800" kern="100" dirty="0" err="1">
                <a:latin typeface="Open Sans"/>
                <a:ea typeface="Calibri" panose="020F0502020204030204" pitchFamily="34" charset="0"/>
                <a:cs typeface="Angsana New" panose="02020603050405020304" pitchFamily="18" charset="-34"/>
              </a:rPr>
              <a:t>thuộc</a:t>
            </a:r>
            <a:r>
              <a:rPr lang="en-US" sz="1800" kern="100" dirty="0">
                <a:latin typeface="Open Sans"/>
                <a:ea typeface="Calibri" panose="020F0502020204030204" pitchFamily="34" charset="0"/>
                <a:cs typeface="Angsana New" panose="02020603050405020304" pitchFamily="18" charset="-34"/>
              </a:rPr>
              <a:t> SQL </a:t>
            </a:r>
            <a:r>
              <a:rPr lang="en-US" sz="1800" kern="100" dirty="0" err="1">
                <a:latin typeface="Open Sans"/>
                <a:ea typeface="Calibri" panose="020F0502020204030204" pitchFamily="34" charset="0"/>
                <a:cs typeface="Angsana New" panose="02020603050405020304" pitchFamily="18" charset="-34"/>
              </a:rPr>
              <a:t>truyền</a:t>
            </a:r>
            <a:r>
              <a:rPr lang="en-US" sz="1800" kern="100" dirty="0">
                <a:latin typeface="Open Sans"/>
                <a:ea typeface="Calibri" panose="020F0502020204030204" pitchFamily="34" charset="0"/>
                <a:cs typeface="Angsana New" panose="02020603050405020304" pitchFamily="18" charset="-34"/>
              </a:rPr>
              <a:t> </a:t>
            </a:r>
            <a:r>
              <a:rPr lang="en-US" sz="1800" kern="100" dirty="0" err="1">
                <a:latin typeface="Open Sans"/>
                <a:ea typeface="Calibri" panose="020F0502020204030204" pitchFamily="34" charset="0"/>
                <a:cs typeface="Angsana New" panose="02020603050405020304" pitchFamily="18" charset="-34"/>
              </a:rPr>
              <a:t>thống</a:t>
            </a:r>
            <a:endParaRPr lang="en-US" sz="1800" kern="100" dirty="0">
              <a:effectLst/>
              <a:latin typeface="Open Sans"/>
              <a:ea typeface="Calibri" panose="020F0502020204030204" pitchFamily="34" charset="0"/>
              <a:cs typeface="Angsana New" panose="02020603050405020304" pitchFamily="18" charset="-34"/>
            </a:endParaRPr>
          </a:p>
          <a:p>
            <a:endParaRPr lang="en-US" dirty="0">
              <a:latin typeface="Open Sans"/>
            </a:endParaRPr>
          </a:p>
        </p:txBody>
      </p:sp>
    </p:spTree>
    <p:extLst>
      <p:ext uri="{BB962C8B-B14F-4D97-AF65-F5344CB8AC3E}">
        <p14:creationId xmlns:p14="http://schemas.microsoft.com/office/powerpoint/2010/main" val="185912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819E8-5F14-4962-8DBA-EEF8E211539D}"/>
              </a:ext>
            </a:extLst>
          </p:cNvPr>
          <p:cNvSpPr>
            <a:spLocks noGrp="1"/>
          </p:cNvSpPr>
          <p:nvPr>
            <p:ph type="title"/>
          </p:nvPr>
        </p:nvSpPr>
        <p:spPr/>
        <p:txBody>
          <a:bodyPr/>
          <a:lstStyle/>
          <a:p>
            <a:r>
              <a:rPr lang="en-US" dirty="0"/>
              <a:t>2.3 MongoDB</a:t>
            </a:r>
          </a:p>
        </p:txBody>
      </p:sp>
      <p:pic>
        <p:nvPicPr>
          <p:cNvPr id="5" name="Content Placeholder 4" descr="Chart, bar chart&#10;&#10;Description automatically generated">
            <a:extLst>
              <a:ext uri="{FF2B5EF4-FFF2-40B4-BE49-F238E27FC236}">
                <a16:creationId xmlns:a16="http://schemas.microsoft.com/office/drawing/2014/main" id="{F8FCBD2F-894F-4720-9585-BF9B6B928CDE}"/>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2499920" y="1280339"/>
            <a:ext cx="6470047" cy="5078515"/>
          </a:xfrm>
          <a:prstGeom prst="rect">
            <a:avLst/>
          </a:prstGeom>
        </p:spPr>
      </p:pic>
    </p:spTree>
    <p:extLst>
      <p:ext uri="{BB962C8B-B14F-4D97-AF65-F5344CB8AC3E}">
        <p14:creationId xmlns:p14="http://schemas.microsoft.com/office/powerpoint/2010/main" val="2394985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786B5-2ECB-4EEA-9DAA-0E60E2454DCF}"/>
              </a:ext>
            </a:extLst>
          </p:cNvPr>
          <p:cNvSpPr>
            <a:spLocks noGrp="1"/>
          </p:cNvSpPr>
          <p:nvPr>
            <p:ph type="title"/>
          </p:nvPr>
        </p:nvSpPr>
        <p:spPr/>
        <p:txBody>
          <a:bodyPr/>
          <a:lstStyle/>
          <a:p>
            <a:r>
              <a:rPr lang="en-US" dirty="0"/>
              <a:t>2.4 </a:t>
            </a:r>
            <a:r>
              <a:rPr lang="en-US" dirty="0" err="1"/>
              <a:t>ExpressJS</a:t>
            </a:r>
            <a:endParaRPr lang="en-US" dirty="0"/>
          </a:p>
        </p:txBody>
      </p:sp>
      <p:pic>
        <p:nvPicPr>
          <p:cNvPr id="4" name="Content Placeholder 3" descr="Diagram&#10;&#10;Description automatically generated">
            <a:extLst>
              <a:ext uri="{FF2B5EF4-FFF2-40B4-BE49-F238E27FC236}">
                <a16:creationId xmlns:a16="http://schemas.microsoft.com/office/drawing/2014/main" id="{75F12BBF-9EC0-434B-95D3-6AA0DFBFD13A}"/>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1442658" y="1825625"/>
            <a:ext cx="9306684" cy="4351338"/>
          </a:xfrm>
          <a:prstGeom prst="rect">
            <a:avLst/>
          </a:prstGeom>
        </p:spPr>
      </p:pic>
    </p:spTree>
    <p:extLst>
      <p:ext uri="{BB962C8B-B14F-4D97-AF65-F5344CB8AC3E}">
        <p14:creationId xmlns:p14="http://schemas.microsoft.com/office/powerpoint/2010/main" val="3692749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15079-254D-4250-A9D0-846908D39009}"/>
              </a:ext>
            </a:extLst>
          </p:cNvPr>
          <p:cNvSpPr>
            <a:spLocks noGrp="1"/>
          </p:cNvSpPr>
          <p:nvPr>
            <p:ph type="title"/>
          </p:nvPr>
        </p:nvSpPr>
        <p:spPr/>
        <p:txBody>
          <a:bodyPr/>
          <a:lstStyle/>
          <a:p>
            <a:r>
              <a:rPr lang="en-US" dirty="0"/>
              <a:t>2.4 </a:t>
            </a:r>
            <a:r>
              <a:rPr lang="en-US" dirty="0" err="1"/>
              <a:t>ExpressJS</a:t>
            </a:r>
            <a:endParaRPr lang="en-US" dirty="0"/>
          </a:p>
        </p:txBody>
      </p:sp>
      <p:sp>
        <p:nvSpPr>
          <p:cNvPr id="3" name="Content Placeholder 2">
            <a:extLst>
              <a:ext uri="{FF2B5EF4-FFF2-40B4-BE49-F238E27FC236}">
                <a16:creationId xmlns:a16="http://schemas.microsoft.com/office/drawing/2014/main" id="{F56CE9B4-3652-415B-B441-8937961CCEFA}"/>
              </a:ext>
            </a:extLst>
          </p:cNvPr>
          <p:cNvSpPr>
            <a:spLocks noGrp="1"/>
          </p:cNvSpPr>
          <p:nvPr>
            <p:ph idx="1"/>
          </p:nvPr>
        </p:nvSpPr>
        <p:spPr/>
        <p:txBody>
          <a:bodyPr/>
          <a:lstStyle/>
          <a:p>
            <a:r>
              <a:rPr lang="en-US" sz="1800" kern="100" dirty="0">
                <a:effectLst/>
                <a:latin typeface="Open Sans"/>
                <a:ea typeface="Calibri" panose="020F0502020204030204" pitchFamily="34" charset="0"/>
                <a:cs typeface="Angsana New" panose="02020603050405020304" pitchFamily="18" charset="-34"/>
              </a:rPr>
              <a:t>Express </a:t>
            </a:r>
            <a:r>
              <a:rPr lang="en-US" sz="1800" kern="100" dirty="0" err="1">
                <a:effectLst/>
                <a:latin typeface="Open Sans"/>
                <a:ea typeface="Calibri" panose="020F0502020204030204" pitchFamily="34" charset="0"/>
                <a:cs typeface="Angsana New" panose="02020603050405020304" pitchFamily="18" charset="-34"/>
              </a:rPr>
              <a:t>js</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là</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một</a:t>
            </a:r>
            <a:r>
              <a:rPr lang="en-US" sz="1800" kern="100" dirty="0">
                <a:effectLst/>
                <a:latin typeface="Open Sans"/>
                <a:ea typeface="Calibri" panose="020F0502020204030204" pitchFamily="34" charset="0"/>
                <a:cs typeface="Angsana New" panose="02020603050405020304" pitchFamily="18" charset="-34"/>
              </a:rPr>
              <a:t> Framework </a:t>
            </a:r>
            <a:r>
              <a:rPr lang="en-US" sz="1800" kern="100" dirty="0" err="1">
                <a:effectLst/>
                <a:latin typeface="Open Sans"/>
                <a:ea typeface="Calibri" panose="020F0502020204030204" pitchFamily="34" charset="0"/>
                <a:cs typeface="Angsana New" panose="02020603050405020304" pitchFamily="18" charset="-34"/>
              </a:rPr>
              <a:t>nhỏ</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nhưng</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linh</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hoạt</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được</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xây</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dựng</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trên</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nền</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tảng</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của</a:t>
            </a:r>
            <a:r>
              <a:rPr lang="en-US" sz="1800" kern="100" dirty="0">
                <a:effectLst/>
                <a:latin typeface="Open Sans"/>
                <a:ea typeface="Calibri" panose="020F0502020204030204" pitchFamily="34" charset="0"/>
                <a:cs typeface="Angsana New" panose="02020603050405020304" pitchFamily="18" charset="-34"/>
              </a:rPr>
              <a:t> Nodejs. </a:t>
            </a:r>
            <a:r>
              <a:rPr lang="en-US" sz="1800" kern="100" dirty="0" err="1">
                <a:effectLst/>
                <a:latin typeface="Open Sans"/>
                <a:ea typeface="Calibri" panose="020F0502020204030204" pitchFamily="34" charset="0"/>
                <a:cs typeface="Angsana New" panose="02020603050405020304" pitchFamily="18" charset="-34"/>
              </a:rPr>
              <a:t>Nó</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cung</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cấp</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các</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tính</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năng</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mạnh</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mẽ</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để</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phát</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triển</a:t>
            </a:r>
            <a:r>
              <a:rPr lang="en-US" sz="1800" kern="100" dirty="0">
                <a:effectLst/>
                <a:latin typeface="Open Sans"/>
                <a:ea typeface="Calibri" panose="020F0502020204030204" pitchFamily="34" charset="0"/>
                <a:cs typeface="Angsana New" panose="02020603050405020304" pitchFamily="18" charset="-34"/>
              </a:rPr>
              <a:t> web </a:t>
            </a:r>
            <a:r>
              <a:rPr lang="en-US" sz="1800" kern="100" dirty="0" err="1">
                <a:effectLst/>
                <a:latin typeface="Open Sans"/>
                <a:ea typeface="Calibri" panose="020F0502020204030204" pitchFamily="34" charset="0"/>
                <a:cs typeface="Angsana New" panose="02020603050405020304" pitchFamily="18" charset="-34"/>
              </a:rPr>
              <a:t>hoặc</a:t>
            </a:r>
            <a:r>
              <a:rPr lang="en-US" sz="1800" kern="100" dirty="0">
                <a:effectLst/>
                <a:latin typeface="Open Sans"/>
                <a:ea typeface="Calibri" panose="020F0502020204030204" pitchFamily="34" charset="0"/>
                <a:cs typeface="Angsana New" panose="02020603050405020304" pitchFamily="18" charset="-34"/>
              </a:rPr>
              <a:t> mobile. </a:t>
            </a:r>
            <a:r>
              <a:rPr lang="en-US" sz="1800" kern="100" dirty="0" err="1">
                <a:effectLst/>
                <a:latin typeface="Open Sans"/>
                <a:ea typeface="Calibri" panose="020F0502020204030204" pitchFamily="34" charset="0"/>
                <a:cs typeface="Angsana New" panose="02020603050405020304" pitchFamily="18" charset="-34"/>
              </a:rPr>
              <a:t>Expressjs</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hỗ</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trợ</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các</a:t>
            </a:r>
            <a:r>
              <a:rPr lang="en-US" sz="1800" kern="100" dirty="0">
                <a:effectLst/>
                <a:latin typeface="Open Sans"/>
                <a:ea typeface="Calibri" panose="020F0502020204030204" pitchFamily="34" charset="0"/>
                <a:cs typeface="Angsana New" panose="02020603050405020304" pitchFamily="18" charset="-34"/>
              </a:rPr>
              <a:t> method HTTP </a:t>
            </a:r>
            <a:r>
              <a:rPr lang="en-US" sz="1800" kern="100" dirty="0" err="1">
                <a:effectLst/>
                <a:latin typeface="Open Sans"/>
                <a:ea typeface="Calibri" panose="020F0502020204030204" pitchFamily="34" charset="0"/>
                <a:cs typeface="Angsana New" panose="02020603050405020304" pitchFamily="18" charset="-34"/>
              </a:rPr>
              <a:t>và</a:t>
            </a:r>
            <a:r>
              <a:rPr lang="en-US" sz="1800" kern="100" dirty="0">
                <a:effectLst/>
                <a:latin typeface="Open Sans"/>
                <a:ea typeface="Calibri" panose="020F0502020204030204" pitchFamily="34" charset="0"/>
                <a:cs typeface="Angsana New" panose="02020603050405020304" pitchFamily="18" charset="-34"/>
              </a:rPr>
              <a:t> middleware </a:t>
            </a:r>
            <a:r>
              <a:rPr lang="en-US" sz="1800" kern="100" dirty="0" err="1">
                <a:effectLst/>
                <a:latin typeface="Open Sans"/>
                <a:ea typeface="Calibri" panose="020F0502020204030204" pitchFamily="34" charset="0"/>
                <a:cs typeface="Angsana New" panose="02020603050405020304" pitchFamily="18" charset="-34"/>
              </a:rPr>
              <a:t>tạo</a:t>
            </a:r>
            <a:r>
              <a:rPr lang="en-US" sz="1800" kern="100" dirty="0">
                <a:effectLst/>
                <a:latin typeface="Open Sans"/>
                <a:ea typeface="Calibri" panose="020F0502020204030204" pitchFamily="34" charset="0"/>
                <a:cs typeface="Angsana New" panose="02020603050405020304" pitchFamily="18" charset="-34"/>
              </a:rPr>
              <a:t> ra API </a:t>
            </a:r>
            <a:r>
              <a:rPr lang="en-US" sz="1800" kern="100" dirty="0" err="1">
                <a:effectLst/>
                <a:latin typeface="Open Sans"/>
                <a:ea typeface="Calibri" panose="020F0502020204030204" pitchFamily="34" charset="0"/>
                <a:cs typeface="Angsana New" panose="02020603050405020304" pitchFamily="18" charset="-34"/>
              </a:rPr>
              <a:t>vô</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cùng</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mạnh</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mẽ</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và</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dễ</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sử</a:t>
            </a:r>
            <a:r>
              <a:rPr lang="en-US" sz="1800" kern="100" dirty="0">
                <a:effectLst/>
                <a:latin typeface="Open Sans"/>
                <a:ea typeface="Calibri" panose="020F0502020204030204" pitchFamily="34" charset="0"/>
                <a:cs typeface="Angsana New" panose="02020603050405020304" pitchFamily="18" charset="-34"/>
              </a:rPr>
              <a:t> </a:t>
            </a:r>
            <a:r>
              <a:rPr lang="en-US" sz="1800" kern="100" dirty="0" err="1">
                <a:effectLst/>
                <a:latin typeface="Open Sans"/>
                <a:ea typeface="Calibri" panose="020F0502020204030204" pitchFamily="34" charset="0"/>
                <a:cs typeface="Angsana New" panose="02020603050405020304" pitchFamily="18" charset="-34"/>
              </a:rPr>
              <a:t>dụng</a:t>
            </a:r>
            <a:r>
              <a:rPr lang="en-US" sz="1800" kern="100" dirty="0">
                <a:effectLst/>
                <a:latin typeface="Open Sans"/>
                <a:ea typeface="Calibri" panose="020F0502020204030204" pitchFamily="34" charset="0"/>
                <a:cs typeface="Angsana New" panose="02020603050405020304" pitchFamily="18" charset="-34"/>
              </a:rPr>
              <a:t>.</a:t>
            </a:r>
          </a:p>
          <a:p>
            <a:endParaRPr lang="en-US" dirty="0">
              <a:latin typeface="Open Sans"/>
            </a:endParaRPr>
          </a:p>
        </p:txBody>
      </p:sp>
    </p:spTree>
    <p:extLst>
      <p:ext uri="{BB962C8B-B14F-4D97-AF65-F5344CB8AC3E}">
        <p14:creationId xmlns:p14="http://schemas.microsoft.com/office/powerpoint/2010/main" val="4003194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1629EE8-6B32-46AF-9B91-B4832A2F42F7}"/>
              </a:ext>
            </a:extLst>
          </p:cNvPr>
          <p:cNvSpPr>
            <a:spLocks noGrp="1"/>
          </p:cNvSpPr>
          <p:nvPr>
            <p:ph type="title"/>
          </p:nvPr>
        </p:nvSpPr>
        <p:spPr>
          <a:xfrm>
            <a:off x="838200" y="365125"/>
            <a:ext cx="10515600" cy="1325563"/>
          </a:xfrm>
        </p:spPr>
        <p:txBody>
          <a:bodyPr vert="horz" lIns="91440" tIns="45720" rIns="91440" bIns="45720" rtlCol="0">
            <a:normAutofit/>
          </a:bodyPr>
          <a:lstStyle/>
          <a:p>
            <a:r>
              <a:rPr lang="en-US" kern="1200" dirty="0">
                <a:latin typeface="+mj-lt"/>
                <a:ea typeface="+mj-ea"/>
                <a:cs typeface="+mj-cs"/>
              </a:rPr>
              <a:t>2.5 </a:t>
            </a:r>
            <a:r>
              <a:rPr lang="en-US" kern="1200" dirty="0" err="1">
                <a:latin typeface="+mj-lt"/>
                <a:ea typeface="+mj-ea"/>
                <a:cs typeface="+mj-cs"/>
              </a:rPr>
              <a:t>Thiết</a:t>
            </a:r>
            <a:r>
              <a:rPr lang="en-US" kern="1200" dirty="0">
                <a:latin typeface="+mj-lt"/>
                <a:ea typeface="+mj-ea"/>
                <a:cs typeface="+mj-cs"/>
              </a:rPr>
              <a:t> </a:t>
            </a:r>
            <a:r>
              <a:rPr lang="en-US" kern="1200" dirty="0" err="1">
                <a:latin typeface="+mj-lt"/>
                <a:ea typeface="+mj-ea"/>
                <a:cs typeface="+mj-cs"/>
              </a:rPr>
              <a:t>kế</a:t>
            </a:r>
            <a:r>
              <a:rPr lang="en-US" kern="1200" dirty="0">
                <a:latin typeface="+mj-lt"/>
                <a:ea typeface="+mj-ea"/>
                <a:cs typeface="+mj-cs"/>
              </a:rPr>
              <a:t> </a:t>
            </a:r>
            <a:r>
              <a:rPr lang="en-US" kern="1200" dirty="0" err="1">
                <a:latin typeface="+mj-lt"/>
                <a:ea typeface="+mj-ea"/>
                <a:cs typeface="+mj-cs"/>
              </a:rPr>
              <a:t>trang</a:t>
            </a:r>
            <a:r>
              <a:rPr lang="en-US" kern="1200" dirty="0">
                <a:latin typeface="+mj-lt"/>
                <a:ea typeface="+mj-ea"/>
                <a:cs typeface="+mj-cs"/>
              </a:rPr>
              <a:t> web </a:t>
            </a:r>
            <a:r>
              <a:rPr lang="en-US" kern="1200" dirty="0" err="1">
                <a:latin typeface="+mj-lt"/>
                <a:ea typeface="+mj-ea"/>
                <a:cs typeface="+mj-cs"/>
              </a:rPr>
              <a:t>với</a:t>
            </a:r>
            <a:r>
              <a:rPr lang="en-US" kern="1200" dirty="0">
                <a:latin typeface="+mj-lt"/>
                <a:ea typeface="+mj-ea"/>
                <a:cs typeface="+mj-cs"/>
              </a:rPr>
              <a:t> </a:t>
            </a:r>
            <a:r>
              <a:rPr lang="en-US" kern="1200" dirty="0" err="1">
                <a:latin typeface="+mj-lt"/>
                <a:ea typeface="+mj-ea"/>
                <a:cs typeface="+mj-cs"/>
              </a:rPr>
              <a:t>Vuejs</a:t>
            </a:r>
            <a:endParaRPr lang="en-US" kern="1200" dirty="0">
              <a:latin typeface="+mj-lt"/>
              <a:ea typeface="+mj-ea"/>
              <a:cs typeface="+mj-cs"/>
            </a:endParaRPr>
          </a:p>
        </p:txBody>
      </p:sp>
      <p:sp>
        <p:nvSpPr>
          <p:cNvPr id="33" name="Arc 3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579B8BD-A955-4EEE-A008-9E6AE67C96F5}"/>
              </a:ext>
            </a:extLst>
          </p:cNvPr>
          <p:cNvSpPr>
            <a:spLocks noGrp="1"/>
          </p:cNvSpPr>
          <p:nvPr>
            <p:ph idx="1"/>
          </p:nvPr>
        </p:nvSpPr>
        <p:spPr>
          <a:xfrm>
            <a:off x="981512" y="1408393"/>
            <a:ext cx="3305262" cy="5311189"/>
          </a:xfrm>
        </p:spPr>
        <p:txBody>
          <a:bodyPr vert="horz" lIns="91440" tIns="45720" rIns="91440" bIns="45720" rtlCol="0">
            <a:normAutofit/>
          </a:bodyPr>
          <a:lstStyle/>
          <a:p>
            <a:pPr marL="0" indent="0">
              <a:buNone/>
            </a:pPr>
            <a:r>
              <a:rPr lang="en-US" kern="1200" dirty="0" err="1">
                <a:latin typeface="+mn-lt"/>
                <a:ea typeface="+mn-ea"/>
                <a:cs typeface="+mn-cs"/>
              </a:rPr>
              <a:t>Vuejs</a:t>
            </a:r>
            <a:r>
              <a:rPr lang="en-US" kern="1200" dirty="0">
                <a:latin typeface="+mn-lt"/>
                <a:ea typeface="+mn-ea"/>
                <a:cs typeface="+mn-cs"/>
              </a:rPr>
              <a:t> </a:t>
            </a:r>
            <a:r>
              <a:rPr lang="en-US" kern="1200" dirty="0" err="1">
                <a:latin typeface="+mn-lt"/>
                <a:ea typeface="+mn-ea"/>
                <a:cs typeface="+mn-cs"/>
              </a:rPr>
              <a:t>là</a:t>
            </a:r>
            <a:r>
              <a:rPr lang="en-US" kern="1200" dirty="0">
                <a:latin typeface="+mn-lt"/>
                <a:ea typeface="+mn-ea"/>
                <a:cs typeface="+mn-cs"/>
              </a:rPr>
              <a:t> framework </a:t>
            </a:r>
            <a:r>
              <a:rPr lang="en-US" kern="1200" dirty="0" err="1">
                <a:latin typeface="+mn-lt"/>
                <a:ea typeface="+mn-ea"/>
                <a:cs typeface="+mn-cs"/>
              </a:rPr>
              <a:t>giúp</a:t>
            </a:r>
            <a:r>
              <a:rPr lang="en-US" kern="1200" dirty="0">
                <a:latin typeface="+mn-lt"/>
                <a:ea typeface="+mn-ea"/>
                <a:cs typeface="+mn-cs"/>
              </a:rPr>
              <a:t> </a:t>
            </a:r>
            <a:r>
              <a:rPr lang="en-US" kern="1200" dirty="0" err="1">
                <a:latin typeface="+mn-lt"/>
                <a:ea typeface="+mn-ea"/>
                <a:cs typeface="+mn-cs"/>
              </a:rPr>
              <a:t>xây</a:t>
            </a:r>
            <a:r>
              <a:rPr lang="en-US" kern="1200" dirty="0">
                <a:latin typeface="+mn-lt"/>
                <a:ea typeface="+mn-ea"/>
                <a:cs typeface="+mn-cs"/>
              </a:rPr>
              <a:t> </a:t>
            </a:r>
            <a:r>
              <a:rPr lang="en-US" kern="1200" dirty="0" err="1">
                <a:latin typeface="+mn-lt"/>
                <a:ea typeface="+mn-ea"/>
                <a:cs typeface="+mn-cs"/>
              </a:rPr>
              <a:t>dựng</a:t>
            </a:r>
            <a:r>
              <a:rPr lang="en-US" kern="1200" dirty="0">
                <a:latin typeface="+mn-lt"/>
                <a:ea typeface="+mn-ea"/>
                <a:cs typeface="+mn-cs"/>
              </a:rPr>
              <a:t> </a:t>
            </a:r>
            <a:r>
              <a:rPr lang="en-US" kern="1200" dirty="0" err="1">
                <a:latin typeface="+mn-lt"/>
                <a:ea typeface="+mn-ea"/>
                <a:cs typeface="+mn-cs"/>
              </a:rPr>
              <a:t>trang</a:t>
            </a:r>
            <a:r>
              <a:rPr lang="en-US" kern="1200" dirty="0">
                <a:latin typeface="+mn-lt"/>
                <a:ea typeface="+mn-ea"/>
                <a:cs typeface="+mn-cs"/>
              </a:rPr>
              <a:t> web </a:t>
            </a:r>
            <a:r>
              <a:rPr lang="en-US" kern="1200" dirty="0" err="1">
                <a:latin typeface="+mn-lt"/>
                <a:ea typeface="+mn-ea"/>
                <a:cs typeface="+mn-cs"/>
              </a:rPr>
              <a:t>dưới</a:t>
            </a:r>
            <a:r>
              <a:rPr lang="en-US" kern="1200" dirty="0">
                <a:latin typeface="+mn-lt"/>
                <a:ea typeface="+mn-ea"/>
                <a:cs typeface="+mn-cs"/>
              </a:rPr>
              <a:t> </a:t>
            </a:r>
            <a:r>
              <a:rPr lang="en-US" kern="1200" dirty="0" err="1">
                <a:latin typeface="+mn-lt"/>
                <a:ea typeface="+mn-ea"/>
                <a:cs typeface="+mn-cs"/>
              </a:rPr>
              <a:t>dạng</a:t>
            </a:r>
            <a:r>
              <a:rPr lang="en-US" kern="1200" dirty="0">
                <a:latin typeface="+mn-lt"/>
                <a:ea typeface="+mn-ea"/>
                <a:cs typeface="+mn-cs"/>
              </a:rPr>
              <a:t> Single Page Application.</a:t>
            </a:r>
          </a:p>
        </p:txBody>
      </p:sp>
      <p:pic>
        <p:nvPicPr>
          <p:cNvPr id="7" name="Content Placeholder 4">
            <a:extLst>
              <a:ext uri="{FF2B5EF4-FFF2-40B4-BE49-F238E27FC236}">
                <a16:creationId xmlns:a16="http://schemas.microsoft.com/office/drawing/2014/main" id="{BD0EB7FE-5884-4EC1-84AD-D43B404991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4598" y="1337881"/>
            <a:ext cx="8101832" cy="4786313"/>
          </a:xfrm>
          <a:prstGeom prst="rect">
            <a:avLst/>
          </a:prstGeom>
        </p:spPr>
      </p:pic>
    </p:spTree>
    <p:extLst>
      <p:ext uri="{BB962C8B-B14F-4D97-AF65-F5344CB8AC3E}">
        <p14:creationId xmlns:p14="http://schemas.microsoft.com/office/powerpoint/2010/main" val="29115570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36D2DF-9279-46C6-8692-B782748786B1}"/>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3. </a:t>
            </a:r>
            <a:r>
              <a:rPr lang="en-US" dirty="0" err="1">
                <a:solidFill>
                  <a:srgbClr val="FFFFFF"/>
                </a:solidFill>
              </a:rPr>
              <a:t>Thiết</a:t>
            </a:r>
            <a:r>
              <a:rPr lang="en-US" dirty="0">
                <a:solidFill>
                  <a:srgbClr val="FFFFFF"/>
                </a:solidFill>
              </a:rPr>
              <a:t> </a:t>
            </a:r>
            <a:r>
              <a:rPr lang="en-US" dirty="0" err="1">
                <a:solidFill>
                  <a:srgbClr val="FFFFFF"/>
                </a:solidFill>
              </a:rPr>
              <a:t>kế</a:t>
            </a:r>
            <a:r>
              <a:rPr lang="en-US" dirty="0">
                <a:solidFill>
                  <a:srgbClr val="FFFFFF"/>
                </a:solidFill>
              </a:rPr>
              <a:t> </a:t>
            </a:r>
            <a:r>
              <a:rPr lang="en-US" dirty="0" err="1">
                <a:solidFill>
                  <a:srgbClr val="FFFFFF"/>
                </a:solidFill>
              </a:rPr>
              <a:t>hệ</a:t>
            </a:r>
            <a:r>
              <a:rPr lang="en-US" dirty="0">
                <a:solidFill>
                  <a:srgbClr val="FFFFFF"/>
                </a:solidFill>
              </a:rPr>
              <a:t> </a:t>
            </a:r>
            <a:r>
              <a:rPr lang="en-US" dirty="0" err="1">
                <a:solidFill>
                  <a:srgbClr val="FFFFFF"/>
                </a:solidFill>
              </a:rPr>
              <a:t>thống</a:t>
            </a:r>
            <a:endParaRPr lang="en-US"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BC12AC1-B8D0-45EA-9075-F4C3BA65FE2B}"/>
              </a:ext>
            </a:extLst>
          </p:cNvPr>
          <p:cNvSpPr>
            <a:spLocks noGrp="1"/>
          </p:cNvSpPr>
          <p:nvPr>
            <p:ph idx="1"/>
          </p:nvPr>
        </p:nvSpPr>
        <p:spPr>
          <a:xfrm>
            <a:off x="4447308" y="591344"/>
            <a:ext cx="6906491" cy="5585619"/>
          </a:xfrm>
        </p:spPr>
        <p:txBody>
          <a:bodyPr anchor="ctr">
            <a:normAutofit/>
          </a:bodyPr>
          <a:lstStyle/>
          <a:p>
            <a:r>
              <a:rPr lang="en-US" dirty="0" err="1"/>
              <a:t>Sơ</a:t>
            </a:r>
            <a:r>
              <a:rPr lang="en-US" dirty="0"/>
              <a:t> </a:t>
            </a:r>
            <a:r>
              <a:rPr lang="en-US" dirty="0" err="1"/>
              <a:t>đồ</a:t>
            </a:r>
            <a:r>
              <a:rPr lang="en-US" dirty="0"/>
              <a:t> </a:t>
            </a:r>
            <a:r>
              <a:rPr lang="en-US" dirty="0" err="1"/>
              <a:t>mạch</a:t>
            </a:r>
            <a:r>
              <a:rPr lang="en-US" dirty="0"/>
              <a:t> </a:t>
            </a:r>
            <a:r>
              <a:rPr lang="en-US" dirty="0" err="1"/>
              <a:t>nguyên</a:t>
            </a:r>
            <a:r>
              <a:rPr lang="en-US" dirty="0"/>
              <a:t> </a:t>
            </a:r>
            <a:r>
              <a:rPr lang="en-US" dirty="0" err="1"/>
              <a:t>lý</a:t>
            </a:r>
            <a:endParaRPr lang="en-US" dirty="0"/>
          </a:p>
          <a:p>
            <a:r>
              <a:rPr lang="en-US" dirty="0"/>
              <a:t>Code</a:t>
            </a:r>
          </a:p>
        </p:txBody>
      </p:sp>
    </p:spTree>
    <p:extLst>
      <p:ext uri="{BB962C8B-B14F-4D97-AF65-F5344CB8AC3E}">
        <p14:creationId xmlns:p14="http://schemas.microsoft.com/office/powerpoint/2010/main" val="2792696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F66A575-7835-4400-BEDE-89F2EF034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E80C89-DF06-4269-8DDE-5148581AD2FE}"/>
              </a:ext>
            </a:extLst>
          </p:cNvPr>
          <p:cNvSpPr>
            <a:spLocks noGrp="1"/>
          </p:cNvSpPr>
          <p:nvPr>
            <p:ph type="title"/>
          </p:nvPr>
        </p:nvSpPr>
        <p:spPr>
          <a:xfrm>
            <a:off x="621629" y="640080"/>
            <a:ext cx="4225290" cy="5578816"/>
          </a:xfrm>
        </p:spPr>
        <p:txBody>
          <a:bodyPr vert="horz" lIns="91440" tIns="45720" rIns="91440" bIns="45720" rtlCol="0" anchor="ctr">
            <a:normAutofit/>
          </a:bodyPr>
          <a:lstStyle/>
          <a:p>
            <a:pPr algn="ctr"/>
            <a:r>
              <a:rPr lang="en-US">
                <a:solidFill>
                  <a:srgbClr val="FFFFFF"/>
                </a:solidFill>
              </a:rPr>
              <a:t>3.1 Sơ đồ hệ thống</a:t>
            </a:r>
          </a:p>
        </p:txBody>
      </p:sp>
      <p:pic>
        <p:nvPicPr>
          <p:cNvPr id="9" name="Content Placeholder 8" descr="Diagram&#10;&#10;Description automatically generated">
            <a:extLst>
              <a:ext uri="{FF2B5EF4-FFF2-40B4-BE49-F238E27FC236}">
                <a16:creationId xmlns:a16="http://schemas.microsoft.com/office/drawing/2014/main" id="{8AD59514-337A-4E79-9D7B-D6290E3263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44817" y="392175"/>
            <a:ext cx="4985454" cy="6073650"/>
          </a:xfrm>
        </p:spPr>
      </p:pic>
    </p:spTree>
    <p:extLst>
      <p:ext uri="{BB962C8B-B14F-4D97-AF65-F5344CB8AC3E}">
        <p14:creationId xmlns:p14="http://schemas.microsoft.com/office/powerpoint/2010/main" val="22134767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F55B2ED7-E872-4DBD-A512-2BF93291C84B}"/>
              </a:ext>
            </a:extLst>
          </p:cNvPr>
          <p:cNvSpPr>
            <a:spLocks noGrp="1"/>
          </p:cNvSpPr>
          <p:nvPr>
            <p:ph type="title"/>
          </p:nvPr>
        </p:nvSpPr>
        <p:spPr>
          <a:xfrm>
            <a:off x="838200" y="365125"/>
            <a:ext cx="5393361" cy="1325563"/>
          </a:xfrm>
        </p:spPr>
        <p:txBody>
          <a:bodyPr>
            <a:normAutofit/>
          </a:bodyPr>
          <a:lstStyle/>
          <a:p>
            <a:r>
              <a:rPr lang="en-US" dirty="0"/>
              <a:t>3.1 </a:t>
            </a:r>
            <a:r>
              <a:rPr lang="en-US" dirty="0" err="1"/>
              <a:t>Sơ</a:t>
            </a:r>
            <a:r>
              <a:rPr lang="en-US" dirty="0"/>
              <a:t> </a:t>
            </a:r>
            <a:r>
              <a:rPr lang="en-US" dirty="0" err="1"/>
              <a:t>đồ</a:t>
            </a:r>
            <a:r>
              <a:rPr lang="en-US" dirty="0"/>
              <a:t> </a:t>
            </a:r>
            <a:r>
              <a:rPr lang="en-US" dirty="0" err="1"/>
              <a:t>hệ</a:t>
            </a:r>
            <a:r>
              <a:rPr lang="en-US" dirty="0"/>
              <a:t> </a:t>
            </a:r>
            <a:r>
              <a:rPr lang="en-US" dirty="0" err="1"/>
              <a:t>thống</a:t>
            </a:r>
            <a:endParaRPr lang="en-US" dirty="0"/>
          </a:p>
        </p:txBody>
      </p:sp>
      <p:sp>
        <p:nvSpPr>
          <p:cNvPr id="16" name="Arc 15">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Oval 17">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AB1AA3CA-58C3-4574-BB48-ECAF6162BA95}"/>
              </a:ext>
            </a:extLst>
          </p:cNvPr>
          <p:cNvSpPr txBox="1"/>
          <p:nvPr/>
        </p:nvSpPr>
        <p:spPr>
          <a:xfrm>
            <a:off x="1034522" y="1823824"/>
            <a:ext cx="10005060" cy="1754326"/>
          </a:xfrm>
          <a:prstGeom prst="rect">
            <a:avLst/>
          </a:prstGeom>
          <a:noFill/>
        </p:spPr>
        <p:txBody>
          <a:bodyPr wrap="square" rtlCol="0">
            <a:spAutoFit/>
          </a:bodyPr>
          <a:lstStyle/>
          <a:p>
            <a:pPr marL="285750" indent="-285750">
              <a:buFont typeface="Arial" panose="020B0604020202020204" pitchFamily="34" charset="0"/>
              <a:buChar char="•"/>
            </a:pPr>
            <a:r>
              <a:rPr lang="en-US" dirty="0" err="1"/>
              <a:t>Thiết</a:t>
            </a:r>
            <a:r>
              <a:rPr lang="en-US" dirty="0"/>
              <a:t> </a:t>
            </a:r>
            <a:r>
              <a:rPr lang="en-US" dirty="0" err="1"/>
              <a:t>bị</a:t>
            </a:r>
            <a:r>
              <a:rPr lang="en-US" dirty="0"/>
              <a:t> </a:t>
            </a:r>
            <a:r>
              <a:rPr lang="en-US" dirty="0" err="1"/>
              <a:t>Cảm</a:t>
            </a:r>
            <a:r>
              <a:rPr lang="en-US" dirty="0"/>
              <a:t> </a:t>
            </a:r>
            <a:r>
              <a:rPr lang="en-US" dirty="0" err="1"/>
              <a:t>biến</a:t>
            </a:r>
            <a:r>
              <a:rPr lang="en-US" dirty="0"/>
              <a:t>: </a:t>
            </a:r>
            <a:r>
              <a:rPr lang="en-US" dirty="0" err="1"/>
              <a:t>Các</a:t>
            </a:r>
            <a:r>
              <a:rPr lang="en-US" dirty="0"/>
              <a:t> sensor </a:t>
            </a:r>
            <a:r>
              <a:rPr lang="en-US" dirty="0" err="1"/>
              <a:t>có</a:t>
            </a:r>
            <a:r>
              <a:rPr lang="en-US" dirty="0"/>
              <a:t> </a:t>
            </a:r>
            <a:r>
              <a:rPr lang="en-US" dirty="0" err="1"/>
              <a:t>vai</a:t>
            </a:r>
            <a:r>
              <a:rPr lang="en-US" dirty="0"/>
              <a:t> </a:t>
            </a:r>
            <a:r>
              <a:rPr lang="en-US" dirty="0" err="1"/>
              <a:t>trò</a:t>
            </a:r>
            <a:r>
              <a:rPr lang="en-US" dirty="0"/>
              <a:t> </a:t>
            </a:r>
            <a:r>
              <a:rPr lang="en-US" dirty="0" err="1"/>
              <a:t>đo</a:t>
            </a:r>
            <a:r>
              <a:rPr lang="en-US" dirty="0"/>
              <a:t> </a:t>
            </a:r>
            <a:r>
              <a:rPr lang="en-US" dirty="0" err="1"/>
              <a:t>đạc</a:t>
            </a:r>
            <a:r>
              <a:rPr lang="en-US" dirty="0"/>
              <a:t> </a:t>
            </a:r>
            <a:r>
              <a:rPr lang="en-US" dirty="0" err="1"/>
              <a:t>nhiệt</a:t>
            </a:r>
            <a:r>
              <a:rPr lang="en-US" dirty="0"/>
              <a:t> </a:t>
            </a:r>
            <a:r>
              <a:rPr lang="en-US" dirty="0" err="1"/>
              <a:t>độ</a:t>
            </a:r>
            <a:r>
              <a:rPr lang="en-US" dirty="0"/>
              <a:t>, </a:t>
            </a:r>
            <a:r>
              <a:rPr lang="en-US" dirty="0" err="1"/>
              <a:t>độ</a:t>
            </a:r>
            <a:r>
              <a:rPr lang="en-US" dirty="0"/>
              <a:t> </a:t>
            </a:r>
            <a:r>
              <a:rPr lang="en-US" dirty="0" err="1"/>
              <a:t>ẩm</a:t>
            </a:r>
            <a:endParaRPr lang="en-US" dirty="0"/>
          </a:p>
          <a:p>
            <a:pPr marL="285750" indent="-285750">
              <a:buFont typeface="Arial" panose="020B0604020202020204" pitchFamily="34" charset="0"/>
              <a:buChar char="•"/>
            </a:pPr>
            <a:r>
              <a:rPr lang="en-US" dirty="0" err="1"/>
              <a:t>NodeMCU</a:t>
            </a:r>
            <a:r>
              <a:rPr lang="en-US" dirty="0"/>
              <a:t>: </a:t>
            </a:r>
            <a:r>
              <a:rPr lang="en-US" dirty="0" err="1"/>
              <a:t>Là</a:t>
            </a:r>
            <a:r>
              <a:rPr lang="en-US" dirty="0"/>
              <a:t> </a:t>
            </a:r>
            <a:r>
              <a:rPr lang="en-US" dirty="0" err="1"/>
              <a:t>nơi</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r>
              <a:rPr lang="en-US" dirty="0"/>
              <a:t> </a:t>
            </a:r>
            <a:r>
              <a:rPr lang="en-US" dirty="0" err="1"/>
              <a:t>thu</a:t>
            </a:r>
            <a:r>
              <a:rPr lang="en-US" dirty="0"/>
              <a:t> </a:t>
            </a:r>
            <a:r>
              <a:rPr lang="en-US" dirty="0" err="1"/>
              <a:t>thập</a:t>
            </a:r>
            <a:r>
              <a:rPr lang="en-US" dirty="0"/>
              <a:t> </a:t>
            </a:r>
            <a:r>
              <a:rPr lang="en-US" dirty="0" err="1"/>
              <a:t>được</a:t>
            </a:r>
            <a:r>
              <a:rPr lang="en-US" dirty="0"/>
              <a:t> </a:t>
            </a:r>
            <a:r>
              <a:rPr lang="en-US" dirty="0" err="1"/>
              <a:t>trên</a:t>
            </a:r>
            <a:r>
              <a:rPr lang="en-US" dirty="0"/>
              <a:t> sensor </a:t>
            </a:r>
            <a:r>
              <a:rPr lang="en-US" dirty="0" err="1"/>
              <a:t>sau</a:t>
            </a:r>
            <a:r>
              <a:rPr lang="en-US" dirty="0"/>
              <a:t> </a:t>
            </a:r>
            <a:r>
              <a:rPr lang="en-US" dirty="0" err="1"/>
              <a:t>đó</a:t>
            </a:r>
            <a:r>
              <a:rPr lang="en-US" dirty="0"/>
              <a:t> </a:t>
            </a:r>
            <a:r>
              <a:rPr lang="en-US" dirty="0" err="1"/>
              <a:t>đẩy</a:t>
            </a:r>
            <a:r>
              <a:rPr lang="en-US" dirty="0"/>
              <a:t> </a:t>
            </a:r>
            <a:r>
              <a:rPr lang="en-US" dirty="0" err="1"/>
              <a:t>lên</a:t>
            </a:r>
            <a:r>
              <a:rPr lang="en-US" dirty="0"/>
              <a:t> Broker Server</a:t>
            </a:r>
          </a:p>
          <a:p>
            <a:pPr marL="285750" indent="-285750">
              <a:buFont typeface="Arial" panose="020B0604020202020204" pitchFamily="34" charset="0"/>
              <a:buChar char="•"/>
            </a:pPr>
            <a:r>
              <a:rPr lang="en-US" dirty="0"/>
              <a:t>Broker Server: </a:t>
            </a:r>
            <a:r>
              <a:rPr lang="en-US" dirty="0" err="1"/>
              <a:t>Là</a:t>
            </a:r>
            <a:r>
              <a:rPr lang="en-US" dirty="0"/>
              <a:t> Server </a:t>
            </a:r>
            <a:r>
              <a:rPr lang="en-US" dirty="0" err="1"/>
              <a:t>trung</a:t>
            </a:r>
            <a:r>
              <a:rPr lang="en-US" dirty="0"/>
              <a:t> </a:t>
            </a:r>
            <a:r>
              <a:rPr lang="en-US" dirty="0" err="1"/>
              <a:t>gian</a:t>
            </a:r>
            <a:r>
              <a:rPr lang="en-US" dirty="0"/>
              <a:t> </a:t>
            </a:r>
            <a:r>
              <a:rPr lang="en-US" dirty="0" err="1"/>
              <a:t>truyền</a:t>
            </a:r>
            <a:r>
              <a:rPr lang="en-US" dirty="0"/>
              <a:t> </a:t>
            </a:r>
            <a:r>
              <a:rPr lang="en-US" dirty="0" err="1"/>
              <a:t>dữ</a:t>
            </a:r>
            <a:r>
              <a:rPr lang="en-US" dirty="0"/>
              <a:t> </a:t>
            </a:r>
            <a:r>
              <a:rPr lang="en-US" dirty="0" err="1"/>
              <a:t>liệu</a:t>
            </a:r>
            <a:r>
              <a:rPr lang="en-US" dirty="0"/>
              <a:t> qua </a:t>
            </a:r>
            <a:r>
              <a:rPr lang="en-US" dirty="0" err="1"/>
              <a:t>lại</a:t>
            </a:r>
            <a:r>
              <a:rPr lang="en-US" dirty="0"/>
              <a:t> </a:t>
            </a:r>
            <a:r>
              <a:rPr lang="en-US" dirty="0" err="1"/>
              <a:t>giữa</a:t>
            </a:r>
            <a:r>
              <a:rPr lang="en-US" dirty="0"/>
              <a:t> Web Server </a:t>
            </a:r>
            <a:r>
              <a:rPr lang="en-US" dirty="0" err="1"/>
              <a:t>và</a:t>
            </a:r>
            <a:r>
              <a:rPr lang="en-US" dirty="0"/>
              <a:t> </a:t>
            </a:r>
            <a:r>
              <a:rPr lang="en-US" dirty="0" err="1"/>
              <a:t>NodeMCU</a:t>
            </a:r>
            <a:endParaRPr lang="en-US" dirty="0"/>
          </a:p>
          <a:p>
            <a:pPr marL="285750" indent="-285750">
              <a:buFont typeface="Arial" panose="020B0604020202020204" pitchFamily="34" charset="0"/>
              <a:buChar char="•"/>
            </a:pPr>
            <a:r>
              <a:rPr lang="en-US" dirty="0"/>
              <a:t>Backend Server: </a:t>
            </a:r>
            <a:r>
              <a:rPr lang="en-US" dirty="0" err="1"/>
              <a:t>Là</a:t>
            </a:r>
            <a:r>
              <a:rPr lang="en-US" dirty="0"/>
              <a:t> 1 web server </a:t>
            </a:r>
            <a:r>
              <a:rPr lang="en-US" dirty="0" err="1"/>
              <a:t>có</a:t>
            </a:r>
            <a:r>
              <a:rPr lang="en-US" dirty="0"/>
              <a:t> </a:t>
            </a:r>
            <a:r>
              <a:rPr lang="en-US" dirty="0" err="1"/>
              <a:t>vai</a:t>
            </a:r>
            <a:r>
              <a:rPr lang="en-US" dirty="0"/>
              <a:t> </a:t>
            </a:r>
            <a:r>
              <a:rPr lang="en-US" dirty="0" err="1"/>
              <a:t>trò</a:t>
            </a:r>
            <a:r>
              <a:rPr lang="en-US" dirty="0"/>
              <a:t> </a:t>
            </a:r>
            <a:r>
              <a:rPr lang="en-US" dirty="0" err="1"/>
              <a:t>nhận</a:t>
            </a:r>
            <a:r>
              <a:rPr lang="en-US" dirty="0"/>
              <a:t> </a:t>
            </a:r>
            <a:r>
              <a:rPr lang="en-US" dirty="0" err="1"/>
              <a:t>dữ</a:t>
            </a:r>
            <a:r>
              <a:rPr lang="en-US" dirty="0"/>
              <a:t> </a:t>
            </a:r>
            <a:r>
              <a:rPr lang="en-US" dirty="0" err="1"/>
              <a:t>liệu</a:t>
            </a:r>
            <a:r>
              <a:rPr lang="en-US" dirty="0"/>
              <a:t> </a:t>
            </a:r>
            <a:r>
              <a:rPr lang="en-US" dirty="0" err="1"/>
              <a:t>trên</a:t>
            </a:r>
            <a:r>
              <a:rPr lang="en-US" dirty="0"/>
              <a:t> broker </a:t>
            </a:r>
            <a:r>
              <a:rPr lang="en-US" dirty="0" err="1"/>
              <a:t>sau</a:t>
            </a:r>
            <a:r>
              <a:rPr lang="en-US" dirty="0"/>
              <a:t> </a:t>
            </a:r>
            <a:r>
              <a:rPr lang="en-US" dirty="0" err="1"/>
              <a:t>đó</a:t>
            </a:r>
            <a:r>
              <a:rPr lang="en-US" dirty="0"/>
              <a:t>, </a:t>
            </a:r>
            <a:r>
              <a:rPr lang="en-US" dirty="0" err="1"/>
              <a:t>lưu</a:t>
            </a:r>
            <a:r>
              <a:rPr lang="en-US" dirty="0"/>
              <a:t> </a:t>
            </a:r>
            <a:r>
              <a:rPr lang="en-US" dirty="0" err="1"/>
              <a:t>lại</a:t>
            </a:r>
            <a:r>
              <a:rPr lang="en-US" dirty="0"/>
              <a:t> </a:t>
            </a:r>
            <a:r>
              <a:rPr lang="en-US" dirty="0" err="1"/>
              <a:t>lên</a:t>
            </a:r>
            <a:r>
              <a:rPr lang="en-US" dirty="0"/>
              <a:t> DB </a:t>
            </a:r>
            <a:r>
              <a:rPr lang="en-US" dirty="0" err="1"/>
              <a:t>để</a:t>
            </a:r>
            <a:r>
              <a:rPr lang="en-US" dirty="0"/>
              <a:t> </a:t>
            </a:r>
            <a:r>
              <a:rPr lang="en-US" dirty="0" err="1"/>
              <a:t>thống</a:t>
            </a:r>
            <a:r>
              <a:rPr lang="en-US" dirty="0"/>
              <a:t> </a:t>
            </a:r>
            <a:r>
              <a:rPr lang="en-US" dirty="0" err="1"/>
              <a:t>kê</a:t>
            </a:r>
            <a:endParaRPr lang="en-US" dirty="0"/>
          </a:p>
          <a:p>
            <a:pPr marL="285750" indent="-285750">
              <a:buFont typeface="Arial" panose="020B0604020202020204" pitchFamily="34" charset="0"/>
              <a:buChar char="•"/>
            </a:pPr>
            <a:r>
              <a:rPr lang="en-US" dirty="0"/>
              <a:t>Frontend Server: </a:t>
            </a:r>
            <a:r>
              <a:rPr lang="en-US" dirty="0" err="1"/>
              <a:t>Là</a:t>
            </a:r>
            <a:r>
              <a:rPr lang="en-US" dirty="0"/>
              <a:t> 1 web server </a:t>
            </a:r>
            <a:r>
              <a:rPr lang="en-US" dirty="0" err="1"/>
              <a:t>có</a:t>
            </a:r>
            <a:r>
              <a:rPr lang="en-US" dirty="0"/>
              <a:t> </a:t>
            </a:r>
            <a:r>
              <a:rPr lang="en-US" dirty="0" err="1"/>
              <a:t>vai</a:t>
            </a:r>
            <a:r>
              <a:rPr lang="en-US" dirty="0"/>
              <a:t> </a:t>
            </a:r>
            <a:r>
              <a:rPr lang="en-US" dirty="0" err="1"/>
              <a:t>trò</a:t>
            </a:r>
            <a:r>
              <a:rPr lang="en-US" dirty="0"/>
              <a:t> </a:t>
            </a:r>
            <a:r>
              <a:rPr lang="en-US" dirty="0" err="1"/>
              <a:t>hiển</a:t>
            </a:r>
            <a:r>
              <a:rPr lang="en-US" dirty="0"/>
              <a:t> </a:t>
            </a:r>
            <a:r>
              <a:rPr lang="en-US" dirty="0" err="1"/>
              <a:t>thị</a:t>
            </a:r>
            <a:r>
              <a:rPr lang="en-US" dirty="0"/>
              <a:t> </a:t>
            </a:r>
            <a:r>
              <a:rPr lang="en-US" dirty="0" err="1"/>
              <a:t>giao</a:t>
            </a:r>
            <a:r>
              <a:rPr lang="en-US" dirty="0"/>
              <a:t> </a:t>
            </a:r>
            <a:r>
              <a:rPr lang="en-US" dirty="0" err="1"/>
              <a:t>diện</a:t>
            </a:r>
            <a:r>
              <a:rPr lang="en-US" dirty="0"/>
              <a:t> </a:t>
            </a:r>
            <a:r>
              <a:rPr lang="en-US" dirty="0" err="1"/>
              <a:t>cho</a:t>
            </a:r>
            <a:r>
              <a:rPr lang="en-US" dirty="0"/>
              <a:t> </a:t>
            </a:r>
            <a:r>
              <a:rPr lang="en-US" dirty="0" err="1"/>
              <a:t>người</a:t>
            </a:r>
            <a:r>
              <a:rPr lang="en-US" dirty="0"/>
              <a:t> </a:t>
            </a:r>
            <a:r>
              <a:rPr lang="en-US" dirty="0" err="1"/>
              <a:t>dùng</a:t>
            </a:r>
            <a:r>
              <a:rPr lang="en-US" dirty="0"/>
              <a:t> </a:t>
            </a:r>
            <a:r>
              <a:rPr lang="en-US" dirty="0" err="1"/>
              <a:t>cuối</a:t>
            </a:r>
            <a:r>
              <a:rPr lang="en-US" dirty="0"/>
              <a:t> </a:t>
            </a:r>
            <a:r>
              <a:rPr lang="en-US" dirty="0" err="1"/>
              <a:t>sử</a:t>
            </a:r>
            <a:r>
              <a:rPr lang="en-US" dirty="0"/>
              <a:t> </a:t>
            </a:r>
            <a:r>
              <a:rPr lang="en-US" dirty="0" err="1"/>
              <a:t>dụng</a:t>
            </a:r>
            <a:endParaRPr lang="en-US" dirty="0"/>
          </a:p>
          <a:p>
            <a:pPr marL="285750" indent="-285750">
              <a:buFont typeface="Arial" panose="020B0604020202020204" pitchFamily="34" charset="0"/>
              <a:buChar char="•"/>
            </a:pPr>
            <a:r>
              <a:rPr lang="en-US" dirty="0"/>
              <a:t>MongoDB: </a:t>
            </a:r>
            <a:r>
              <a:rPr lang="en-US" dirty="0" err="1"/>
              <a:t>là</a:t>
            </a:r>
            <a:r>
              <a:rPr lang="en-US" dirty="0"/>
              <a:t> 1 server database </a:t>
            </a:r>
            <a:r>
              <a:rPr lang="en-US" dirty="0" err="1"/>
              <a:t>kiểu</a:t>
            </a:r>
            <a:r>
              <a:rPr lang="en-US" dirty="0"/>
              <a:t> NoSQL </a:t>
            </a:r>
            <a:r>
              <a:rPr lang="en-US" dirty="0" err="1"/>
              <a:t>dùng</a:t>
            </a:r>
            <a:r>
              <a:rPr lang="en-US" dirty="0"/>
              <a:t> </a:t>
            </a:r>
            <a:r>
              <a:rPr lang="en-US" dirty="0" err="1"/>
              <a:t>để</a:t>
            </a:r>
            <a:r>
              <a:rPr lang="en-US" dirty="0"/>
              <a:t> </a:t>
            </a:r>
            <a:r>
              <a:rPr lang="en-US" dirty="0" err="1"/>
              <a:t>lưu</a:t>
            </a:r>
            <a:r>
              <a:rPr lang="en-US" dirty="0"/>
              <a:t> </a:t>
            </a:r>
            <a:r>
              <a:rPr lang="en-US" dirty="0" err="1"/>
              <a:t>trữ</a:t>
            </a:r>
            <a:r>
              <a:rPr lang="en-US" dirty="0"/>
              <a:t> </a:t>
            </a:r>
            <a:r>
              <a:rPr lang="en-US" dirty="0" err="1"/>
              <a:t>dữ</a:t>
            </a:r>
            <a:r>
              <a:rPr lang="en-US" dirty="0"/>
              <a:t> </a:t>
            </a:r>
            <a:r>
              <a:rPr lang="en-US" dirty="0" err="1"/>
              <a:t>liệu</a:t>
            </a:r>
            <a:r>
              <a:rPr lang="en-US" dirty="0"/>
              <a:t>.</a:t>
            </a:r>
          </a:p>
        </p:txBody>
      </p:sp>
    </p:spTree>
    <p:extLst>
      <p:ext uri="{BB962C8B-B14F-4D97-AF65-F5344CB8AC3E}">
        <p14:creationId xmlns:p14="http://schemas.microsoft.com/office/powerpoint/2010/main" val="976654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41C0161-3961-47A7-ADFE-AA12E504DD35}"/>
              </a:ext>
            </a:extLst>
          </p:cNvPr>
          <p:cNvSpPr>
            <a:spLocks noGrp="1"/>
          </p:cNvSpPr>
          <p:nvPr>
            <p:ph type="title"/>
          </p:nvPr>
        </p:nvSpPr>
        <p:spPr>
          <a:xfrm>
            <a:off x="838200" y="365125"/>
            <a:ext cx="10515600" cy="1325563"/>
          </a:xfrm>
        </p:spPr>
        <p:txBody>
          <a:bodyPr>
            <a:normAutofit/>
          </a:bodyPr>
          <a:lstStyle/>
          <a:p>
            <a:r>
              <a:rPr lang="en-US" dirty="0"/>
              <a:t>3.1 </a:t>
            </a:r>
            <a:r>
              <a:rPr lang="en-US" dirty="0" err="1"/>
              <a:t>Sơ</a:t>
            </a:r>
            <a:r>
              <a:rPr lang="en-US" dirty="0"/>
              <a:t> </a:t>
            </a:r>
            <a:r>
              <a:rPr lang="en-US" dirty="0" err="1"/>
              <a:t>đồ</a:t>
            </a:r>
            <a:r>
              <a:rPr lang="en-US" dirty="0"/>
              <a:t> </a:t>
            </a:r>
            <a:r>
              <a:rPr lang="en-US" dirty="0" err="1"/>
              <a:t>hệ</a:t>
            </a:r>
            <a:r>
              <a:rPr lang="en-US" dirty="0"/>
              <a:t> </a:t>
            </a:r>
            <a:r>
              <a:rPr lang="en-US" dirty="0" err="1"/>
              <a:t>thống</a:t>
            </a:r>
            <a:endParaRPr lang="en-US"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E4306A2-65DE-499E-ACEF-C97C2EF0BA9F}"/>
              </a:ext>
            </a:extLst>
          </p:cNvPr>
          <p:cNvSpPr>
            <a:spLocks noGrp="1"/>
          </p:cNvSpPr>
          <p:nvPr>
            <p:ph idx="1"/>
          </p:nvPr>
        </p:nvSpPr>
        <p:spPr>
          <a:xfrm>
            <a:off x="838200" y="1825625"/>
            <a:ext cx="10515600" cy="4351338"/>
          </a:xfrm>
        </p:spPr>
        <p:txBody>
          <a:bodyPr>
            <a:normAutofit/>
          </a:bodyPr>
          <a:lstStyle/>
          <a:p>
            <a:r>
              <a:rPr lang="en-US" dirty="0" err="1"/>
              <a:t>Cảm</a:t>
            </a:r>
            <a:r>
              <a:rPr lang="en-US" dirty="0"/>
              <a:t> </a:t>
            </a:r>
            <a:r>
              <a:rPr lang="en-US" dirty="0" err="1"/>
              <a:t>biến</a:t>
            </a:r>
            <a:r>
              <a:rPr lang="en-US" dirty="0"/>
              <a:t> </a:t>
            </a:r>
            <a:r>
              <a:rPr lang="en-US" dirty="0" err="1"/>
              <a:t>nhiệt</a:t>
            </a:r>
            <a:r>
              <a:rPr lang="en-US" dirty="0"/>
              <a:t> </a:t>
            </a:r>
            <a:r>
              <a:rPr lang="en-US" dirty="0" err="1"/>
              <a:t>độ</a:t>
            </a:r>
            <a:r>
              <a:rPr lang="en-US" dirty="0"/>
              <a:t>, </a:t>
            </a:r>
            <a:r>
              <a:rPr lang="en-US" dirty="0" err="1"/>
              <a:t>độ</a:t>
            </a:r>
            <a:r>
              <a:rPr lang="en-US" dirty="0"/>
              <a:t> </a:t>
            </a:r>
            <a:r>
              <a:rPr lang="en-US" dirty="0" err="1"/>
              <a:t>ẩm</a:t>
            </a:r>
            <a:r>
              <a:rPr lang="en-US" dirty="0"/>
              <a:t> </a:t>
            </a:r>
            <a:r>
              <a:rPr lang="en-US" dirty="0" err="1"/>
              <a:t>gửi</a:t>
            </a:r>
            <a:r>
              <a:rPr lang="en-US" dirty="0"/>
              <a:t> </a:t>
            </a:r>
            <a:r>
              <a:rPr lang="en-US" dirty="0" err="1"/>
              <a:t>dữ</a:t>
            </a:r>
            <a:r>
              <a:rPr lang="en-US" dirty="0"/>
              <a:t> </a:t>
            </a:r>
            <a:r>
              <a:rPr lang="en-US" dirty="0" err="1"/>
              <a:t>liệu</a:t>
            </a:r>
            <a:r>
              <a:rPr lang="en-US" dirty="0"/>
              <a:t> </a:t>
            </a:r>
            <a:r>
              <a:rPr lang="en-US" dirty="0" err="1"/>
              <a:t>lên</a:t>
            </a:r>
            <a:r>
              <a:rPr lang="en-US" dirty="0"/>
              <a:t> </a:t>
            </a:r>
            <a:r>
              <a:rPr lang="en-US" dirty="0" err="1"/>
              <a:t>NodeMCU</a:t>
            </a:r>
            <a:endParaRPr lang="en-US" dirty="0"/>
          </a:p>
          <a:p>
            <a:r>
              <a:rPr lang="en-US" dirty="0" err="1"/>
              <a:t>NodeMCU</a:t>
            </a:r>
            <a:r>
              <a:rPr lang="en-US" dirty="0"/>
              <a:t> </a:t>
            </a:r>
            <a:r>
              <a:rPr lang="en-US" dirty="0" err="1"/>
              <a:t>sẽ</a:t>
            </a:r>
            <a:r>
              <a:rPr lang="en-US" dirty="0"/>
              <a:t> </a:t>
            </a:r>
            <a:r>
              <a:rPr lang="en-US" dirty="0" err="1"/>
              <a:t>gửi</a:t>
            </a:r>
            <a:r>
              <a:rPr lang="en-US" dirty="0"/>
              <a:t> </a:t>
            </a:r>
            <a:r>
              <a:rPr lang="en-US" dirty="0" err="1"/>
              <a:t>dữ</a:t>
            </a:r>
            <a:r>
              <a:rPr lang="en-US" dirty="0"/>
              <a:t> </a:t>
            </a:r>
            <a:r>
              <a:rPr lang="en-US" dirty="0" err="1"/>
              <a:t>liệu</a:t>
            </a:r>
            <a:r>
              <a:rPr lang="en-US" dirty="0"/>
              <a:t> </a:t>
            </a:r>
            <a:r>
              <a:rPr lang="en-US" dirty="0" err="1"/>
              <a:t>lên</a:t>
            </a:r>
            <a:r>
              <a:rPr lang="en-US" dirty="0"/>
              <a:t> MQTT Broker </a:t>
            </a:r>
            <a:r>
              <a:rPr lang="en-US" dirty="0" err="1"/>
              <a:t>thông</a:t>
            </a:r>
            <a:r>
              <a:rPr lang="en-US" dirty="0"/>
              <a:t> qua </a:t>
            </a:r>
            <a:r>
              <a:rPr lang="en-US" dirty="0" err="1"/>
              <a:t>Wifi</a:t>
            </a:r>
            <a:endParaRPr lang="en-US" dirty="0"/>
          </a:p>
          <a:p>
            <a:r>
              <a:rPr lang="en-US" dirty="0"/>
              <a:t>Web server </a:t>
            </a:r>
            <a:r>
              <a:rPr lang="en-US" dirty="0" err="1"/>
              <a:t>sẽ</a:t>
            </a:r>
            <a:r>
              <a:rPr lang="en-US" dirty="0"/>
              <a:t> </a:t>
            </a:r>
            <a:r>
              <a:rPr lang="en-US" dirty="0" err="1"/>
              <a:t>cập</a:t>
            </a:r>
            <a:r>
              <a:rPr lang="en-US" dirty="0"/>
              <a:t> </a:t>
            </a:r>
            <a:r>
              <a:rPr lang="en-US" dirty="0" err="1"/>
              <a:t>nhật</a:t>
            </a:r>
            <a:r>
              <a:rPr lang="en-US" dirty="0"/>
              <a:t> </a:t>
            </a:r>
            <a:r>
              <a:rPr lang="en-US" dirty="0" err="1"/>
              <a:t>dữ</a:t>
            </a:r>
            <a:r>
              <a:rPr lang="en-US" dirty="0"/>
              <a:t> </a:t>
            </a:r>
            <a:r>
              <a:rPr lang="en-US" dirty="0" err="1"/>
              <a:t>liệu</a:t>
            </a:r>
            <a:r>
              <a:rPr lang="en-US" dirty="0"/>
              <a:t> </a:t>
            </a:r>
            <a:r>
              <a:rPr lang="en-US" dirty="0" err="1"/>
              <a:t>mới</a:t>
            </a:r>
            <a:r>
              <a:rPr lang="en-US" dirty="0"/>
              <a:t> </a:t>
            </a:r>
            <a:r>
              <a:rPr lang="en-US" dirty="0" err="1"/>
              <a:t>nhất</a:t>
            </a:r>
            <a:r>
              <a:rPr lang="en-US" dirty="0"/>
              <a:t> </a:t>
            </a:r>
            <a:r>
              <a:rPr lang="en-US" dirty="0" err="1"/>
              <a:t>từ</a:t>
            </a:r>
            <a:r>
              <a:rPr lang="en-US" dirty="0"/>
              <a:t> MQTT Broker do </a:t>
            </a:r>
            <a:r>
              <a:rPr lang="en-US" dirty="0" err="1"/>
              <a:t>đã</a:t>
            </a:r>
            <a:r>
              <a:rPr lang="en-US" dirty="0"/>
              <a:t> subscribe 1 </a:t>
            </a:r>
            <a:r>
              <a:rPr lang="en-US" dirty="0" err="1"/>
              <a:t>kênh</a:t>
            </a:r>
            <a:r>
              <a:rPr lang="en-US" dirty="0"/>
              <a:t> </a:t>
            </a:r>
            <a:r>
              <a:rPr lang="en-US" dirty="0" err="1"/>
              <a:t>trước</a:t>
            </a:r>
            <a:r>
              <a:rPr lang="en-US" dirty="0"/>
              <a:t> </a:t>
            </a:r>
            <a:r>
              <a:rPr lang="en-US" dirty="0" err="1"/>
              <a:t>đấy</a:t>
            </a:r>
            <a:r>
              <a:rPr lang="en-US" dirty="0"/>
              <a:t>.</a:t>
            </a:r>
          </a:p>
        </p:txBody>
      </p:sp>
    </p:spTree>
    <p:extLst>
      <p:ext uri="{BB962C8B-B14F-4D97-AF65-F5344CB8AC3E}">
        <p14:creationId xmlns:p14="http://schemas.microsoft.com/office/powerpoint/2010/main" val="706102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81A933-8290-4AC2-A6E9-B16302B519FB}"/>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4. </a:t>
            </a:r>
            <a:r>
              <a:rPr lang="en-US" dirty="0" err="1">
                <a:solidFill>
                  <a:srgbClr val="FFFFFF"/>
                </a:solidFill>
              </a:rPr>
              <a:t>Bảo</a:t>
            </a:r>
            <a:r>
              <a:rPr lang="en-US" dirty="0">
                <a:solidFill>
                  <a:srgbClr val="FFFFFF"/>
                </a:solidFill>
              </a:rPr>
              <a:t> </a:t>
            </a:r>
            <a:r>
              <a:rPr lang="en-US" dirty="0" err="1">
                <a:solidFill>
                  <a:srgbClr val="FFFFFF"/>
                </a:solidFill>
              </a:rPr>
              <a:t>mật</a:t>
            </a:r>
            <a:r>
              <a:rPr lang="en-US" dirty="0">
                <a:solidFill>
                  <a:srgbClr val="FFFFFF"/>
                </a:solidFill>
              </a:rPr>
              <a:t> </a:t>
            </a:r>
            <a:r>
              <a:rPr lang="en-US" dirty="0" err="1">
                <a:solidFill>
                  <a:srgbClr val="FFFFFF"/>
                </a:solidFill>
              </a:rPr>
              <a:t>hệ</a:t>
            </a:r>
            <a:r>
              <a:rPr lang="en-US" dirty="0">
                <a:solidFill>
                  <a:srgbClr val="FFFFFF"/>
                </a:solidFill>
              </a:rPr>
              <a:t> </a:t>
            </a:r>
            <a:r>
              <a:rPr lang="en-US" dirty="0" err="1">
                <a:solidFill>
                  <a:srgbClr val="FFFFFF"/>
                </a:solidFill>
              </a:rPr>
              <a:t>thống</a:t>
            </a:r>
            <a:endParaRPr lang="en-US"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7D5B462-3CF3-4276-8456-A2FD4D12A00A}"/>
              </a:ext>
            </a:extLst>
          </p:cNvPr>
          <p:cNvSpPr>
            <a:spLocks noGrp="1"/>
          </p:cNvSpPr>
          <p:nvPr>
            <p:ph idx="1"/>
          </p:nvPr>
        </p:nvSpPr>
        <p:spPr>
          <a:xfrm>
            <a:off x="4447308" y="591344"/>
            <a:ext cx="6906491" cy="5585619"/>
          </a:xfrm>
        </p:spPr>
        <p:txBody>
          <a:bodyPr anchor="ctr">
            <a:normAutofit/>
          </a:bodyPr>
          <a:lstStyle/>
          <a:p>
            <a:r>
              <a:rPr lang="en-US" dirty="0" err="1"/>
              <a:t>Mã</a:t>
            </a:r>
            <a:r>
              <a:rPr lang="en-US" dirty="0"/>
              <a:t> </a:t>
            </a:r>
            <a:r>
              <a:rPr lang="en-US" dirty="0" err="1"/>
              <a:t>hóa</a:t>
            </a:r>
            <a:r>
              <a:rPr lang="en-US" dirty="0"/>
              <a:t> </a:t>
            </a:r>
            <a:r>
              <a:rPr lang="en-US" dirty="0" err="1"/>
              <a:t>dữ</a:t>
            </a:r>
            <a:r>
              <a:rPr lang="en-US" dirty="0"/>
              <a:t> </a:t>
            </a:r>
            <a:r>
              <a:rPr lang="en-US" dirty="0" err="1"/>
              <a:t>liệu</a:t>
            </a:r>
            <a:r>
              <a:rPr lang="en-US" dirty="0"/>
              <a:t> </a:t>
            </a:r>
            <a:r>
              <a:rPr lang="en-US" dirty="0" err="1"/>
              <a:t>truyền</a:t>
            </a:r>
            <a:r>
              <a:rPr lang="en-US" dirty="0"/>
              <a:t> </a:t>
            </a:r>
            <a:r>
              <a:rPr lang="en-US" dirty="0" err="1"/>
              <a:t>đi</a:t>
            </a:r>
            <a:r>
              <a:rPr lang="en-US" dirty="0"/>
              <a:t> </a:t>
            </a:r>
            <a:r>
              <a:rPr lang="en-US" dirty="0" err="1"/>
              <a:t>từ</a:t>
            </a:r>
            <a:r>
              <a:rPr lang="en-US" dirty="0"/>
              <a:t> </a:t>
            </a:r>
            <a:r>
              <a:rPr lang="en-US" dirty="0" err="1"/>
              <a:t>thiết</a:t>
            </a:r>
            <a:r>
              <a:rPr lang="en-US" dirty="0"/>
              <a:t> </a:t>
            </a:r>
            <a:r>
              <a:rPr lang="en-US" dirty="0" err="1"/>
              <a:t>bị</a:t>
            </a:r>
            <a:r>
              <a:rPr lang="en-US" dirty="0"/>
              <a:t> </a:t>
            </a:r>
            <a:r>
              <a:rPr lang="en-US" dirty="0" err="1"/>
              <a:t>thông</a:t>
            </a:r>
            <a:r>
              <a:rPr lang="en-US" dirty="0"/>
              <a:t> </a:t>
            </a:r>
            <a:r>
              <a:rPr lang="en-US" dirty="0" err="1"/>
              <a:t>minh</a:t>
            </a:r>
            <a:r>
              <a:rPr lang="en-US" dirty="0"/>
              <a:t>.</a:t>
            </a:r>
          </a:p>
          <a:p>
            <a:r>
              <a:rPr lang="en-US" dirty="0" err="1"/>
              <a:t>Xác</a:t>
            </a:r>
            <a:r>
              <a:rPr lang="en-US" dirty="0"/>
              <a:t> </a:t>
            </a:r>
            <a:r>
              <a:rPr lang="en-US" dirty="0" err="1"/>
              <a:t>thực</a:t>
            </a:r>
            <a:r>
              <a:rPr lang="en-US" dirty="0"/>
              <a:t> </a:t>
            </a:r>
            <a:r>
              <a:rPr lang="en-US" dirty="0" err="1"/>
              <a:t>thiết</a:t>
            </a:r>
            <a:r>
              <a:rPr lang="en-US" dirty="0"/>
              <a:t> </a:t>
            </a:r>
            <a:r>
              <a:rPr lang="en-US" dirty="0" err="1"/>
              <a:t>bị</a:t>
            </a:r>
            <a:r>
              <a:rPr lang="en-US" dirty="0"/>
              <a:t> </a:t>
            </a:r>
            <a:r>
              <a:rPr lang="en-US" dirty="0" err="1"/>
              <a:t>thông</a:t>
            </a:r>
            <a:r>
              <a:rPr lang="en-US" dirty="0"/>
              <a:t> </a:t>
            </a:r>
            <a:r>
              <a:rPr lang="en-US" dirty="0" err="1"/>
              <a:t>minh</a:t>
            </a:r>
            <a:r>
              <a:rPr lang="en-US" dirty="0"/>
              <a:t> </a:t>
            </a:r>
            <a:r>
              <a:rPr lang="en-US" dirty="0" err="1"/>
              <a:t>với</a:t>
            </a:r>
            <a:r>
              <a:rPr lang="en-US" dirty="0"/>
              <a:t> server.</a:t>
            </a:r>
          </a:p>
          <a:p>
            <a:r>
              <a:rPr lang="en-US" dirty="0" err="1"/>
              <a:t>Một</a:t>
            </a:r>
            <a:r>
              <a:rPr lang="en-US" dirty="0"/>
              <a:t> </a:t>
            </a:r>
            <a:r>
              <a:rPr lang="en-US" dirty="0" err="1"/>
              <a:t>số</a:t>
            </a:r>
            <a:r>
              <a:rPr lang="en-US" dirty="0"/>
              <a:t> </a:t>
            </a:r>
            <a:r>
              <a:rPr lang="en-US" dirty="0" err="1"/>
              <a:t>cách</a:t>
            </a:r>
            <a:r>
              <a:rPr lang="en-US" dirty="0"/>
              <a:t> </a:t>
            </a:r>
            <a:r>
              <a:rPr lang="en-US" dirty="0" err="1"/>
              <a:t>khác</a:t>
            </a:r>
            <a:endParaRPr lang="en-US" dirty="0"/>
          </a:p>
          <a:p>
            <a:endParaRPr lang="en-US" dirty="0"/>
          </a:p>
        </p:txBody>
      </p:sp>
    </p:spTree>
    <p:extLst>
      <p:ext uri="{BB962C8B-B14F-4D97-AF65-F5344CB8AC3E}">
        <p14:creationId xmlns:p14="http://schemas.microsoft.com/office/powerpoint/2010/main" val="23923386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187F106-C019-4B77-995A-50D77190ABAC}"/>
              </a:ext>
            </a:extLst>
          </p:cNvPr>
          <p:cNvSpPr>
            <a:spLocks noGrp="1"/>
          </p:cNvSpPr>
          <p:nvPr>
            <p:ph type="title"/>
          </p:nvPr>
        </p:nvSpPr>
        <p:spPr>
          <a:xfrm>
            <a:off x="838200" y="365125"/>
            <a:ext cx="10515600" cy="1325563"/>
          </a:xfrm>
        </p:spPr>
        <p:txBody>
          <a:bodyPr>
            <a:normAutofit/>
          </a:bodyPr>
          <a:lstStyle/>
          <a:p>
            <a:r>
              <a:rPr lang="en-US" dirty="0"/>
              <a:t>4.1 </a:t>
            </a:r>
            <a:r>
              <a:rPr lang="en-US" dirty="0" err="1"/>
              <a:t>Mã</a:t>
            </a:r>
            <a:r>
              <a:rPr lang="en-US" dirty="0"/>
              <a:t> </a:t>
            </a:r>
            <a:r>
              <a:rPr lang="en-US" dirty="0" err="1"/>
              <a:t>hóa</a:t>
            </a:r>
            <a:r>
              <a:rPr lang="en-US" dirty="0"/>
              <a:t> </a:t>
            </a:r>
            <a:r>
              <a:rPr lang="en-US" dirty="0" err="1"/>
              <a:t>dữ</a:t>
            </a:r>
            <a:r>
              <a:rPr lang="en-US" dirty="0"/>
              <a:t> </a:t>
            </a:r>
            <a:r>
              <a:rPr lang="en-US" dirty="0" err="1"/>
              <a:t>liệu</a:t>
            </a:r>
            <a:r>
              <a:rPr lang="en-US" dirty="0"/>
              <a:t> </a:t>
            </a:r>
            <a:r>
              <a:rPr lang="en-US" dirty="0" err="1"/>
              <a:t>đường</a:t>
            </a:r>
            <a:r>
              <a:rPr lang="en-US" dirty="0"/>
              <a:t> </a:t>
            </a:r>
            <a:r>
              <a:rPr lang="en-US" dirty="0" err="1"/>
              <a:t>truyền</a:t>
            </a:r>
            <a:r>
              <a:rPr lang="en-US" dirty="0"/>
              <a:t>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7FB89DB-0962-496E-8AEF-E6EAD814CD69}"/>
              </a:ext>
            </a:extLst>
          </p:cNvPr>
          <p:cNvSpPr>
            <a:spLocks noGrp="1"/>
          </p:cNvSpPr>
          <p:nvPr>
            <p:ph idx="1"/>
          </p:nvPr>
        </p:nvSpPr>
        <p:spPr>
          <a:xfrm>
            <a:off x="838200" y="1825625"/>
            <a:ext cx="10515600" cy="4351338"/>
          </a:xfrm>
        </p:spPr>
        <p:txBody>
          <a:bodyPr>
            <a:normAutofit/>
          </a:bodyPr>
          <a:lstStyle/>
          <a:p>
            <a:r>
              <a:rPr lang="en-US" dirty="0"/>
              <a:t>AES (Advanced Encryption Standard) </a:t>
            </a:r>
            <a:r>
              <a:rPr lang="en-US" dirty="0" err="1"/>
              <a:t>là</a:t>
            </a:r>
            <a:r>
              <a:rPr lang="en-US" dirty="0"/>
              <a:t> </a:t>
            </a:r>
            <a:r>
              <a:rPr lang="en-US" dirty="0" err="1"/>
              <a:t>một</a:t>
            </a:r>
            <a:r>
              <a:rPr lang="en-US" dirty="0"/>
              <a:t> </a:t>
            </a:r>
            <a:r>
              <a:rPr lang="en-US" dirty="0" err="1"/>
              <a:t>thuật</a:t>
            </a:r>
            <a:r>
              <a:rPr lang="en-US" dirty="0"/>
              <a:t> </a:t>
            </a:r>
            <a:r>
              <a:rPr lang="en-US" dirty="0" err="1"/>
              <a:t>toán</a:t>
            </a:r>
            <a:r>
              <a:rPr lang="en-US" dirty="0"/>
              <a:t> </a:t>
            </a:r>
            <a:r>
              <a:rPr lang="en-US" dirty="0" err="1"/>
              <a:t>mã</a:t>
            </a:r>
            <a:r>
              <a:rPr lang="en-US" dirty="0"/>
              <a:t> </a:t>
            </a:r>
            <a:r>
              <a:rPr lang="en-US" dirty="0" err="1"/>
              <a:t>hóa</a:t>
            </a:r>
            <a:r>
              <a:rPr lang="en-US" dirty="0"/>
              <a:t> </a:t>
            </a:r>
            <a:r>
              <a:rPr lang="en-US" dirty="0" err="1"/>
              <a:t>khỗi</a:t>
            </a:r>
            <a:r>
              <a:rPr lang="en-US" dirty="0"/>
              <a:t> </a:t>
            </a:r>
            <a:r>
              <a:rPr lang="en-US" dirty="0" err="1"/>
              <a:t>được</a:t>
            </a:r>
            <a:r>
              <a:rPr lang="en-US" dirty="0"/>
              <a:t> </a:t>
            </a:r>
            <a:r>
              <a:rPr lang="en-US" dirty="0" err="1"/>
              <a:t>chính</a:t>
            </a:r>
            <a:r>
              <a:rPr lang="en-US" dirty="0"/>
              <a:t> </a:t>
            </a:r>
            <a:r>
              <a:rPr lang="en-US" dirty="0" err="1"/>
              <a:t>phủ</a:t>
            </a:r>
            <a:r>
              <a:rPr lang="en-US" dirty="0"/>
              <a:t> </a:t>
            </a:r>
            <a:r>
              <a:rPr lang="en-US" dirty="0" err="1"/>
              <a:t>Hoa</a:t>
            </a:r>
            <a:r>
              <a:rPr lang="en-US" dirty="0"/>
              <a:t> </a:t>
            </a:r>
            <a:r>
              <a:rPr lang="en-US" dirty="0" err="1"/>
              <a:t>Kỳ</a:t>
            </a:r>
            <a:r>
              <a:rPr lang="en-US" dirty="0"/>
              <a:t> </a:t>
            </a:r>
            <a:r>
              <a:rPr lang="en-US" dirty="0" err="1"/>
              <a:t>áp</a:t>
            </a:r>
            <a:r>
              <a:rPr lang="en-US" dirty="0"/>
              <a:t> </a:t>
            </a:r>
            <a:r>
              <a:rPr lang="en-US" dirty="0" err="1"/>
              <a:t>dụng</a:t>
            </a:r>
            <a:r>
              <a:rPr lang="en-US" dirty="0"/>
              <a:t> </a:t>
            </a:r>
            <a:r>
              <a:rPr lang="en-US" dirty="0" err="1"/>
              <a:t>làm</a:t>
            </a:r>
            <a:r>
              <a:rPr lang="en-US" dirty="0"/>
              <a:t> </a:t>
            </a:r>
            <a:r>
              <a:rPr lang="en-US" dirty="0" err="1"/>
              <a:t>tiêu</a:t>
            </a:r>
            <a:r>
              <a:rPr lang="en-US" dirty="0"/>
              <a:t> </a:t>
            </a:r>
            <a:r>
              <a:rPr lang="en-US" dirty="0" err="1"/>
              <a:t>chuẩn</a:t>
            </a:r>
            <a:r>
              <a:rPr lang="en-US" dirty="0"/>
              <a:t> </a:t>
            </a:r>
            <a:r>
              <a:rPr lang="en-US" dirty="0" err="1"/>
              <a:t>mã</a:t>
            </a:r>
            <a:r>
              <a:rPr lang="en-US" dirty="0"/>
              <a:t> </a:t>
            </a:r>
            <a:r>
              <a:rPr lang="en-US" dirty="0" err="1"/>
              <a:t>hóa</a:t>
            </a:r>
            <a:r>
              <a:rPr lang="en-US" dirty="0"/>
              <a:t>. </a:t>
            </a:r>
          </a:p>
          <a:p>
            <a:r>
              <a:rPr lang="en-US" dirty="0"/>
              <a:t>Khi </a:t>
            </a:r>
            <a:r>
              <a:rPr lang="en-US" dirty="0" err="1"/>
              <a:t>cài</a:t>
            </a:r>
            <a:r>
              <a:rPr lang="en-US" dirty="0"/>
              <a:t> </a:t>
            </a:r>
            <a:r>
              <a:rPr lang="en-US" dirty="0" err="1"/>
              <a:t>đặt</a:t>
            </a:r>
            <a:r>
              <a:rPr lang="en-US" dirty="0"/>
              <a:t> </a:t>
            </a:r>
            <a:r>
              <a:rPr lang="en-US" dirty="0" err="1"/>
              <a:t>thuật</a:t>
            </a:r>
            <a:r>
              <a:rPr lang="en-US" dirty="0"/>
              <a:t> </a:t>
            </a:r>
            <a:r>
              <a:rPr lang="en-US" dirty="0" err="1"/>
              <a:t>toán</a:t>
            </a:r>
            <a:r>
              <a:rPr lang="en-US" dirty="0"/>
              <a:t> </a:t>
            </a:r>
            <a:r>
              <a:rPr lang="en-US" dirty="0" err="1"/>
              <a:t>mã</a:t>
            </a:r>
            <a:r>
              <a:rPr lang="en-US" dirty="0"/>
              <a:t> AES </a:t>
            </a:r>
            <a:r>
              <a:rPr lang="en-US" dirty="0" err="1"/>
              <a:t>người</a:t>
            </a:r>
            <a:r>
              <a:rPr lang="en-US" dirty="0"/>
              <a:t> ta </a:t>
            </a:r>
            <a:r>
              <a:rPr lang="en-US" dirty="0" err="1"/>
              <a:t>thường</a:t>
            </a:r>
            <a:r>
              <a:rPr lang="en-US" dirty="0"/>
              <a:t> </a:t>
            </a:r>
            <a:r>
              <a:rPr lang="en-US" dirty="0" err="1"/>
              <a:t>không</a:t>
            </a:r>
            <a:r>
              <a:rPr lang="en-US" dirty="0"/>
              <a:t> </a:t>
            </a:r>
            <a:r>
              <a:rPr lang="en-US" dirty="0" err="1"/>
              <a:t>sử</a:t>
            </a:r>
            <a:r>
              <a:rPr lang="en-US" dirty="0"/>
              <a:t> </a:t>
            </a:r>
            <a:r>
              <a:rPr lang="en-US" dirty="0" err="1"/>
              <a:t>dụng</a:t>
            </a:r>
            <a:r>
              <a:rPr lang="en-US" dirty="0"/>
              <a:t> ở </a:t>
            </a:r>
            <a:r>
              <a:rPr lang="en-US" dirty="0" err="1"/>
              <a:t>dạng</a:t>
            </a:r>
            <a:r>
              <a:rPr lang="en-US" dirty="0"/>
              <a:t> </a:t>
            </a:r>
            <a:r>
              <a:rPr lang="en-US" dirty="0" err="1"/>
              <a:t>nguyên</a:t>
            </a:r>
            <a:r>
              <a:rPr lang="en-US" dirty="0"/>
              <a:t> </a:t>
            </a:r>
            <a:r>
              <a:rPr lang="en-US" dirty="0" err="1"/>
              <a:t>gốc</a:t>
            </a:r>
            <a:r>
              <a:rPr lang="en-US" dirty="0"/>
              <a:t>. AES </a:t>
            </a:r>
            <a:r>
              <a:rPr lang="en-US" dirty="0" err="1"/>
              <a:t>thường</a:t>
            </a:r>
            <a:r>
              <a:rPr lang="en-US" dirty="0"/>
              <a:t> </a:t>
            </a:r>
            <a:r>
              <a:rPr lang="en-US" dirty="0" err="1"/>
              <a:t>hoạt</a:t>
            </a:r>
            <a:r>
              <a:rPr lang="en-US" dirty="0"/>
              <a:t> </a:t>
            </a:r>
            <a:r>
              <a:rPr lang="en-US" dirty="0" err="1"/>
              <a:t>động</a:t>
            </a:r>
            <a:r>
              <a:rPr lang="en-US" dirty="0"/>
              <a:t> ở 4 </a:t>
            </a:r>
            <a:r>
              <a:rPr lang="en-US" dirty="0" err="1"/>
              <a:t>ché</a:t>
            </a:r>
            <a:r>
              <a:rPr lang="en-US" dirty="0"/>
              <a:t> </a:t>
            </a:r>
            <a:r>
              <a:rPr lang="en-US" dirty="0" err="1"/>
              <a:t>độ</a:t>
            </a:r>
            <a:r>
              <a:rPr lang="en-US" dirty="0"/>
              <a:t> </a:t>
            </a:r>
            <a:r>
              <a:rPr lang="en-US" dirty="0" err="1"/>
              <a:t>cơ</a:t>
            </a:r>
            <a:r>
              <a:rPr lang="en-US" dirty="0"/>
              <a:t> </a:t>
            </a:r>
            <a:r>
              <a:rPr lang="en-US" dirty="0" err="1"/>
              <a:t>bản</a:t>
            </a:r>
            <a:r>
              <a:rPr lang="en-US" dirty="0"/>
              <a:t> </a:t>
            </a:r>
            <a:r>
              <a:rPr lang="en-US" dirty="0" err="1"/>
              <a:t>của</a:t>
            </a:r>
            <a:r>
              <a:rPr lang="en-US" dirty="0"/>
              <a:t> </a:t>
            </a:r>
            <a:r>
              <a:rPr lang="en-US" dirty="0" err="1"/>
              <a:t>mã</a:t>
            </a:r>
            <a:r>
              <a:rPr lang="en-US" dirty="0"/>
              <a:t> </a:t>
            </a:r>
            <a:r>
              <a:rPr lang="en-US" dirty="0" err="1"/>
              <a:t>khối</a:t>
            </a:r>
            <a:r>
              <a:rPr lang="en-US" dirty="0"/>
              <a:t> n-bit (ECB,CBC,CFB,OFB)</a:t>
            </a:r>
          </a:p>
        </p:txBody>
      </p:sp>
    </p:spTree>
    <p:extLst>
      <p:ext uri="{BB962C8B-B14F-4D97-AF65-F5344CB8AC3E}">
        <p14:creationId xmlns:p14="http://schemas.microsoft.com/office/powerpoint/2010/main" val="11333347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71365-12E8-4187-A9F3-7BAC7C5EE7DF}"/>
              </a:ext>
            </a:extLst>
          </p:cNvPr>
          <p:cNvSpPr>
            <a:spLocks noGrp="1"/>
          </p:cNvSpPr>
          <p:nvPr>
            <p:ph type="title"/>
          </p:nvPr>
        </p:nvSpPr>
        <p:spPr/>
        <p:txBody>
          <a:bodyPr/>
          <a:lstStyle/>
          <a:p>
            <a:r>
              <a:rPr lang="en-US" dirty="0"/>
              <a:t>AES</a:t>
            </a:r>
          </a:p>
        </p:txBody>
      </p:sp>
      <p:pic>
        <p:nvPicPr>
          <p:cNvPr id="5" name="Content Placeholder 4" descr="Chart, diagram&#10;&#10;Description automatically generated">
            <a:extLst>
              <a:ext uri="{FF2B5EF4-FFF2-40B4-BE49-F238E27FC236}">
                <a16:creationId xmlns:a16="http://schemas.microsoft.com/office/drawing/2014/main" id="{9EBAAB67-E65B-4A93-A337-CC42DEAB93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9037" y="212221"/>
            <a:ext cx="6597261" cy="6645779"/>
          </a:xfrm>
        </p:spPr>
      </p:pic>
    </p:spTree>
    <p:extLst>
      <p:ext uri="{BB962C8B-B14F-4D97-AF65-F5344CB8AC3E}">
        <p14:creationId xmlns:p14="http://schemas.microsoft.com/office/powerpoint/2010/main" val="15595559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EDC3F6-5217-44FE-A26F-ADD2E8BFEDAF}"/>
              </a:ext>
            </a:extLst>
          </p:cNvPr>
          <p:cNvSpPr>
            <a:spLocks noGrp="1"/>
          </p:cNvSpPr>
          <p:nvPr>
            <p:ph type="title"/>
          </p:nvPr>
        </p:nvSpPr>
        <p:spPr>
          <a:xfrm>
            <a:off x="838200" y="562271"/>
            <a:ext cx="10515600" cy="1128417"/>
          </a:xfrm>
        </p:spPr>
        <p:txBody>
          <a:bodyPr vert="horz" lIns="91440" tIns="45720" rIns="91440" bIns="45720" rtlCol="0" anchor="ctr">
            <a:normAutofit/>
          </a:bodyPr>
          <a:lstStyle/>
          <a:p>
            <a:r>
              <a:rPr lang="en-US" dirty="0"/>
              <a:t>ECB (Electronic </a:t>
            </a:r>
            <a:r>
              <a:rPr lang="en-US" dirty="0" err="1"/>
              <a:t>CodeBook</a:t>
            </a:r>
            <a:r>
              <a:rPr lang="en-US" dirty="0"/>
              <a:t>)</a:t>
            </a:r>
          </a:p>
        </p:txBody>
      </p:sp>
      <p:pic>
        <p:nvPicPr>
          <p:cNvPr id="5" name="Content Placeholder 4" descr="Diagram&#10;&#10;Description automatically generated">
            <a:extLst>
              <a:ext uri="{FF2B5EF4-FFF2-40B4-BE49-F238E27FC236}">
                <a16:creationId xmlns:a16="http://schemas.microsoft.com/office/drawing/2014/main" id="{3684F08B-EC7F-4999-8395-74B22CF4806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922" r="816" b="-2"/>
          <a:stretch/>
        </p:blipFill>
        <p:spPr>
          <a:xfrm>
            <a:off x="838200" y="1845426"/>
            <a:ext cx="10512547" cy="4450303"/>
          </a:xfrm>
          <a:prstGeom prst="rect">
            <a:avLst/>
          </a:prstGeom>
        </p:spPr>
      </p:pic>
    </p:spTree>
    <p:extLst>
      <p:ext uri="{BB962C8B-B14F-4D97-AF65-F5344CB8AC3E}">
        <p14:creationId xmlns:p14="http://schemas.microsoft.com/office/powerpoint/2010/main" val="19280759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0F944E2-594B-4252-9D8E-67F77678B467}"/>
              </a:ext>
            </a:extLst>
          </p:cNvPr>
          <p:cNvSpPr>
            <a:spLocks noGrp="1"/>
          </p:cNvSpPr>
          <p:nvPr>
            <p:ph type="title"/>
          </p:nvPr>
        </p:nvSpPr>
        <p:spPr>
          <a:xfrm>
            <a:off x="838200" y="365125"/>
            <a:ext cx="10515600" cy="1325563"/>
          </a:xfrm>
        </p:spPr>
        <p:txBody>
          <a:bodyPr>
            <a:normAutofit/>
          </a:bodyPr>
          <a:lstStyle/>
          <a:p>
            <a:r>
              <a:rPr lang="en-US" dirty="0"/>
              <a:t>4.2 </a:t>
            </a:r>
            <a:r>
              <a:rPr lang="en-US" dirty="0" err="1"/>
              <a:t>Xác</a:t>
            </a:r>
            <a:r>
              <a:rPr lang="en-US" dirty="0"/>
              <a:t> </a:t>
            </a:r>
            <a:r>
              <a:rPr lang="en-US" dirty="0" err="1"/>
              <a:t>thực</a:t>
            </a:r>
            <a:r>
              <a:rPr lang="en-US" dirty="0"/>
              <a:t> </a:t>
            </a:r>
            <a:r>
              <a:rPr lang="en-US" dirty="0" err="1"/>
              <a:t>thiết</a:t>
            </a:r>
            <a:r>
              <a:rPr lang="en-US" dirty="0"/>
              <a:t> </a:t>
            </a:r>
            <a:r>
              <a:rPr lang="en-US" dirty="0" err="1"/>
              <a:t>bị</a:t>
            </a:r>
            <a:r>
              <a:rPr lang="en-US" dirty="0"/>
              <a:t> </a:t>
            </a:r>
            <a:r>
              <a:rPr lang="en-US" dirty="0" err="1"/>
              <a:t>thông</a:t>
            </a:r>
            <a:r>
              <a:rPr lang="en-US" dirty="0"/>
              <a:t> </a:t>
            </a:r>
            <a:r>
              <a:rPr lang="en-US" dirty="0" err="1"/>
              <a:t>minh</a:t>
            </a:r>
            <a:r>
              <a:rPr lang="en-US" dirty="0"/>
              <a:t> </a:t>
            </a:r>
            <a:r>
              <a:rPr lang="en-US" dirty="0" err="1"/>
              <a:t>với</a:t>
            </a:r>
            <a:r>
              <a:rPr lang="en-US" dirty="0"/>
              <a:t> server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BABCBE2-1EB4-4809-B7F5-FD4A9313F910}"/>
              </a:ext>
            </a:extLst>
          </p:cNvPr>
          <p:cNvSpPr>
            <a:spLocks noGrp="1"/>
          </p:cNvSpPr>
          <p:nvPr>
            <p:ph idx="1"/>
          </p:nvPr>
        </p:nvSpPr>
        <p:spPr>
          <a:xfrm>
            <a:off x="838200" y="1825625"/>
            <a:ext cx="10515600" cy="4351338"/>
          </a:xfrm>
        </p:spPr>
        <p:txBody>
          <a:bodyPr>
            <a:normAutofit fontScale="92500" lnSpcReduction="10000"/>
          </a:bodyPr>
          <a:lstStyle/>
          <a:p>
            <a:r>
              <a:rPr lang="en-US" dirty="0" err="1"/>
              <a:t>Để</a:t>
            </a:r>
            <a:r>
              <a:rPr lang="en-US" dirty="0"/>
              <a:t> </a:t>
            </a:r>
            <a:r>
              <a:rPr lang="en-US" dirty="0" err="1"/>
              <a:t>giao</a:t>
            </a:r>
            <a:r>
              <a:rPr lang="en-US" dirty="0"/>
              <a:t> </a:t>
            </a:r>
            <a:r>
              <a:rPr lang="en-US" dirty="0" err="1"/>
              <a:t>tiếp</a:t>
            </a:r>
            <a:r>
              <a:rPr lang="en-US" dirty="0"/>
              <a:t> </a:t>
            </a:r>
            <a:r>
              <a:rPr lang="en-US" dirty="0" err="1"/>
              <a:t>được</a:t>
            </a:r>
            <a:r>
              <a:rPr lang="en-US" dirty="0"/>
              <a:t> </a:t>
            </a:r>
            <a:r>
              <a:rPr lang="en-US" dirty="0" err="1"/>
              <a:t>với</a:t>
            </a:r>
            <a:r>
              <a:rPr lang="en-US" dirty="0"/>
              <a:t> server, </a:t>
            </a:r>
            <a:r>
              <a:rPr lang="en-US" dirty="0" err="1"/>
              <a:t>phía</a:t>
            </a:r>
            <a:r>
              <a:rPr lang="en-US" dirty="0"/>
              <a:t> </a:t>
            </a:r>
            <a:r>
              <a:rPr lang="en-US" dirty="0" err="1"/>
              <a:t>thiết</a:t>
            </a:r>
            <a:r>
              <a:rPr lang="en-US" dirty="0"/>
              <a:t> </a:t>
            </a:r>
            <a:r>
              <a:rPr lang="en-US" dirty="0" err="1"/>
              <a:t>bị</a:t>
            </a:r>
            <a:r>
              <a:rPr lang="en-US" dirty="0"/>
              <a:t> </a:t>
            </a:r>
            <a:r>
              <a:rPr lang="en-US" dirty="0" err="1"/>
              <a:t>thông</a:t>
            </a:r>
            <a:r>
              <a:rPr lang="en-US" dirty="0"/>
              <a:t> </a:t>
            </a:r>
            <a:r>
              <a:rPr lang="en-US" dirty="0" err="1"/>
              <a:t>minh</a:t>
            </a:r>
            <a:r>
              <a:rPr lang="en-US" dirty="0"/>
              <a:t> </a:t>
            </a:r>
            <a:r>
              <a:rPr lang="en-US" dirty="0" err="1"/>
              <a:t>cần</a:t>
            </a:r>
            <a:r>
              <a:rPr lang="en-US" dirty="0"/>
              <a:t> </a:t>
            </a:r>
            <a:r>
              <a:rPr lang="en-US" dirty="0" err="1"/>
              <a:t>cung</a:t>
            </a:r>
            <a:r>
              <a:rPr lang="en-US" dirty="0"/>
              <a:t> </a:t>
            </a:r>
            <a:r>
              <a:rPr lang="en-US" dirty="0" err="1"/>
              <a:t>cấp</a:t>
            </a:r>
            <a:r>
              <a:rPr lang="en-US" dirty="0"/>
              <a:t> </a:t>
            </a:r>
            <a:r>
              <a:rPr lang="en-US" dirty="0" err="1"/>
              <a:t>một</a:t>
            </a:r>
            <a:r>
              <a:rPr lang="en-US" dirty="0"/>
              <a:t> user </a:t>
            </a:r>
            <a:r>
              <a:rPr lang="en-US" dirty="0" err="1"/>
              <a:t>và</a:t>
            </a:r>
            <a:r>
              <a:rPr lang="en-US" dirty="0"/>
              <a:t> password </a:t>
            </a:r>
            <a:r>
              <a:rPr lang="en-US" dirty="0" err="1"/>
              <a:t>khi</a:t>
            </a:r>
            <a:r>
              <a:rPr lang="en-US" dirty="0"/>
              <a:t> subscribe </a:t>
            </a:r>
            <a:r>
              <a:rPr lang="en-US" dirty="0" err="1"/>
              <a:t>một</a:t>
            </a:r>
            <a:r>
              <a:rPr lang="en-US" dirty="0"/>
              <a:t> </a:t>
            </a:r>
            <a:r>
              <a:rPr lang="en-US" dirty="0" err="1"/>
              <a:t>kênh</a:t>
            </a:r>
            <a:r>
              <a:rPr lang="en-US" dirty="0"/>
              <a:t> </a:t>
            </a:r>
            <a:r>
              <a:rPr lang="en-US" dirty="0" err="1"/>
              <a:t>trên</a:t>
            </a:r>
            <a:r>
              <a:rPr lang="en-US" dirty="0"/>
              <a:t> server</a:t>
            </a:r>
          </a:p>
          <a:p>
            <a:r>
              <a:rPr lang="en-US" dirty="0" err="1"/>
              <a:t>Các</a:t>
            </a:r>
            <a:r>
              <a:rPr lang="en-US" dirty="0"/>
              <a:t> </a:t>
            </a:r>
            <a:r>
              <a:rPr lang="en-US" dirty="0" err="1"/>
              <a:t>tiêu</a:t>
            </a:r>
            <a:r>
              <a:rPr lang="en-US" dirty="0"/>
              <a:t> </a:t>
            </a:r>
            <a:r>
              <a:rPr lang="en-US" dirty="0" err="1"/>
              <a:t>chuẩn</a:t>
            </a:r>
            <a:r>
              <a:rPr lang="en-US" dirty="0"/>
              <a:t> </a:t>
            </a:r>
            <a:r>
              <a:rPr lang="en-US" dirty="0" err="1"/>
              <a:t>đặt</a:t>
            </a:r>
            <a:r>
              <a:rPr lang="en-US" dirty="0"/>
              <a:t> </a:t>
            </a:r>
            <a:r>
              <a:rPr lang="en-US" dirty="0" err="1"/>
              <a:t>mật</a:t>
            </a:r>
            <a:r>
              <a:rPr lang="en-US" dirty="0"/>
              <a:t> </a:t>
            </a:r>
            <a:r>
              <a:rPr lang="en-US" dirty="0" err="1"/>
              <a:t>khẩu</a:t>
            </a:r>
            <a:r>
              <a:rPr lang="en-US" dirty="0"/>
              <a:t> </a:t>
            </a:r>
            <a:r>
              <a:rPr lang="en-US" dirty="0" err="1"/>
              <a:t>mạnh</a:t>
            </a:r>
            <a:r>
              <a:rPr lang="en-US" dirty="0"/>
              <a:t>:</a:t>
            </a:r>
          </a:p>
          <a:p>
            <a:pPr algn="l">
              <a:buFont typeface="Wingdings" panose="05000000000000000000" pitchFamily="2" charset="2"/>
              <a:buChar char="q"/>
            </a:pPr>
            <a:r>
              <a:rPr lang="vi-VN" sz="2400" b="0" i="0" dirty="0">
                <a:solidFill>
                  <a:srgbClr val="333333"/>
                </a:solidFill>
                <a:effectLst/>
                <a:latin typeface="Helvetica" panose="020B0604020202020204" pitchFamily="34" charset="0"/>
              </a:rPr>
              <a:t>Sử dụng tối thiểu 8 ký tự, và tối đa 15 ký tự.</a:t>
            </a:r>
          </a:p>
          <a:p>
            <a:pPr algn="l">
              <a:buFont typeface="Wingdings" panose="05000000000000000000" pitchFamily="2" charset="2"/>
              <a:buChar char="q"/>
            </a:pPr>
            <a:r>
              <a:rPr lang="vi-VN" sz="2400" b="0" i="0" dirty="0">
                <a:solidFill>
                  <a:srgbClr val="333333"/>
                </a:solidFill>
                <a:effectLst/>
                <a:latin typeface="Helvetica" panose="020B0604020202020204" pitchFamily="34" charset="0"/>
              </a:rPr>
              <a:t>Bao gồm số, chữ thường, chữ in hoa và ký tự đặc biệt.</a:t>
            </a:r>
          </a:p>
          <a:p>
            <a:pPr algn="l">
              <a:buFont typeface="Wingdings" panose="05000000000000000000" pitchFamily="2" charset="2"/>
              <a:buChar char="q"/>
            </a:pPr>
            <a:r>
              <a:rPr lang="vi-VN" sz="2400" b="0" i="0" dirty="0">
                <a:solidFill>
                  <a:srgbClr val="333333"/>
                </a:solidFill>
                <a:effectLst/>
                <a:latin typeface="Helvetica" panose="020B0604020202020204" pitchFamily="34" charset="0"/>
              </a:rPr>
              <a:t>Duy nhất, không dùng chung cho các tài khoản khác.</a:t>
            </a:r>
          </a:p>
          <a:p>
            <a:pPr algn="l">
              <a:buFont typeface="Wingdings" panose="05000000000000000000" pitchFamily="2" charset="2"/>
              <a:buChar char="q"/>
            </a:pPr>
            <a:r>
              <a:rPr lang="vi-VN" sz="2400" b="0" i="0" dirty="0">
                <a:solidFill>
                  <a:srgbClr val="333333"/>
                </a:solidFill>
                <a:effectLst/>
                <a:latin typeface="Helvetica" panose="020B0604020202020204" pitchFamily="34" charset="0"/>
              </a:rPr>
              <a:t>Không được mang ý nghĩa đi kèm(số điện thoại, ngày sinh, tên địa danh...).</a:t>
            </a:r>
          </a:p>
          <a:p>
            <a:pPr algn="l">
              <a:buFont typeface="Wingdings" panose="05000000000000000000" pitchFamily="2" charset="2"/>
              <a:buChar char="q"/>
            </a:pPr>
            <a:r>
              <a:rPr lang="vi-VN" sz="2400" b="0" i="0" dirty="0">
                <a:solidFill>
                  <a:srgbClr val="333333"/>
                </a:solidFill>
                <a:effectLst/>
                <a:latin typeface="Helvetica" panose="020B0604020202020204" pitchFamily="34" charset="0"/>
              </a:rPr>
              <a:t>Không sử dụng tên riêng.</a:t>
            </a:r>
          </a:p>
          <a:p>
            <a:pPr algn="l">
              <a:buFont typeface="Wingdings" panose="05000000000000000000" pitchFamily="2" charset="2"/>
              <a:buChar char="q"/>
            </a:pPr>
            <a:r>
              <a:rPr lang="vi-VN" sz="2400" b="0" i="0" dirty="0">
                <a:solidFill>
                  <a:srgbClr val="333333"/>
                </a:solidFill>
                <a:effectLst/>
                <a:latin typeface="Helvetica" panose="020B0604020202020204" pitchFamily="34" charset="0"/>
              </a:rPr>
              <a:t>Không sử dụng các con số nổi tiếng, vd: 113, 115, 12345678...</a:t>
            </a:r>
          </a:p>
          <a:p>
            <a:pPr algn="l">
              <a:buFont typeface="Wingdings" panose="05000000000000000000" pitchFamily="2" charset="2"/>
              <a:buChar char="q"/>
            </a:pPr>
            <a:r>
              <a:rPr lang="vi-VN" sz="2400" b="0" i="0" dirty="0">
                <a:solidFill>
                  <a:srgbClr val="333333"/>
                </a:solidFill>
                <a:effectLst/>
                <a:latin typeface="Helvetica" panose="020B0604020202020204" pitchFamily="34" charset="0"/>
              </a:rPr>
              <a:t>Không sử dụng các thông tin trong mật khẩu cho câu hỏi bí mật (câu hỏi bí mật là phương pháp giúp người dùng đặt lại mật khẩu khi quên).</a:t>
            </a:r>
          </a:p>
          <a:p>
            <a:pPr marL="0" indent="0">
              <a:buNone/>
            </a:pPr>
            <a:endParaRPr lang="en-US" dirty="0"/>
          </a:p>
        </p:txBody>
      </p:sp>
    </p:spTree>
    <p:extLst>
      <p:ext uri="{BB962C8B-B14F-4D97-AF65-F5344CB8AC3E}">
        <p14:creationId xmlns:p14="http://schemas.microsoft.com/office/powerpoint/2010/main" val="31300960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C4E14A9C-F05C-4A29-A3C9-B5C585DBFAD6}"/>
              </a:ext>
            </a:extLst>
          </p:cNvPr>
          <p:cNvSpPr>
            <a:spLocks noGrp="1"/>
          </p:cNvSpPr>
          <p:nvPr>
            <p:ph type="title"/>
          </p:nvPr>
        </p:nvSpPr>
        <p:spPr>
          <a:xfrm>
            <a:off x="838200" y="365125"/>
            <a:ext cx="5393361" cy="1325563"/>
          </a:xfrm>
        </p:spPr>
        <p:txBody>
          <a:bodyPr>
            <a:normAutofit/>
          </a:bodyPr>
          <a:lstStyle/>
          <a:p>
            <a:r>
              <a:rPr lang="en-US"/>
              <a:t>4.3 Một số cách khác</a:t>
            </a:r>
          </a:p>
        </p:txBody>
      </p:sp>
      <p:sp>
        <p:nvSpPr>
          <p:cNvPr id="27" name="Freeform: Shape 26">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014FB253-8217-4694-A8D8-693A46C41919}"/>
              </a:ext>
            </a:extLst>
          </p:cNvPr>
          <p:cNvSpPr>
            <a:spLocks noGrp="1"/>
          </p:cNvSpPr>
          <p:nvPr>
            <p:ph idx="1"/>
          </p:nvPr>
        </p:nvSpPr>
        <p:spPr>
          <a:xfrm>
            <a:off x="838200" y="1825625"/>
            <a:ext cx="5393361" cy="4351338"/>
          </a:xfrm>
        </p:spPr>
        <p:txBody>
          <a:bodyPr>
            <a:normAutofit/>
          </a:bodyPr>
          <a:lstStyle/>
          <a:p>
            <a:r>
              <a:rPr lang="en-US" dirty="0" err="1"/>
              <a:t>Bảo</a:t>
            </a:r>
            <a:r>
              <a:rPr lang="en-US" dirty="0"/>
              <a:t> </a:t>
            </a:r>
            <a:r>
              <a:rPr lang="en-US" dirty="0" err="1"/>
              <a:t>vệ</a:t>
            </a:r>
            <a:r>
              <a:rPr lang="en-US" dirty="0"/>
              <a:t> </a:t>
            </a:r>
            <a:r>
              <a:rPr lang="en-US" dirty="0" err="1"/>
              <a:t>và</a:t>
            </a:r>
            <a:r>
              <a:rPr lang="en-US" dirty="0"/>
              <a:t> </a:t>
            </a:r>
            <a:r>
              <a:rPr lang="en-US" dirty="0" err="1"/>
              <a:t>bảo</a:t>
            </a:r>
            <a:r>
              <a:rPr lang="en-US" dirty="0"/>
              <a:t> </a:t>
            </a:r>
            <a:r>
              <a:rPr lang="en-US" dirty="0" err="1"/>
              <a:t>mật</a:t>
            </a:r>
            <a:r>
              <a:rPr lang="en-US" dirty="0"/>
              <a:t> </a:t>
            </a:r>
            <a:r>
              <a:rPr lang="en-US" dirty="0" err="1"/>
              <a:t>đường</a:t>
            </a:r>
            <a:r>
              <a:rPr lang="en-US" dirty="0"/>
              <a:t> </a:t>
            </a:r>
            <a:r>
              <a:rPr lang="en-US" dirty="0" err="1"/>
              <a:t>truyền</a:t>
            </a:r>
            <a:r>
              <a:rPr lang="en-US" dirty="0"/>
              <a:t>: Ở </a:t>
            </a:r>
            <a:r>
              <a:rPr lang="en-US" dirty="0" err="1"/>
              <a:t>đây</a:t>
            </a:r>
            <a:r>
              <a:rPr lang="en-US" dirty="0"/>
              <a:t> </a:t>
            </a:r>
            <a:r>
              <a:rPr lang="en-US" dirty="0" err="1"/>
              <a:t>là</a:t>
            </a:r>
            <a:r>
              <a:rPr lang="en-US" dirty="0"/>
              <a:t> </a:t>
            </a:r>
            <a:r>
              <a:rPr lang="en-US" dirty="0" err="1"/>
              <a:t>wifi</a:t>
            </a:r>
            <a:r>
              <a:rPr lang="en-US" dirty="0"/>
              <a:t>, </a:t>
            </a:r>
            <a:r>
              <a:rPr lang="en-US" dirty="0" err="1"/>
              <a:t>thì</a:t>
            </a:r>
            <a:r>
              <a:rPr lang="en-US" dirty="0"/>
              <a:t> </a:t>
            </a:r>
            <a:r>
              <a:rPr lang="en-US" dirty="0" err="1"/>
              <a:t>cần</a:t>
            </a:r>
            <a:r>
              <a:rPr lang="en-US" dirty="0"/>
              <a:t> </a:t>
            </a:r>
            <a:r>
              <a:rPr lang="en-US" dirty="0" err="1"/>
              <a:t>đặt</a:t>
            </a:r>
            <a:r>
              <a:rPr lang="en-US" dirty="0"/>
              <a:t> password </a:t>
            </a:r>
            <a:r>
              <a:rPr lang="en-US" dirty="0" err="1"/>
              <a:t>khó</a:t>
            </a:r>
            <a:r>
              <a:rPr lang="en-US" dirty="0"/>
              <a:t> </a:t>
            </a:r>
            <a:r>
              <a:rPr lang="en-US" dirty="0" err="1"/>
              <a:t>có</a:t>
            </a:r>
            <a:r>
              <a:rPr lang="en-US" dirty="0"/>
              <a:t> </a:t>
            </a:r>
            <a:r>
              <a:rPr lang="en-US" dirty="0" err="1"/>
              <a:t>thể</a:t>
            </a:r>
            <a:r>
              <a:rPr lang="en-US" dirty="0"/>
              <a:t> </a:t>
            </a:r>
            <a:r>
              <a:rPr lang="en-US" dirty="0" err="1"/>
              <a:t>dò</a:t>
            </a:r>
            <a:r>
              <a:rPr lang="en-US" dirty="0"/>
              <a:t>  </a:t>
            </a:r>
            <a:r>
              <a:rPr lang="en-US" dirty="0" err="1"/>
              <a:t>được</a:t>
            </a:r>
            <a:r>
              <a:rPr lang="en-US" dirty="0"/>
              <a:t>, </a:t>
            </a:r>
            <a:r>
              <a:rPr lang="en-US" dirty="0" err="1"/>
              <a:t>sử</a:t>
            </a:r>
            <a:r>
              <a:rPr lang="en-US" dirty="0"/>
              <a:t> </a:t>
            </a:r>
            <a:r>
              <a:rPr lang="en-US" dirty="0" err="1"/>
              <a:t>dụng</a:t>
            </a:r>
            <a:r>
              <a:rPr lang="en-US" dirty="0"/>
              <a:t> </a:t>
            </a:r>
            <a:r>
              <a:rPr lang="en-US" dirty="0" err="1"/>
              <a:t>các</a:t>
            </a:r>
            <a:r>
              <a:rPr lang="en-US" dirty="0"/>
              <a:t> </a:t>
            </a:r>
            <a:r>
              <a:rPr lang="en-US" dirty="0" err="1"/>
              <a:t>chuẩn</a:t>
            </a:r>
            <a:r>
              <a:rPr lang="en-US" dirty="0"/>
              <a:t> </a:t>
            </a:r>
            <a:r>
              <a:rPr lang="en-US" dirty="0" err="1"/>
              <a:t>bảo</a:t>
            </a:r>
            <a:r>
              <a:rPr lang="en-US" dirty="0"/>
              <a:t> </a:t>
            </a:r>
            <a:r>
              <a:rPr lang="en-US" dirty="0" err="1"/>
              <a:t>mật</a:t>
            </a:r>
            <a:r>
              <a:rPr lang="en-US" dirty="0"/>
              <a:t> </a:t>
            </a:r>
            <a:r>
              <a:rPr lang="en-US" dirty="0" err="1"/>
              <a:t>wifi</a:t>
            </a:r>
            <a:r>
              <a:rPr lang="en-US" dirty="0"/>
              <a:t> </a:t>
            </a:r>
            <a:r>
              <a:rPr lang="en-US" dirty="0" err="1"/>
              <a:t>mới</a:t>
            </a:r>
            <a:r>
              <a:rPr lang="en-US" dirty="0"/>
              <a:t> </a:t>
            </a:r>
            <a:r>
              <a:rPr lang="en-US" dirty="0" err="1"/>
              <a:t>nhất</a:t>
            </a:r>
            <a:r>
              <a:rPr lang="en-US" dirty="0"/>
              <a:t>.</a:t>
            </a:r>
          </a:p>
          <a:p>
            <a:r>
              <a:rPr lang="en-US" dirty="0" err="1"/>
              <a:t>Sử</a:t>
            </a:r>
            <a:r>
              <a:rPr lang="en-US" dirty="0"/>
              <a:t> </a:t>
            </a:r>
            <a:r>
              <a:rPr lang="en-US" dirty="0" err="1"/>
              <a:t>dụng</a:t>
            </a:r>
            <a:r>
              <a:rPr lang="en-US" dirty="0"/>
              <a:t> </a:t>
            </a:r>
            <a:r>
              <a:rPr lang="en-US" dirty="0" err="1"/>
              <a:t>các</a:t>
            </a:r>
            <a:r>
              <a:rPr lang="en-US" dirty="0"/>
              <a:t> </a:t>
            </a:r>
            <a:r>
              <a:rPr lang="en-US" dirty="0" err="1"/>
              <a:t>phần</a:t>
            </a:r>
            <a:r>
              <a:rPr lang="en-US" dirty="0"/>
              <a:t> </a:t>
            </a:r>
            <a:r>
              <a:rPr lang="en-US" dirty="0" err="1"/>
              <a:t>cứng</a:t>
            </a:r>
            <a:r>
              <a:rPr lang="en-US" dirty="0"/>
              <a:t> </a:t>
            </a:r>
            <a:r>
              <a:rPr lang="en-US" dirty="0" err="1"/>
              <a:t>nguồn</a:t>
            </a:r>
            <a:r>
              <a:rPr lang="en-US" dirty="0"/>
              <a:t> </a:t>
            </a:r>
            <a:r>
              <a:rPr lang="en-US" dirty="0" err="1"/>
              <a:t>gốc</a:t>
            </a:r>
            <a:r>
              <a:rPr lang="en-US" dirty="0"/>
              <a:t> </a:t>
            </a:r>
            <a:r>
              <a:rPr lang="en-US" dirty="0" err="1"/>
              <a:t>rõ</a:t>
            </a:r>
            <a:r>
              <a:rPr lang="en-US" dirty="0"/>
              <a:t> rang, </a:t>
            </a:r>
            <a:r>
              <a:rPr lang="en-US" dirty="0" err="1"/>
              <a:t>không</a:t>
            </a:r>
            <a:r>
              <a:rPr lang="en-US" dirty="0"/>
              <a:t> </a:t>
            </a:r>
            <a:r>
              <a:rPr lang="en-US" dirty="0" err="1"/>
              <a:t>có</a:t>
            </a:r>
            <a:r>
              <a:rPr lang="en-US" dirty="0"/>
              <a:t> </a:t>
            </a:r>
            <a:r>
              <a:rPr lang="en-US" dirty="0" err="1"/>
              <a:t>mã</a:t>
            </a:r>
            <a:r>
              <a:rPr lang="en-US" dirty="0"/>
              <a:t> </a:t>
            </a:r>
            <a:r>
              <a:rPr lang="en-US" dirty="0" err="1"/>
              <a:t>độc</a:t>
            </a:r>
            <a:r>
              <a:rPr lang="en-US" dirty="0"/>
              <a:t>.</a:t>
            </a:r>
          </a:p>
          <a:p>
            <a:r>
              <a:rPr lang="en-US" dirty="0" err="1"/>
              <a:t>Sử</a:t>
            </a:r>
            <a:r>
              <a:rPr lang="en-US" dirty="0"/>
              <a:t> </a:t>
            </a:r>
            <a:r>
              <a:rPr lang="en-US" dirty="0" err="1"/>
              <a:t>dụng</a:t>
            </a:r>
            <a:r>
              <a:rPr lang="en-US" dirty="0"/>
              <a:t> Public Key Infrastructure </a:t>
            </a:r>
            <a:r>
              <a:rPr lang="en-US" dirty="0" err="1"/>
              <a:t>để</a:t>
            </a:r>
            <a:r>
              <a:rPr lang="en-US" dirty="0"/>
              <a:t> </a:t>
            </a:r>
            <a:r>
              <a:rPr lang="en-US" dirty="0" err="1"/>
              <a:t>bảo</a:t>
            </a:r>
            <a:r>
              <a:rPr lang="en-US" dirty="0"/>
              <a:t> </a:t>
            </a:r>
            <a:r>
              <a:rPr lang="en-US" dirty="0" err="1"/>
              <a:t>mật</a:t>
            </a:r>
            <a:endParaRPr lang="en-US" dirty="0"/>
          </a:p>
        </p:txBody>
      </p:sp>
      <p:sp>
        <p:nvSpPr>
          <p:cNvPr id="29" name="Oval 28">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raphic 6" descr="Laptop Secure">
            <a:extLst>
              <a:ext uri="{FF2B5EF4-FFF2-40B4-BE49-F238E27FC236}">
                <a16:creationId xmlns:a16="http://schemas.microsoft.com/office/drawing/2014/main" id="{840EE655-BE38-4FAD-96A6-52E13651279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31" name="Freeform: Shape 30">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33" name="Straight Connector 32">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9" name="Freeform: Shape 38">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12784832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20E69-8285-4C1A-9364-C8B1393BF315}"/>
              </a:ext>
            </a:extLst>
          </p:cNvPr>
          <p:cNvSpPr>
            <a:spLocks noGrp="1"/>
          </p:cNvSpPr>
          <p:nvPr>
            <p:ph type="title"/>
          </p:nvPr>
        </p:nvSpPr>
        <p:spPr/>
        <p:txBody>
          <a:bodyPr/>
          <a:lstStyle/>
          <a:p>
            <a:r>
              <a:rPr lang="en-US" dirty="0"/>
              <a:t>5. </a:t>
            </a:r>
            <a:r>
              <a:rPr lang="en-US" dirty="0" err="1"/>
              <a:t>Kiểm</a:t>
            </a:r>
            <a:r>
              <a:rPr lang="en-US" dirty="0"/>
              <a:t> </a:t>
            </a:r>
            <a:r>
              <a:rPr lang="en-US" dirty="0" err="1"/>
              <a:t>thử</a:t>
            </a:r>
            <a:r>
              <a:rPr lang="en-US" dirty="0"/>
              <a:t> </a:t>
            </a:r>
            <a:r>
              <a:rPr lang="en-US" dirty="0" err="1"/>
              <a:t>hệ</a:t>
            </a:r>
            <a:r>
              <a:rPr lang="en-US" dirty="0"/>
              <a:t> </a:t>
            </a:r>
            <a:r>
              <a:rPr lang="en-US" dirty="0" err="1"/>
              <a:t>thống</a:t>
            </a:r>
            <a:r>
              <a:rPr lang="en-US" dirty="0"/>
              <a:t> </a:t>
            </a:r>
          </a:p>
        </p:txBody>
      </p:sp>
      <p:sp>
        <p:nvSpPr>
          <p:cNvPr id="3" name="Content Placeholder 2">
            <a:extLst>
              <a:ext uri="{FF2B5EF4-FFF2-40B4-BE49-F238E27FC236}">
                <a16:creationId xmlns:a16="http://schemas.microsoft.com/office/drawing/2014/main" id="{F8840FEC-403B-4ADC-BFB0-A745F572FCE4}"/>
              </a:ext>
            </a:extLst>
          </p:cNvPr>
          <p:cNvSpPr>
            <a:spLocks noGrp="1"/>
          </p:cNvSpPr>
          <p:nvPr>
            <p:ph idx="1"/>
          </p:nvPr>
        </p:nvSpPr>
        <p:spPr/>
        <p:txBody>
          <a:bodyPr/>
          <a:lstStyle/>
          <a:p>
            <a:pPr marL="0" indent="0">
              <a:buNone/>
            </a:pPr>
            <a:r>
              <a:rPr lang="en-US" dirty="0" err="1"/>
              <a:t>Sử</a:t>
            </a:r>
            <a:r>
              <a:rPr lang="en-US" dirty="0"/>
              <a:t> </a:t>
            </a:r>
            <a:r>
              <a:rPr lang="en-US" dirty="0" err="1"/>
              <a:t>dụng</a:t>
            </a:r>
            <a:r>
              <a:rPr lang="en-US" dirty="0"/>
              <a:t> private key:</a:t>
            </a:r>
          </a:p>
        </p:txBody>
      </p:sp>
      <p:pic>
        <p:nvPicPr>
          <p:cNvPr id="5" name="Picture 4" descr="Graphical user interface, text, application&#10;&#10;Description automatically generated">
            <a:extLst>
              <a:ext uri="{FF2B5EF4-FFF2-40B4-BE49-F238E27FC236}">
                <a16:creationId xmlns:a16="http://schemas.microsoft.com/office/drawing/2014/main" id="{E83CDBAD-F497-4088-964D-8AF649E78E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2780" y="2424457"/>
            <a:ext cx="4867470" cy="2600000"/>
          </a:xfrm>
          <a:prstGeom prst="rect">
            <a:avLst/>
          </a:prstGeom>
        </p:spPr>
      </p:pic>
    </p:spTree>
    <p:extLst>
      <p:ext uri="{BB962C8B-B14F-4D97-AF65-F5344CB8AC3E}">
        <p14:creationId xmlns:p14="http://schemas.microsoft.com/office/powerpoint/2010/main" val="3890088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D70A3-0723-4277-9698-35E23ADE9357}"/>
              </a:ext>
            </a:extLst>
          </p:cNvPr>
          <p:cNvSpPr>
            <a:spLocks noGrp="1"/>
          </p:cNvSpPr>
          <p:nvPr>
            <p:ph type="title"/>
          </p:nvPr>
        </p:nvSpPr>
        <p:spPr/>
        <p:txBody>
          <a:bodyPr/>
          <a:lstStyle/>
          <a:p>
            <a:r>
              <a:rPr lang="en-US" dirty="0"/>
              <a:t>5. </a:t>
            </a:r>
            <a:r>
              <a:rPr lang="en-US" dirty="0" err="1"/>
              <a:t>Kiểm</a:t>
            </a:r>
            <a:r>
              <a:rPr lang="en-US" dirty="0"/>
              <a:t> </a:t>
            </a:r>
            <a:r>
              <a:rPr lang="en-US" dirty="0" err="1"/>
              <a:t>thử</a:t>
            </a:r>
            <a:r>
              <a:rPr lang="en-US" dirty="0"/>
              <a:t> </a:t>
            </a:r>
            <a:r>
              <a:rPr lang="en-US" dirty="0" err="1"/>
              <a:t>hệ</a:t>
            </a:r>
            <a:r>
              <a:rPr lang="en-US" dirty="0"/>
              <a:t> </a:t>
            </a:r>
            <a:r>
              <a:rPr lang="en-US" dirty="0" err="1"/>
              <a:t>thống</a:t>
            </a:r>
            <a:endParaRPr lang="en-US" dirty="0"/>
          </a:p>
        </p:txBody>
      </p:sp>
      <p:sp>
        <p:nvSpPr>
          <p:cNvPr id="3" name="Content Placeholder 2">
            <a:extLst>
              <a:ext uri="{FF2B5EF4-FFF2-40B4-BE49-F238E27FC236}">
                <a16:creationId xmlns:a16="http://schemas.microsoft.com/office/drawing/2014/main" id="{ACA89AB5-DB28-4A90-97CD-D6ADF4FC480C}"/>
              </a:ext>
            </a:extLst>
          </p:cNvPr>
          <p:cNvSpPr>
            <a:spLocks noGrp="1"/>
          </p:cNvSpPr>
          <p:nvPr>
            <p:ph idx="1"/>
          </p:nvPr>
        </p:nvSpPr>
        <p:spPr/>
        <p:txBody>
          <a:bodyPr/>
          <a:lstStyle/>
          <a:p>
            <a:r>
              <a:rPr lang="en-US" dirty="0" err="1"/>
              <a:t>Sử</a:t>
            </a:r>
            <a:r>
              <a:rPr lang="en-US" dirty="0"/>
              <a:t> </a:t>
            </a:r>
            <a:r>
              <a:rPr lang="en-US" dirty="0" err="1"/>
              <a:t>dụng</a:t>
            </a:r>
            <a:r>
              <a:rPr lang="en-US" dirty="0"/>
              <a:t> private key</a:t>
            </a:r>
          </a:p>
          <a:p>
            <a:pPr marL="0" indent="0">
              <a:buNone/>
            </a:pPr>
            <a:endParaRPr lang="en-US" dirty="0"/>
          </a:p>
        </p:txBody>
      </p:sp>
      <p:pic>
        <p:nvPicPr>
          <p:cNvPr id="5" name="Picture 4" descr="Text&#10;&#10;Description automatically generated">
            <a:extLst>
              <a:ext uri="{FF2B5EF4-FFF2-40B4-BE49-F238E27FC236}">
                <a16:creationId xmlns:a16="http://schemas.microsoft.com/office/drawing/2014/main" id="{F80CD3BA-BCDF-4533-94B2-E042C5D969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5848" y="2852277"/>
            <a:ext cx="10142857" cy="2428571"/>
          </a:xfrm>
          <a:prstGeom prst="rect">
            <a:avLst/>
          </a:prstGeom>
        </p:spPr>
      </p:pic>
    </p:spTree>
    <p:extLst>
      <p:ext uri="{BB962C8B-B14F-4D97-AF65-F5344CB8AC3E}">
        <p14:creationId xmlns:p14="http://schemas.microsoft.com/office/powerpoint/2010/main" val="8729388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A5D51-3A34-479D-8A3C-C4E48B447A96}"/>
              </a:ext>
            </a:extLst>
          </p:cNvPr>
          <p:cNvSpPr>
            <a:spLocks noGrp="1"/>
          </p:cNvSpPr>
          <p:nvPr>
            <p:ph type="title"/>
          </p:nvPr>
        </p:nvSpPr>
        <p:spPr/>
        <p:txBody>
          <a:bodyPr/>
          <a:lstStyle/>
          <a:p>
            <a:r>
              <a:rPr lang="en-US" dirty="0"/>
              <a:t>5 </a:t>
            </a:r>
            <a:r>
              <a:rPr lang="en-US" dirty="0" err="1"/>
              <a:t>Kiểm</a:t>
            </a:r>
            <a:r>
              <a:rPr lang="en-US" dirty="0"/>
              <a:t> </a:t>
            </a:r>
            <a:r>
              <a:rPr lang="en-US" dirty="0" err="1"/>
              <a:t>thử</a:t>
            </a:r>
            <a:r>
              <a:rPr lang="en-US" dirty="0"/>
              <a:t> </a:t>
            </a:r>
            <a:r>
              <a:rPr lang="en-US" dirty="0" err="1"/>
              <a:t>hệ</a:t>
            </a:r>
            <a:r>
              <a:rPr lang="en-US" dirty="0"/>
              <a:t> </a:t>
            </a:r>
            <a:r>
              <a:rPr lang="en-US" dirty="0" err="1"/>
              <a:t>thống</a:t>
            </a:r>
            <a:endParaRPr lang="en-US" dirty="0"/>
          </a:p>
        </p:txBody>
      </p:sp>
      <p:sp>
        <p:nvSpPr>
          <p:cNvPr id="3" name="Content Placeholder 2">
            <a:extLst>
              <a:ext uri="{FF2B5EF4-FFF2-40B4-BE49-F238E27FC236}">
                <a16:creationId xmlns:a16="http://schemas.microsoft.com/office/drawing/2014/main" id="{CB9D9654-92F2-4D24-94F2-3E93C7492E14}"/>
              </a:ext>
            </a:extLst>
          </p:cNvPr>
          <p:cNvSpPr>
            <a:spLocks noGrp="1"/>
          </p:cNvSpPr>
          <p:nvPr>
            <p:ph idx="1"/>
          </p:nvPr>
        </p:nvSpPr>
        <p:spPr/>
        <p:txBody>
          <a:bodyPr/>
          <a:lstStyle/>
          <a:p>
            <a:r>
              <a:rPr lang="en-US" dirty="0" err="1"/>
              <a:t>Sử</a:t>
            </a:r>
            <a:r>
              <a:rPr lang="en-US" dirty="0"/>
              <a:t> </a:t>
            </a:r>
            <a:r>
              <a:rPr lang="en-US" dirty="0" err="1"/>
              <a:t>dụng</a:t>
            </a:r>
            <a:r>
              <a:rPr lang="en-US" dirty="0"/>
              <a:t> </a:t>
            </a:r>
            <a:r>
              <a:rPr lang="en-US" dirty="0" err="1"/>
              <a:t>xác</a:t>
            </a:r>
            <a:r>
              <a:rPr lang="en-US" dirty="0"/>
              <a:t> </a:t>
            </a:r>
            <a:r>
              <a:rPr lang="en-US" dirty="0" err="1"/>
              <a:t>thực</a:t>
            </a:r>
            <a:r>
              <a:rPr lang="en-US" dirty="0"/>
              <a:t> broker-client</a:t>
            </a:r>
          </a:p>
          <a:p>
            <a:endParaRPr lang="en-US" dirty="0"/>
          </a:p>
          <a:p>
            <a:endParaRPr lang="en-US" dirty="0"/>
          </a:p>
          <a:p>
            <a:endParaRPr lang="en-US" dirty="0"/>
          </a:p>
          <a:p>
            <a:endParaRPr lang="en-US" dirty="0"/>
          </a:p>
          <a:p>
            <a:endParaRPr lang="en-US" dirty="0"/>
          </a:p>
          <a:p>
            <a:endParaRPr lang="en-US" dirty="0"/>
          </a:p>
          <a:p>
            <a:r>
              <a:rPr lang="en-US" dirty="0" err="1"/>
              <a:t>Để</a:t>
            </a:r>
            <a:r>
              <a:rPr lang="en-US" dirty="0"/>
              <a:t> subscribe hay publish </a:t>
            </a:r>
            <a:r>
              <a:rPr lang="en-US" dirty="0" err="1"/>
              <a:t>thì</a:t>
            </a:r>
            <a:r>
              <a:rPr lang="en-US" dirty="0"/>
              <a:t> </a:t>
            </a:r>
            <a:r>
              <a:rPr lang="en-US" dirty="0" err="1"/>
              <a:t>cần</a:t>
            </a:r>
            <a:r>
              <a:rPr lang="en-US" dirty="0"/>
              <a:t> </a:t>
            </a:r>
            <a:r>
              <a:rPr lang="en-US" dirty="0" err="1"/>
              <a:t>có</a:t>
            </a:r>
            <a:r>
              <a:rPr lang="en-US" dirty="0"/>
              <a:t> username </a:t>
            </a:r>
            <a:r>
              <a:rPr lang="en-US" dirty="0" err="1"/>
              <a:t>và</a:t>
            </a:r>
            <a:r>
              <a:rPr lang="en-US" dirty="0"/>
              <a:t> password</a:t>
            </a:r>
          </a:p>
        </p:txBody>
      </p:sp>
      <p:pic>
        <p:nvPicPr>
          <p:cNvPr id="4" name="Picture 3" descr="Text&#10;&#10;Description automatically generated">
            <a:extLst>
              <a:ext uri="{FF2B5EF4-FFF2-40B4-BE49-F238E27FC236}">
                <a16:creationId xmlns:a16="http://schemas.microsoft.com/office/drawing/2014/main" id="{7A68ED3E-296B-499D-B2AD-909C073BC8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292" y="2642552"/>
            <a:ext cx="10142857" cy="2428571"/>
          </a:xfrm>
          <a:prstGeom prst="rect">
            <a:avLst/>
          </a:prstGeom>
        </p:spPr>
      </p:pic>
    </p:spTree>
    <p:extLst>
      <p:ext uri="{BB962C8B-B14F-4D97-AF65-F5344CB8AC3E}">
        <p14:creationId xmlns:p14="http://schemas.microsoft.com/office/powerpoint/2010/main" val="5774644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99156-1CAD-481A-859F-828C95C78901}"/>
              </a:ext>
            </a:extLst>
          </p:cNvPr>
          <p:cNvSpPr>
            <a:spLocks noGrp="1"/>
          </p:cNvSpPr>
          <p:nvPr>
            <p:ph type="title"/>
          </p:nvPr>
        </p:nvSpPr>
        <p:spPr/>
        <p:txBody>
          <a:bodyPr/>
          <a:lstStyle/>
          <a:p>
            <a:r>
              <a:rPr lang="en-US" dirty="0"/>
              <a:t>5. </a:t>
            </a:r>
            <a:r>
              <a:rPr lang="en-US" dirty="0" err="1"/>
              <a:t>Kiểm</a:t>
            </a:r>
            <a:r>
              <a:rPr lang="en-US" dirty="0"/>
              <a:t> </a:t>
            </a:r>
            <a:r>
              <a:rPr lang="en-US" dirty="0" err="1"/>
              <a:t>thử</a:t>
            </a:r>
            <a:r>
              <a:rPr lang="en-US" dirty="0"/>
              <a:t> </a:t>
            </a:r>
            <a:r>
              <a:rPr lang="en-US" dirty="0" err="1"/>
              <a:t>hệ</a:t>
            </a:r>
            <a:r>
              <a:rPr lang="en-US" dirty="0"/>
              <a:t> </a:t>
            </a:r>
            <a:r>
              <a:rPr lang="en-US" dirty="0" err="1"/>
              <a:t>thống</a:t>
            </a:r>
            <a:endParaRPr lang="en-US" dirty="0"/>
          </a:p>
        </p:txBody>
      </p:sp>
      <p:sp>
        <p:nvSpPr>
          <p:cNvPr id="3" name="Content Placeholder 2">
            <a:extLst>
              <a:ext uri="{FF2B5EF4-FFF2-40B4-BE49-F238E27FC236}">
                <a16:creationId xmlns:a16="http://schemas.microsoft.com/office/drawing/2014/main" id="{30A8DE22-A3BB-4B11-A751-B3D03D630865}"/>
              </a:ext>
            </a:extLst>
          </p:cNvPr>
          <p:cNvSpPr>
            <a:spLocks noGrp="1"/>
          </p:cNvSpPr>
          <p:nvPr>
            <p:ph idx="1"/>
          </p:nvPr>
        </p:nvSpPr>
        <p:spPr/>
        <p:txBody>
          <a:bodyPr/>
          <a:lstStyle/>
          <a:p>
            <a:r>
              <a:rPr lang="en-US" dirty="0" err="1"/>
              <a:t>Xác</a:t>
            </a:r>
            <a:r>
              <a:rPr lang="en-US" dirty="0"/>
              <a:t> </a:t>
            </a:r>
            <a:r>
              <a:rPr lang="en-US" dirty="0" err="1"/>
              <a:t>thực</a:t>
            </a:r>
            <a:r>
              <a:rPr lang="en-US" dirty="0"/>
              <a:t> </a:t>
            </a:r>
            <a:r>
              <a:rPr lang="en-US" dirty="0" err="1"/>
              <a:t>từ</a:t>
            </a:r>
            <a:r>
              <a:rPr lang="en-US" dirty="0"/>
              <a:t> </a:t>
            </a:r>
            <a:r>
              <a:rPr lang="en-US" dirty="0" err="1"/>
              <a:t>phía</a:t>
            </a:r>
            <a:r>
              <a:rPr lang="en-US" dirty="0"/>
              <a:t> Web server – </a:t>
            </a:r>
            <a:r>
              <a:rPr lang="en-US" dirty="0" err="1"/>
              <a:t>người</a:t>
            </a:r>
            <a:r>
              <a:rPr lang="en-US" dirty="0"/>
              <a:t> </a:t>
            </a:r>
            <a:r>
              <a:rPr lang="en-US" dirty="0" err="1"/>
              <a:t>dùng</a:t>
            </a:r>
            <a:endParaRPr lang="en-US" dirty="0"/>
          </a:p>
        </p:txBody>
      </p:sp>
      <p:pic>
        <p:nvPicPr>
          <p:cNvPr id="5" name="Picture 4" descr="Graphical user interface, text, application, chat or text message&#10;&#10;Description automatically generated">
            <a:extLst>
              <a:ext uri="{FF2B5EF4-FFF2-40B4-BE49-F238E27FC236}">
                <a16:creationId xmlns:a16="http://schemas.microsoft.com/office/drawing/2014/main" id="{B07C58CB-AADE-4341-B1D3-A8F0BCE5F7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4865" y="2549671"/>
            <a:ext cx="8158913" cy="4003689"/>
          </a:xfrm>
          <a:prstGeom prst="rect">
            <a:avLst/>
          </a:prstGeom>
        </p:spPr>
      </p:pic>
    </p:spTree>
    <p:extLst>
      <p:ext uri="{BB962C8B-B14F-4D97-AF65-F5344CB8AC3E}">
        <p14:creationId xmlns:p14="http://schemas.microsoft.com/office/powerpoint/2010/main" val="37821361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1CA29-0E77-4DB4-8A03-D834A4C89D67}"/>
              </a:ext>
            </a:extLst>
          </p:cNvPr>
          <p:cNvSpPr>
            <a:spLocks noGrp="1"/>
          </p:cNvSpPr>
          <p:nvPr>
            <p:ph type="title"/>
          </p:nvPr>
        </p:nvSpPr>
        <p:spPr/>
        <p:txBody>
          <a:bodyPr/>
          <a:lstStyle/>
          <a:p>
            <a:r>
              <a:rPr lang="en-US" dirty="0"/>
              <a:t>5. </a:t>
            </a:r>
            <a:r>
              <a:rPr lang="en-US" dirty="0" err="1"/>
              <a:t>Kiểm</a:t>
            </a:r>
            <a:r>
              <a:rPr lang="en-US" dirty="0"/>
              <a:t> </a:t>
            </a:r>
            <a:r>
              <a:rPr lang="en-US" dirty="0" err="1"/>
              <a:t>thử</a:t>
            </a:r>
            <a:r>
              <a:rPr lang="en-US" dirty="0"/>
              <a:t> </a:t>
            </a:r>
            <a:r>
              <a:rPr lang="en-US" dirty="0" err="1"/>
              <a:t>hệ</a:t>
            </a:r>
            <a:r>
              <a:rPr lang="en-US" dirty="0"/>
              <a:t> </a:t>
            </a:r>
            <a:r>
              <a:rPr lang="en-US" dirty="0" err="1"/>
              <a:t>thống</a:t>
            </a:r>
            <a:endParaRPr lang="en-US" dirty="0"/>
          </a:p>
        </p:txBody>
      </p:sp>
      <p:sp>
        <p:nvSpPr>
          <p:cNvPr id="3" name="Content Placeholder 2">
            <a:extLst>
              <a:ext uri="{FF2B5EF4-FFF2-40B4-BE49-F238E27FC236}">
                <a16:creationId xmlns:a16="http://schemas.microsoft.com/office/drawing/2014/main" id="{FDD32745-F682-47A9-BB7A-E5A5384BD0C1}"/>
              </a:ext>
            </a:extLst>
          </p:cNvPr>
          <p:cNvSpPr>
            <a:spLocks noGrp="1"/>
          </p:cNvSpPr>
          <p:nvPr>
            <p:ph idx="1"/>
          </p:nvPr>
        </p:nvSpPr>
        <p:spPr>
          <a:xfrm>
            <a:off x="838199" y="1825625"/>
            <a:ext cx="4925037" cy="4351338"/>
          </a:xfrm>
        </p:spPr>
        <p:txBody>
          <a:bodyPr/>
          <a:lstStyle/>
          <a:p>
            <a:r>
              <a:rPr lang="en-US" dirty="0"/>
              <a:t>Backend Server </a:t>
            </a:r>
            <a:r>
              <a:rPr lang="en-US" dirty="0" err="1"/>
              <a:t>hoạt</a:t>
            </a:r>
            <a:r>
              <a:rPr lang="en-US" dirty="0"/>
              <a:t> </a:t>
            </a:r>
            <a:r>
              <a:rPr lang="en-US" dirty="0" err="1"/>
              <a:t>động</a:t>
            </a:r>
            <a:r>
              <a:rPr lang="en-US" dirty="0"/>
              <a:t> </a:t>
            </a:r>
            <a:r>
              <a:rPr lang="en-US" dirty="0" err="1"/>
              <a:t>tốt</a:t>
            </a:r>
            <a:r>
              <a:rPr lang="en-US" dirty="0"/>
              <a:t> </a:t>
            </a:r>
            <a:r>
              <a:rPr lang="en-US" dirty="0" err="1"/>
              <a:t>vai</a:t>
            </a:r>
            <a:r>
              <a:rPr lang="en-US" dirty="0"/>
              <a:t> </a:t>
            </a:r>
            <a:r>
              <a:rPr lang="en-US" dirty="0" err="1"/>
              <a:t>trò</a:t>
            </a:r>
            <a:r>
              <a:rPr lang="en-US" dirty="0"/>
              <a:t> </a:t>
            </a:r>
            <a:r>
              <a:rPr lang="en-US" dirty="0" err="1"/>
              <a:t>lưu</a:t>
            </a:r>
            <a:r>
              <a:rPr lang="en-US" dirty="0"/>
              <a:t> </a:t>
            </a:r>
            <a:r>
              <a:rPr lang="en-US" dirty="0" err="1"/>
              <a:t>dữ</a:t>
            </a:r>
            <a:r>
              <a:rPr lang="en-US" dirty="0"/>
              <a:t> </a:t>
            </a:r>
            <a:r>
              <a:rPr lang="en-US" dirty="0" err="1"/>
              <a:t>liệu</a:t>
            </a:r>
            <a:r>
              <a:rPr lang="en-US" dirty="0"/>
              <a:t> </a:t>
            </a:r>
            <a:r>
              <a:rPr lang="en-US" dirty="0" err="1"/>
              <a:t>lên</a:t>
            </a:r>
            <a:r>
              <a:rPr lang="en-US" dirty="0"/>
              <a:t> DB.</a:t>
            </a:r>
          </a:p>
          <a:p>
            <a:endParaRPr lang="en-US" dirty="0"/>
          </a:p>
        </p:txBody>
      </p:sp>
      <p:pic>
        <p:nvPicPr>
          <p:cNvPr id="4" name="Picture 3" descr="Text&#10;&#10;Description automatically generated">
            <a:extLst>
              <a:ext uri="{FF2B5EF4-FFF2-40B4-BE49-F238E27FC236}">
                <a16:creationId xmlns:a16="http://schemas.microsoft.com/office/drawing/2014/main" id="{F51621D0-0C84-4344-812D-A4DF95B4C1F1}"/>
              </a:ext>
            </a:extLst>
          </p:cNvPr>
          <p:cNvPicPr/>
          <p:nvPr/>
        </p:nvPicPr>
        <p:blipFill rotWithShape="1">
          <a:blip r:embed="rId2">
            <a:extLst>
              <a:ext uri="{28A0092B-C50C-407E-A947-70E740481C1C}">
                <a14:useLocalDpi xmlns:a14="http://schemas.microsoft.com/office/drawing/2010/main" val="0"/>
              </a:ext>
            </a:extLst>
          </a:blip>
          <a:srcRect t="-1974" r="55194" b="1974"/>
          <a:stretch/>
        </p:blipFill>
        <p:spPr bwMode="auto">
          <a:xfrm>
            <a:off x="6096000" y="275908"/>
            <a:ext cx="5610225" cy="590105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020391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259E3-7349-4C3D-A906-6158E77B22F1}"/>
              </a:ext>
            </a:extLst>
          </p:cNvPr>
          <p:cNvSpPr>
            <a:spLocks noGrp="1"/>
          </p:cNvSpPr>
          <p:nvPr>
            <p:ph type="title"/>
          </p:nvPr>
        </p:nvSpPr>
        <p:spPr/>
        <p:txBody>
          <a:bodyPr/>
          <a:lstStyle/>
          <a:p>
            <a:r>
              <a:rPr lang="en-US" dirty="0"/>
              <a:t>5. </a:t>
            </a:r>
            <a:r>
              <a:rPr lang="en-US" dirty="0" err="1"/>
              <a:t>Kiểm</a:t>
            </a:r>
            <a:r>
              <a:rPr lang="en-US" dirty="0"/>
              <a:t> </a:t>
            </a:r>
            <a:r>
              <a:rPr lang="en-US" dirty="0" err="1"/>
              <a:t>thử</a:t>
            </a:r>
            <a:r>
              <a:rPr lang="en-US" dirty="0"/>
              <a:t> </a:t>
            </a:r>
            <a:r>
              <a:rPr lang="en-US" dirty="0" err="1"/>
              <a:t>hệ</a:t>
            </a:r>
            <a:r>
              <a:rPr lang="en-US" dirty="0"/>
              <a:t> </a:t>
            </a:r>
            <a:r>
              <a:rPr lang="en-US" dirty="0" err="1"/>
              <a:t>thống</a:t>
            </a:r>
            <a:endParaRPr lang="en-US" dirty="0"/>
          </a:p>
        </p:txBody>
      </p:sp>
      <p:sp>
        <p:nvSpPr>
          <p:cNvPr id="3" name="Content Placeholder 2">
            <a:extLst>
              <a:ext uri="{FF2B5EF4-FFF2-40B4-BE49-F238E27FC236}">
                <a16:creationId xmlns:a16="http://schemas.microsoft.com/office/drawing/2014/main" id="{B9BA5223-630F-4B63-A866-1FD513B5CE90}"/>
              </a:ext>
            </a:extLst>
          </p:cNvPr>
          <p:cNvSpPr>
            <a:spLocks noGrp="1"/>
          </p:cNvSpPr>
          <p:nvPr>
            <p:ph idx="1"/>
          </p:nvPr>
        </p:nvSpPr>
        <p:spPr>
          <a:xfrm>
            <a:off x="838200" y="1825625"/>
            <a:ext cx="5532582" cy="4351338"/>
          </a:xfrm>
        </p:spPr>
        <p:txBody>
          <a:bodyPr/>
          <a:lstStyle/>
          <a:p>
            <a:r>
              <a:rPr lang="en-US" dirty="0"/>
              <a:t>Frontend </a:t>
            </a:r>
            <a:r>
              <a:rPr lang="en-US" dirty="0" err="1"/>
              <a:t>có</a:t>
            </a:r>
            <a:r>
              <a:rPr lang="en-US" dirty="0"/>
              <a:t> </a:t>
            </a:r>
            <a:r>
              <a:rPr lang="en-US" dirty="0" err="1"/>
              <a:t>giao</a:t>
            </a:r>
            <a:r>
              <a:rPr lang="en-US" dirty="0"/>
              <a:t> </a:t>
            </a:r>
            <a:r>
              <a:rPr lang="en-US" dirty="0" err="1"/>
              <a:t>diện</a:t>
            </a:r>
            <a:r>
              <a:rPr lang="en-US" dirty="0"/>
              <a:t> </a:t>
            </a:r>
            <a:r>
              <a:rPr lang="en-US" dirty="0" err="1"/>
              <a:t>dễ</a:t>
            </a:r>
            <a:r>
              <a:rPr lang="en-US" dirty="0"/>
              <a:t> </a:t>
            </a:r>
            <a:r>
              <a:rPr lang="en-US" dirty="0" err="1"/>
              <a:t>nhìn</a:t>
            </a:r>
            <a:r>
              <a:rPr lang="en-US" dirty="0"/>
              <a:t> </a:t>
            </a:r>
            <a:r>
              <a:rPr lang="en-US" dirty="0" err="1"/>
              <a:t>và</a:t>
            </a:r>
            <a:r>
              <a:rPr lang="en-US" dirty="0"/>
              <a:t> </a:t>
            </a:r>
            <a:r>
              <a:rPr lang="en-US" dirty="0" err="1"/>
              <a:t>hiển</a:t>
            </a:r>
            <a:r>
              <a:rPr lang="en-US" dirty="0"/>
              <a:t> </a:t>
            </a:r>
            <a:r>
              <a:rPr lang="en-US" dirty="0" err="1"/>
              <a:t>thị</a:t>
            </a:r>
            <a:r>
              <a:rPr lang="en-US" dirty="0"/>
              <a:t> </a:t>
            </a:r>
            <a:r>
              <a:rPr lang="en-US" dirty="0" err="1"/>
              <a:t>được</a:t>
            </a:r>
            <a:r>
              <a:rPr lang="en-US" dirty="0"/>
              <a:t> </a:t>
            </a:r>
            <a:r>
              <a:rPr lang="en-US" dirty="0" err="1"/>
              <a:t>dữ</a:t>
            </a:r>
            <a:r>
              <a:rPr lang="en-US" dirty="0"/>
              <a:t> </a:t>
            </a:r>
            <a:r>
              <a:rPr lang="en-US" dirty="0" err="1"/>
              <a:t>liệu</a:t>
            </a:r>
            <a:r>
              <a:rPr lang="en-US" dirty="0"/>
              <a:t> </a:t>
            </a:r>
            <a:r>
              <a:rPr lang="en-US" dirty="0" err="1"/>
              <a:t>đầy</a:t>
            </a:r>
            <a:r>
              <a:rPr lang="en-US" dirty="0"/>
              <a:t> </a:t>
            </a:r>
            <a:r>
              <a:rPr lang="en-US" dirty="0" err="1"/>
              <a:t>đủ</a:t>
            </a:r>
            <a:endParaRPr lang="en-US" dirty="0"/>
          </a:p>
        </p:txBody>
      </p:sp>
      <p:pic>
        <p:nvPicPr>
          <p:cNvPr id="4" name="Picture 3" descr="Graphical user interface, application&#10;&#10;Description automatically generated">
            <a:extLst>
              <a:ext uri="{FF2B5EF4-FFF2-40B4-BE49-F238E27FC236}">
                <a16:creationId xmlns:a16="http://schemas.microsoft.com/office/drawing/2014/main" id="{0C418CE3-9AA5-4ADD-B1A4-76070F1C98B8}"/>
              </a:ext>
            </a:extLst>
          </p:cNvPr>
          <p:cNvPicPr/>
          <p:nvPr/>
        </p:nvPicPr>
        <p:blipFill rotWithShape="1">
          <a:blip r:embed="rId2">
            <a:extLst>
              <a:ext uri="{28A0092B-C50C-407E-A947-70E740481C1C}">
                <a14:useLocalDpi xmlns:a14="http://schemas.microsoft.com/office/drawing/2010/main" val="0"/>
              </a:ext>
            </a:extLst>
          </a:blip>
          <a:srcRect l="23931" r="24053"/>
          <a:stretch/>
        </p:blipFill>
        <p:spPr bwMode="auto">
          <a:xfrm>
            <a:off x="6270114" y="797877"/>
            <a:ext cx="5591175" cy="526224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993202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1249</Words>
  <Application>Microsoft Office PowerPoint</Application>
  <PresentationFormat>Widescreen</PresentationFormat>
  <Paragraphs>111</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Calibri Light</vt:lpstr>
      <vt:lpstr>Helvetica</vt:lpstr>
      <vt:lpstr>Open Sans</vt:lpstr>
      <vt:lpstr>Wingdings</vt:lpstr>
      <vt:lpstr>Office Theme</vt:lpstr>
      <vt:lpstr>Đề Tài: Bảo mật hệ thống IoT</vt:lpstr>
      <vt:lpstr>Nội dung trình bày</vt:lpstr>
      <vt:lpstr>1. Giới Thiệu</vt:lpstr>
      <vt:lpstr>1.1 IoT</vt:lpstr>
      <vt:lpstr>1.2 MQTT</vt:lpstr>
      <vt:lpstr>1.2 MQTT</vt:lpstr>
      <vt:lpstr>1. Giới Thiệu</vt:lpstr>
      <vt:lpstr>2. Mô hình hóa hệ thống</vt:lpstr>
      <vt:lpstr>2.1 NodeMCU ESP8266</vt:lpstr>
      <vt:lpstr>2.1 NodeMCU ESP8266</vt:lpstr>
      <vt:lpstr>2.2 DHT11</vt:lpstr>
      <vt:lpstr>2.2 DHT11</vt:lpstr>
      <vt:lpstr>2.3 MongoDB</vt:lpstr>
      <vt:lpstr>2.3 MongoDB</vt:lpstr>
      <vt:lpstr>2.4 ExpressJS</vt:lpstr>
      <vt:lpstr>2.4 ExpressJS</vt:lpstr>
      <vt:lpstr>2.5 Thiết kế trang web với Vuejs</vt:lpstr>
      <vt:lpstr>3. Thiết kế hệ thống</vt:lpstr>
      <vt:lpstr>3.1 Sơ đồ hệ thống</vt:lpstr>
      <vt:lpstr>3.1 Sơ đồ hệ thống</vt:lpstr>
      <vt:lpstr>3.1 Sơ đồ hệ thống</vt:lpstr>
      <vt:lpstr>4. Bảo mật hệ thống</vt:lpstr>
      <vt:lpstr>4.1 Mã hóa dữ liệu đường truyền </vt:lpstr>
      <vt:lpstr>AES</vt:lpstr>
      <vt:lpstr>ECB (Electronic CodeBook)</vt:lpstr>
      <vt:lpstr>4.2 Xác thực thiết bị thông minh với server</vt:lpstr>
      <vt:lpstr>4.3 Một số cách khác</vt:lpstr>
      <vt:lpstr>5. Kiểm thử hệ thống </vt:lpstr>
      <vt:lpstr>5. Kiểm thử hệ thống</vt:lpstr>
      <vt:lpstr>5 Kiểm thử hệ thống</vt:lpstr>
      <vt:lpstr>5. Kiểm thử hệ thống</vt:lpstr>
      <vt:lpstr>5. Kiểm thử hệ thống</vt:lpstr>
      <vt:lpstr>5. Kiểm thử hệ thống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Đề Tài: Bảo mật hệ thống IoT</dc:title>
  <dc:creator>Vu Duc Thao 20163668</dc:creator>
  <cp:lastModifiedBy>Vu Duc Thao 20163668</cp:lastModifiedBy>
  <cp:revision>3</cp:revision>
  <dcterms:created xsi:type="dcterms:W3CDTF">2020-12-29T20:42:49Z</dcterms:created>
  <dcterms:modified xsi:type="dcterms:W3CDTF">2020-12-29T21:09:18Z</dcterms:modified>
</cp:coreProperties>
</file>